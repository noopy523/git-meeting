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59" r:id="rId3"/>
    <p:sldId id="265" r:id="rId4"/>
    <p:sldId id="258" r:id="rId5"/>
    <p:sldId id="264" r:id="rId6"/>
    <p:sldId id="262" r:id="rId7"/>
    <p:sldId id="263" r:id="rId8"/>
    <p:sldId id="271" r:id="rId9"/>
    <p:sldId id="261" r:id="rId10"/>
    <p:sldId id="268" r:id="rId11"/>
    <p:sldId id="267" r:id="rId12"/>
    <p:sldId id="260" r:id="rId13"/>
    <p:sldId id="273" r:id="rId14"/>
    <p:sldId id="274" r:id="rId15"/>
    <p:sldId id="266" r:id="rId16"/>
    <p:sldId id="270" r:id="rId17"/>
    <p:sldId id="272" r:id="rId18"/>
    <p:sldId id="275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A72037-E37B-425F-942B-99182E890727}" type="datetimeFigureOut">
              <a:rPr lang="zh-TW" altLang="en-US" smtClean="0"/>
              <a:t>2021/3/12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47C07-E7A3-4EF8-B10D-54AF76AAA7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1226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47C07-E7A3-4EF8-B10D-54AF76AAA73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5211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3/12/2021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bbs.huaweicloud.com/blogs/11470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tread01.com/content/1544685317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4AD134-DB7B-4E97-BD76-8191AE690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3450" y="1566726"/>
            <a:ext cx="8305100" cy="1717255"/>
          </a:xfrm>
        </p:spPr>
        <p:txBody>
          <a:bodyPr/>
          <a:lstStyle/>
          <a:p>
            <a:r>
              <a:rPr lang="en-US" altLang="zh-TW" sz="4000" dirty="0"/>
              <a:t>Offset Bin Classiﬁcation Network for Accurate Object Detection</a:t>
            </a:r>
            <a:endParaRPr lang="zh-TW" altLang="en-US" sz="4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D3A0C8C-2A22-4D60-9505-D4691327C0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zh-TW" altLang="en-US" dirty="0"/>
              <a:t>作者：</a:t>
            </a:r>
            <a:r>
              <a:rPr lang="en-US" altLang="zh-TW" dirty="0" err="1"/>
              <a:t>Heqian</a:t>
            </a:r>
            <a:r>
              <a:rPr lang="en-US" altLang="zh-TW" dirty="0"/>
              <a:t> </a:t>
            </a:r>
            <a:r>
              <a:rPr lang="en-US" altLang="zh-TW" dirty="0" err="1"/>
              <a:t>Qiu</a:t>
            </a:r>
            <a:r>
              <a:rPr lang="en-US" altLang="zh-TW" dirty="0"/>
              <a:t>, </a:t>
            </a:r>
            <a:r>
              <a:rPr lang="en-US" altLang="zh-TW" dirty="0" err="1"/>
              <a:t>Hongliang</a:t>
            </a:r>
            <a:r>
              <a:rPr lang="en-US" altLang="zh-TW" dirty="0"/>
              <a:t> Li∗, </a:t>
            </a:r>
            <a:r>
              <a:rPr lang="en-US" altLang="zh-TW" dirty="0" err="1"/>
              <a:t>Qingbo</a:t>
            </a:r>
            <a:r>
              <a:rPr lang="en-US" altLang="zh-TW" dirty="0"/>
              <a:t> Wu, </a:t>
            </a:r>
            <a:r>
              <a:rPr lang="en-US" altLang="zh-TW" dirty="0" err="1"/>
              <a:t>Hengcan</a:t>
            </a:r>
            <a:r>
              <a:rPr lang="en-US" altLang="zh-TW" dirty="0"/>
              <a:t> Shi</a:t>
            </a:r>
          </a:p>
          <a:p>
            <a:pPr algn="l"/>
            <a:r>
              <a:rPr lang="en-US" altLang="zh-TW" dirty="0"/>
              <a:t>University of Electronic Science and Technology of China</a:t>
            </a:r>
          </a:p>
          <a:p>
            <a:pPr algn="l"/>
            <a:r>
              <a:rPr lang="en-US" altLang="zh-TW" dirty="0"/>
              <a:t>Chengdu, China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F233AC-4D09-4AAA-94E1-AC3F5969D144}"/>
              </a:ext>
            </a:extLst>
          </p:cNvPr>
          <p:cNvSpPr/>
          <p:nvPr/>
        </p:nvSpPr>
        <p:spPr>
          <a:xfrm>
            <a:off x="8069971" y="4959225"/>
            <a:ext cx="1806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日期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2021/3/11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63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722F4C-46E6-4314-9AF6-343355B20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BAC922-C094-4EF2-84AB-0AA8C9073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本文提出利用</a:t>
            </a:r>
            <a:endParaRPr lang="en-US" altLang="zh-TW" dirty="0"/>
          </a:p>
          <a:p>
            <a:r>
              <a:rPr lang="en-US" altLang="zh-TW" dirty="0"/>
              <a:t>1.cross</a:t>
            </a:r>
            <a:r>
              <a:rPr lang="zh-TW" altLang="en-US" dirty="0"/>
              <a:t> </a:t>
            </a:r>
            <a:r>
              <a:rPr lang="en-US" altLang="zh-TW" dirty="0"/>
              <a:t>entropy loss</a:t>
            </a:r>
            <a:r>
              <a:rPr lang="zh-TW" altLang="en-US" dirty="0"/>
              <a:t> 進行優化的偏移量分類網路，以預測更精確的偏移量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基於期望值的偏移預測和分層聚焦方法</a:t>
            </a:r>
            <a:r>
              <a:rPr lang="en-US" altLang="zh-TW" dirty="0"/>
              <a:t>(hierarchical focusing method)</a:t>
            </a:r>
            <a:r>
              <a:rPr lang="zh-TW" altLang="en-US" dirty="0"/>
              <a:t>，來提高預測精確度</a:t>
            </a:r>
            <a:endParaRPr lang="en-US" altLang="zh-TW" dirty="0"/>
          </a:p>
          <a:p>
            <a:r>
              <a:rPr lang="zh-TW" altLang="en-US" dirty="0"/>
              <a:t>避免了誤差太大時會造成梯度爆炸的問題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21606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ED906-95F5-41E1-872A-7F0C26CB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85445"/>
            <a:ext cx="9601196" cy="1019261"/>
          </a:xfrm>
        </p:spPr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B049D00-1C07-45D8-AF72-C64129FBE7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1278" y="1652632"/>
            <a:ext cx="7506659" cy="4571706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CACF76F-70E3-4A55-9861-C75D378C80A3}"/>
              </a:ext>
            </a:extLst>
          </p:cNvPr>
          <p:cNvSpPr/>
          <p:nvPr/>
        </p:nvSpPr>
        <p:spPr>
          <a:xfrm>
            <a:off x="8539292" y="3143774"/>
            <a:ext cx="2357306" cy="61449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基於偏移回歸的定位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dirty="0">
                <a:solidFill>
                  <a:schemeClr val="tx1"/>
                </a:solidFill>
              </a:rPr>
              <a:t>smooth L1+L2 loss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EFAD5B-B4E4-4AD4-9A55-8FCF6BA587AD}"/>
              </a:ext>
            </a:extLst>
          </p:cNvPr>
          <p:cNvSpPr/>
          <p:nvPr/>
        </p:nvSpPr>
        <p:spPr>
          <a:xfrm>
            <a:off x="8539292" y="5368954"/>
            <a:ext cx="2676088" cy="54317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基於</a:t>
            </a:r>
            <a:r>
              <a:rPr lang="en-US" altLang="zh-TW" dirty="0">
                <a:solidFill>
                  <a:schemeClr val="tx1"/>
                </a:solidFill>
              </a:rPr>
              <a:t>offset bin</a:t>
            </a:r>
            <a:r>
              <a:rPr lang="zh-TW" altLang="en-US" dirty="0">
                <a:solidFill>
                  <a:schemeClr val="tx1"/>
                </a:solidFill>
              </a:rPr>
              <a:t>分類的定位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dirty="0">
                <a:solidFill>
                  <a:schemeClr val="tx1"/>
                </a:solidFill>
              </a:rPr>
              <a:t>cross entropy loss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317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D80F1C-4EDC-42F9-BE8E-ED60E5046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Object Detectors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1E5406-2FAC-47E3-A6B1-A2DF915403CE}"/>
              </a:ext>
            </a:extLst>
          </p:cNvPr>
          <p:cNvSpPr/>
          <p:nvPr/>
        </p:nvSpPr>
        <p:spPr>
          <a:xfrm>
            <a:off x="1295402" y="2342647"/>
            <a:ext cx="1019952" cy="6207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檢測器</a:t>
            </a: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D698C92A-ACA9-4DE2-B3EE-B841403CFE6F}"/>
              </a:ext>
            </a:extLst>
          </p:cNvPr>
          <p:cNvCxnSpPr>
            <a:cxnSpLocks/>
          </p:cNvCxnSpPr>
          <p:nvPr/>
        </p:nvCxnSpPr>
        <p:spPr>
          <a:xfrm>
            <a:off x="2315361" y="2653031"/>
            <a:ext cx="99829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59E09EEE-0E70-4F25-B414-E9658655622A}"/>
              </a:ext>
            </a:extLst>
          </p:cNvPr>
          <p:cNvCxnSpPr>
            <a:cxnSpLocks/>
          </p:cNvCxnSpPr>
          <p:nvPr/>
        </p:nvCxnSpPr>
        <p:spPr>
          <a:xfrm flipV="1">
            <a:off x="2315361" y="2653031"/>
            <a:ext cx="0" cy="90601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1AB41541-044E-4C3C-89F8-846EC07D5E6F}"/>
              </a:ext>
            </a:extLst>
          </p:cNvPr>
          <p:cNvCxnSpPr>
            <a:cxnSpLocks/>
          </p:cNvCxnSpPr>
          <p:nvPr/>
        </p:nvCxnSpPr>
        <p:spPr>
          <a:xfrm>
            <a:off x="2315361" y="3559042"/>
            <a:ext cx="99829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5CC5C62-248F-4E16-8AC3-51CAD4C5BBAD}"/>
              </a:ext>
            </a:extLst>
          </p:cNvPr>
          <p:cNvSpPr/>
          <p:nvPr/>
        </p:nvSpPr>
        <p:spPr>
          <a:xfrm>
            <a:off x="3313650" y="2371994"/>
            <a:ext cx="5637399" cy="6207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Single-stage  ex: YOLO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SSD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 err="1">
                <a:solidFill>
                  <a:schemeClr val="tx1"/>
                </a:solidFill>
              </a:rPr>
              <a:t>RetinaNet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B5D6DC-62FD-4436-9E4B-334A38BA55E6}"/>
              </a:ext>
            </a:extLst>
          </p:cNvPr>
          <p:cNvSpPr/>
          <p:nvPr/>
        </p:nvSpPr>
        <p:spPr>
          <a:xfrm>
            <a:off x="3313650" y="3244457"/>
            <a:ext cx="5159221" cy="6207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Two-stage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ex: Faster R-CNN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FPN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Mask R-CNN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F0177EAE-866F-4252-AFE2-51990F437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407813"/>
              </p:ext>
            </p:extLst>
          </p:nvPr>
        </p:nvGraphicFramePr>
        <p:xfrm>
          <a:off x="2032000" y="4236466"/>
          <a:ext cx="8127999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4954804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798849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90923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Single-stage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Two-stage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131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速度比較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116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Region proposal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跳過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產生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690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8550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7F4526-D129-48D0-BD89-90B0D3D9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Bounding Box Regression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530B19-9783-40AD-92DF-FC310B25F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目的：解決目標定位的問題</a:t>
            </a:r>
            <a:endParaRPr lang="en-US" altLang="zh-TW" dirty="0"/>
          </a:p>
          <a:p>
            <a:r>
              <a:rPr lang="zh-TW" altLang="en-US" dirty="0"/>
              <a:t>方法：利用</a:t>
            </a:r>
            <a:r>
              <a:rPr lang="en-US" altLang="zh-TW" dirty="0" err="1"/>
              <a:t>Bbox</a:t>
            </a:r>
            <a:r>
              <a:rPr lang="zh-TW" altLang="en-US" dirty="0"/>
              <a:t>回歸網路去預測，將候選框轉換為目標的</a:t>
            </a:r>
            <a:r>
              <a:rPr lang="en-US" altLang="zh-TW" dirty="0"/>
              <a:t>4</a:t>
            </a:r>
            <a:r>
              <a:rPr lang="zh-TW" altLang="en-US" dirty="0"/>
              <a:t>個座標偏移量</a:t>
            </a:r>
          </a:p>
        </p:txBody>
      </p:sp>
    </p:spTree>
    <p:extLst>
      <p:ext uri="{BB962C8B-B14F-4D97-AF65-F5344CB8AC3E}">
        <p14:creationId xmlns:p14="http://schemas.microsoft.com/office/powerpoint/2010/main" val="1977695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E2DD0D-7775-4D41-B049-A8F2692CF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Revisiting </a:t>
            </a:r>
            <a:r>
              <a:rPr lang="en-US" altLang="zh-TW" dirty="0" err="1"/>
              <a:t>Bbox</a:t>
            </a:r>
            <a:r>
              <a:rPr lang="en-US" altLang="zh-TW" dirty="0"/>
              <a:t> Regression</a:t>
            </a:r>
            <a:endParaRPr lang="zh-TW" altLang="en-US" dirty="0"/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651E102B-1CCE-4F3E-A2C6-80A1D46F0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1586" y="3178451"/>
            <a:ext cx="1841115" cy="2787102"/>
          </a:xfr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6013EAE0-B61C-4FA4-9144-B9813A516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233" y="3129132"/>
            <a:ext cx="1774560" cy="2787103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F8233A08-EC9B-44E7-9732-567E18D25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471" y="2725684"/>
            <a:ext cx="4224973" cy="837604"/>
          </a:xfrm>
          <a:prstGeom prst="rect">
            <a:avLst/>
          </a:prstGeom>
        </p:spPr>
      </p:pic>
      <p:pic>
        <p:nvPicPr>
          <p:cNvPr id="18" name="內容版面配置區 4">
            <a:extLst>
              <a:ext uri="{FF2B5EF4-FFF2-40B4-BE49-F238E27FC236}">
                <a16:creationId xmlns:a16="http://schemas.microsoft.com/office/drawing/2014/main" id="{43813C57-379B-4A50-9EA0-D43631B39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2819" y="3917314"/>
            <a:ext cx="4486275" cy="87630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35086E4C-B2DD-44B0-84A5-9459BF10A9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0829" y="5147641"/>
            <a:ext cx="5781675" cy="89535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49C6C2E4-A928-40FD-BDE9-25261D2F1D62}"/>
              </a:ext>
            </a:extLst>
          </p:cNvPr>
          <p:cNvSpPr/>
          <p:nvPr/>
        </p:nvSpPr>
        <p:spPr>
          <a:xfrm>
            <a:off x="1281487" y="2561927"/>
            <a:ext cx="1402052" cy="36933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zh-TW" dirty="0">
                <a:solidFill>
                  <a:schemeClr val="accent5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預測偏移量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CEAC598-0667-41F8-9A7E-4AEB8997E641}"/>
              </a:ext>
            </a:extLst>
          </p:cNvPr>
          <p:cNvSpPr/>
          <p:nvPr/>
        </p:nvSpPr>
        <p:spPr>
          <a:xfrm>
            <a:off x="3567479" y="2584586"/>
            <a:ext cx="1402052" cy="36933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solidFill>
                  <a:schemeClr val="accent5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目標</a:t>
            </a:r>
            <a:r>
              <a:rPr lang="zh-TW" altLang="zh-TW" dirty="0">
                <a:solidFill>
                  <a:schemeClr val="accent5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偏移量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FC6EC4-F743-4783-9A10-9D636C2CD45B}"/>
              </a:ext>
            </a:extLst>
          </p:cNvPr>
          <p:cNvSpPr/>
          <p:nvPr/>
        </p:nvSpPr>
        <p:spPr>
          <a:xfrm>
            <a:off x="9011644" y="2455358"/>
            <a:ext cx="1066800" cy="36933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accent5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solidFill>
                  <a:schemeClr val="accent5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的誤差</a:t>
            </a:r>
            <a:endParaRPr lang="zh-TW" alt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19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ECFC3D-1B18-45A9-BF53-22CB28F4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offset bin classiﬁcation</a:t>
            </a:r>
            <a:r>
              <a:rPr lang="zh-TW" altLang="en-US" dirty="0"/>
              <a:t> </a:t>
            </a:r>
            <a:r>
              <a:rPr lang="en-US" altLang="zh-TW" dirty="0"/>
              <a:t>architecture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D834097-DAF4-4086-910F-65BFD152C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2497" y="2481962"/>
            <a:ext cx="9367005" cy="3550845"/>
          </a:xfr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B3E9F1F-81B9-4F71-AB56-5EDA808DF71D}"/>
              </a:ext>
            </a:extLst>
          </p:cNvPr>
          <p:cNvSpPr/>
          <p:nvPr/>
        </p:nvSpPr>
        <p:spPr>
          <a:xfrm>
            <a:off x="1551963" y="2813885"/>
            <a:ext cx="5704514" cy="20685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230A63-8DDA-4685-BCFC-0439BB39E1B7}"/>
              </a:ext>
            </a:extLst>
          </p:cNvPr>
          <p:cNvSpPr/>
          <p:nvPr/>
        </p:nvSpPr>
        <p:spPr>
          <a:xfrm>
            <a:off x="3112316" y="4938095"/>
            <a:ext cx="4144161" cy="10390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5035B6-53ED-4895-A633-B7AF5F4F7456}"/>
              </a:ext>
            </a:extLst>
          </p:cNvPr>
          <p:cNvSpPr/>
          <p:nvPr/>
        </p:nvSpPr>
        <p:spPr>
          <a:xfrm>
            <a:off x="7339842" y="2813884"/>
            <a:ext cx="3300195" cy="33591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05BEBD-7EA0-4594-A3C5-9FF0C76FD478}"/>
              </a:ext>
            </a:extLst>
          </p:cNvPr>
          <p:cNvSpPr/>
          <p:nvPr/>
        </p:nvSpPr>
        <p:spPr>
          <a:xfrm>
            <a:off x="1551963" y="2407575"/>
            <a:ext cx="360727" cy="4026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F0EEEC-EC3C-48C2-A1D0-518114ECE028}"/>
              </a:ext>
            </a:extLst>
          </p:cNvPr>
          <p:cNvSpPr/>
          <p:nvPr/>
        </p:nvSpPr>
        <p:spPr>
          <a:xfrm>
            <a:off x="2751589" y="5012980"/>
            <a:ext cx="360727" cy="4026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1CC3CB-C167-4D76-877A-D7063AC98D72}"/>
              </a:ext>
            </a:extLst>
          </p:cNvPr>
          <p:cNvSpPr/>
          <p:nvPr/>
        </p:nvSpPr>
        <p:spPr>
          <a:xfrm>
            <a:off x="10370188" y="2407575"/>
            <a:ext cx="360727" cy="4026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3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532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41741F-5FEF-4C9E-A3E6-E132DC5CC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(</a:t>
            </a:r>
            <a:r>
              <a:rPr lang="zh-TW" altLang="en-US" dirty="0"/>
              <a:t>補充</a:t>
            </a:r>
            <a:r>
              <a:rPr lang="en-US" altLang="zh-TW" dirty="0"/>
              <a:t>) </a:t>
            </a:r>
            <a:r>
              <a:rPr lang="en-US" altLang="zh-TW" dirty="0" err="1"/>
              <a:t>RoIPooling</a:t>
            </a:r>
            <a:r>
              <a:rPr lang="en-US" altLang="zh-TW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vs </a:t>
            </a:r>
            <a:r>
              <a:rPr lang="en-US" altLang="zh-TW" dirty="0" err="1"/>
              <a:t>RoIAlign</a:t>
            </a:r>
            <a:endParaRPr lang="zh-TW" altLang="en-US" dirty="0"/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3DE157BC-A22F-4B12-87A5-BAFBD776C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2306" y="2490351"/>
            <a:ext cx="8363078" cy="3591667"/>
          </a:xfrm>
        </p:spPr>
      </p:pic>
      <p:sp>
        <p:nvSpPr>
          <p:cNvPr id="14" name="乘號 13">
            <a:extLst>
              <a:ext uri="{FF2B5EF4-FFF2-40B4-BE49-F238E27FC236}">
                <a16:creationId xmlns:a16="http://schemas.microsoft.com/office/drawing/2014/main" id="{532CE0C0-38E6-4BB9-8FD9-A53830DCDED4}"/>
              </a:ext>
            </a:extLst>
          </p:cNvPr>
          <p:cNvSpPr/>
          <p:nvPr/>
        </p:nvSpPr>
        <p:spPr>
          <a:xfrm>
            <a:off x="3019509" y="5142451"/>
            <a:ext cx="688423" cy="81373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乘號 15">
            <a:extLst>
              <a:ext uri="{FF2B5EF4-FFF2-40B4-BE49-F238E27FC236}">
                <a16:creationId xmlns:a16="http://schemas.microsoft.com/office/drawing/2014/main" id="{792F70AA-38F5-43D3-B66B-34137A892D0C}"/>
              </a:ext>
            </a:extLst>
          </p:cNvPr>
          <p:cNvSpPr/>
          <p:nvPr/>
        </p:nvSpPr>
        <p:spPr>
          <a:xfrm>
            <a:off x="5637402" y="5247313"/>
            <a:ext cx="688422" cy="70467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16FD5C8-A1D3-44A6-B3FD-B886E83E2023}"/>
              </a:ext>
            </a:extLst>
          </p:cNvPr>
          <p:cNvSpPr/>
          <p:nvPr/>
        </p:nvSpPr>
        <p:spPr>
          <a:xfrm>
            <a:off x="4540502" y="2808215"/>
            <a:ext cx="1785322" cy="704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19B865-5A8D-41AD-B164-A24DB849C808}"/>
              </a:ext>
            </a:extLst>
          </p:cNvPr>
          <p:cNvSpPr/>
          <p:nvPr/>
        </p:nvSpPr>
        <p:spPr>
          <a:xfrm>
            <a:off x="7046751" y="4915950"/>
            <a:ext cx="1929469" cy="4781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23AEDA9-6CE6-4C6D-BB59-3A69CF1EB87D}"/>
              </a:ext>
            </a:extLst>
          </p:cNvPr>
          <p:cNvSpPr/>
          <p:nvPr/>
        </p:nvSpPr>
        <p:spPr>
          <a:xfrm>
            <a:off x="4202079" y="4832063"/>
            <a:ext cx="1623532" cy="331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20.78/7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=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2.97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AB4F019-F282-498F-9E6B-C5A02D48DF89}"/>
              </a:ext>
            </a:extLst>
          </p:cNvPr>
          <p:cNvSpPr/>
          <p:nvPr/>
        </p:nvSpPr>
        <p:spPr>
          <a:xfrm>
            <a:off x="4479459" y="3199809"/>
            <a:ext cx="1502154" cy="3020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665/32=20.78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CB4F42D3-B431-4686-82E6-8CD77DAEB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294" y="4361488"/>
            <a:ext cx="307657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6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E177D0-7249-4B16-BB49-75BC8DDD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Architecture of the proposed hierarchical focusing offset prediction</a:t>
            </a:r>
            <a:endParaRPr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A5DEBF1F-BF9C-4CAB-A2CC-0191120D4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" name="內容版面配置區 4">
            <a:extLst>
              <a:ext uri="{FF2B5EF4-FFF2-40B4-BE49-F238E27FC236}">
                <a16:creationId xmlns:a16="http://schemas.microsoft.com/office/drawing/2014/main" id="{1E2D0FD2-5E5E-4113-8E6F-A37D8BE9E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581" y="2533474"/>
            <a:ext cx="9034837" cy="358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1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E245A-1044-4A86-812A-96AA28C19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Offset bin labels</a:t>
            </a:r>
            <a:r>
              <a:rPr lang="zh-TW" altLang="en-US" dirty="0"/>
              <a:t> </a:t>
            </a:r>
            <a:r>
              <a:rPr lang="en-US" altLang="zh-TW" dirty="0"/>
              <a:t>construction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16F1F5A2-4316-4B79-8879-128C8C23F5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7516" y="2285999"/>
            <a:ext cx="6216228" cy="2656854"/>
          </a:xfr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E047836-E15A-48AE-8E48-B4449DDC6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182" y="4812225"/>
            <a:ext cx="42767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792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4E1162-058B-4FC5-8EB6-A7524AAA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Learning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3C9B063-A4F4-4C62-8D3E-BAFE383ED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2188" y="2563253"/>
            <a:ext cx="2600325" cy="857250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86F65DD-5A2B-4536-9562-0A5521A97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79" y="3818220"/>
            <a:ext cx="4876800" cy="88582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93B0303-6BBE-4CEC-B805-CFA33D231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2" y="5208870"/>
            <a:ext cx="5038725" cy="85725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CBFA195-4204-4A5A-A34F-462CBA210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156" y="4199220"/>
            <a:ext cx="23526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68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59371C-1095-4302-A562-14349D0C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Offset Prediction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ED9031D-6CAE-4076-99CA-CAA6C446C2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3716" y="3134312"/>
            <a:ext cx="2638425" cy="1419225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E6F6A4C-3D5F-4A9A-B158-3345914C7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283" y="3198914"/>
            <a:ext cx="2326120" cy="135462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12FD418-E3D1-4A9C-94CB-1F0E200A08A4}"/>
              </a:ext>
            </a:extLst>
          </p:cNvPr>
          <p:cNvSpPr/>
          <p:nvPr/>
        </p:nvSpPr>
        <p:spPr>
          <a:xfrm>
            <a:off x="1235502" y="2685963"/>
            <a:ext cx="34628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Expectation-based Offset Prediction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CFFAED-C5CC-4782-B1D3-902A707B7958}"/>
              </a:ext>
            </a:extLst>
          </p:cNvPr>
          <p:cNvSpPr/>
          <p:nvPr/>
        </p:nvSpPr>
        <p:spPr>
          <a:xfrm>
            <a:off x="5844674" y="2685963"/>
            <a:ext cx="3741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Hierarchical Focusing Offset Prediction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1EF9AA-3069-4D6C-9CD1-E662371046F4}"/>
              </a:ext>
            </a:extLst>
          </p:cNvPr>
          <p:cNvSpPr/>
          <p:nvPr/>
        </p:nvSpPr>
        <p:spPr>
          <a:xfrm>
            <a:off x="961663" y="5506536"/>
            <a:ext cx="3842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表示代表 n 個</a:t>
            </a:r>
            <a:r>
              <a:rPr lang="en-US" altLang="zh-TW" dirty="0"/>
              <a:t>bin</a:t>
            </a:r>
            <a:r>
              <a:rPr lang="zh-TW" altLang="en-US" dirty="0"/>
              <a:t>的預期離散偏移量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8385D4D-D44C-4AD4-8361-580C35D44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365" y="4908486"/>
            <a:ext cx="3333750" cy="46672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F553AF2-C128-4EF8-A2E0-4B1EDF378ACE}"/>
              </a:ext>
            </a:extLst>
          </p:cNvPr>
          <p:cNvSpPr/>
          <p:nvPr/>
        </p:nvSpPr>
        <p:spPr>
          <a:xfrm>
            <a:off x="6490283" y="4957182"/>
            <a:ext cx="2108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offset range (−ak, ak)</a:t>
            </a:r>
          </a:p>
        </p:txBody>
      </p:sp>
    </p:spTree>
    <p:extLst>
      <p:ext uri="{BB962C8B-B14F-4D97-AF65-F5344CB8AC3E}">
        <p14:creationId xmlns:p14="http://schemas.microsoft.com/office/powerpoint/2010/main" val="706411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ECFC3D-1B18-45A9-BF53-22CB28F4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offset bin classiﬁcation</a:t>
            </a:r>
            <a:r>
              <a:rPr lang="zh-TW" altLang="en-US" dirty="0"/>
              <a:t> </a:t>
            </a:r>
            <a:r>
              <a:rPr lang="en-US" altLang="zh-TW" dirty="0"/>
              <a:t>architecture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D834097-DAF4-4086-910F-65BFD152C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2497" y="2481962"/>
            <a:ext cx="9367005" cy="3550845"/>
          </a:xfr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B3E9F1F-81B9-4F71-AB56-5EDA808DF71D}"/>
              </a:ext>
            </a:extLst>
          </p:cNvPr>
          <p:cNvSpPr/>
          <p:nvPr/>
        </p:nvSpPr>
        <p:spPr>
          <a:xfrm>
            <a:off x="1551963" y="2813885"/>
            <a:ext cx="5704514" cy="20685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230A63-8DDA-4685-BCFC-0439BB39E1B7}"/>
              </a:ext>
            </a:extLst>
          </p:cNvPr>
          <p:cNvSpPr/>
          <p:nvPr/>
        </p:nvSpPr>
        <p:spPr>
          <a:xfrm>
            <a:off x="3112316" y="4938095"/>
            <a:ext cx="4144161" cy="10390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5035B6-53ED-4895-A633-B7AF5F4F7456}"/>
              </a:ext>
            </a:extLst>
          </p:cNvPr>
          <p:cNvSpPr/>
          <p:nvPr/>
        </p:nvSpPr>
        <p:spPr>
          <a:xfrm>
            <a:off x="7339842" y="2813884"/>
            <a:ext cx="3300195" cy="33591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05BEBD-7EA0-4594-A3C5-9FF0C76FD478}"/>
              </a:ext>
            </a:extLst>
          </p:cNvPr>
          <p:cNvSpPr/>
          <p:nvPr/>
        </p:nvSpPr>
        <p:spPr>
          <a:xfrm>
            <a:off x="1551963" y="2407575"/>
            <a:ext cx="360727" cy="4026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F0EEEC-EC3C-48C2-A1D0-518114ECE028}"/>
              </a:ext>
            </a:extLst>
          </p:cNvPr>
          <p:cNvSpPr/>
          <p:nvPr/>
        </p:nvSpPr>
        <p:spPr>
          <a:xfrm>
            <a:off x="2751589" y="5012980"/>
            <a:ext cx="360727" cy="4026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1CC3CB-C167-4D76-877A-D7063AC98D72}"/>
              </a:ext>
            </a:extLst>
          </p:cNvPr>
          <p:cNvSpPr/>
          <p:nvPr/>
        </p:nvSpPr>
        <p:spPr>
          <a:xfrm>
            <a:off x="10370188" y="2407575"/>
            <a:ext cx="360727" cy="4026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3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689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E177D0-7249-4B16-BB49-75BC8DDD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Architecture of the proposed hierarchical focusing offset prediction</a:t>
            </a:r>
            <a:endParaRPr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A5DEBF1F-BF9C-4CAB-A2CC-0191120D4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" name="內容版面配置區 4">
            <a:extLst>
              <a:ext uri="{FF2B5EF4-FFF2-40B4-BE49-F238E27FC236}">
                <a16:creationId xmlns:a16="http://schemas.microsoft.com/office/drawing/2014/main" id="{1E2D0FD2-5E5E-4113-8E6F-A37D8BE9E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581" y="2533474"/>
            <a:ext cx="9034837" cy="358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032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AFCD0A-E49F-407D-A4FF-67227467C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83F015B-A622-4490-BEE7-568A5BF65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470" y="2625483"/>
            <a:ext cx="9964495" cy="1946519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C83A1AF-AECF-4661-9F6B-EB0D6C9CC1B7}"/>
              </a:ext>
            </a:extLst>
          </p:cNvPr>
          <p:cNvSpPr/>
          <p:nvPr/>
        </p:nvSpPr>
        <p:spPr>
          <a:xfrm>
            <a:off x="1106414" y="4726820"/>
            <a:ext cx="1791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VOC2007測試集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4CD27F-5088-4D60-8FAC-64DC544B9B18}"/>
              </a:ext>
            </a:extLst>
          </p:cNvPr>
          <p:cNvSpPr/>
          <p:nvPr/>
        </p:nvSpPr>
        <p:spPr>
          <a:xfrm>
            <a:off x="6610525" y="3665988"/>
            <a:ext cx="4286073" cy="5320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B683C8-7F64-421C-9248-7B877C6E0899}"/>
              </a:ext>
            </a:extLst>
          </p:cNvPr>
          <p:cNvSpPr/>
          <p:nvPr/>
        </p:nvSpPr>
        <p:spPr>
          <a:xfrm rot="16200000">
            <a:off x="9611915" y="3175950"/>
            <a:ext cx="1946520" cy="845583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9888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9B928A-72D0-4E02-95FC-9EC0D3BD7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427" y="660297"/>
            <a:ext cx="9601196" cy="740665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Ablation Study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7F4CA48-744E-4EF7-A6BE-C0B450C69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555" y="1824217"/>
            <a:ext cx="7910979" cy="2563679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3C64385-E8E2-4BA8-8A35-AE2932373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796" y="4387896"/>
            <a:ext cx="6156649" cy="18098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704F905-D4AA-46AA-845D-9441163D357F}"/>
              </a:ext>
            </a:extLst>
          </p:cNvPr>
          <p:cNvSpPr/>
          <p:nvPr/>
        </p:nvSpPr>
        <p:spPr>
          <a:xfrm>
            <a:off x="1496036" y="1751867"/>
            <a:ext cx="60288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Effectiveness of Different Loss Function for Predicting Offsets.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6D685A-06BD-4C84-999B-796C4DE341D4}"/>
              </a:ext>
            </a:extLst>
          </p:cNvPr>
          <p:cNvSpPr/>
          <p:nvPr/>
        </p:nvSpPr>
        <p:spPr>
          <a:xfrm>
            <a:off x="7097363" y="4319151"/>
            <a:ext cx="37915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Effectiveness of </a:t>
            </a:r>
            <a:r>
              <a:rPr lang="en-US" altLang="zh-TW" dirty="0">
                <a:solidFill>
                  <a:srgbClr val="C00000"/>
                </a:solidFill>
              </a:rPr>
              <a:t>number of stages </a:t>
            </a:r>
            <a:endParaRPr lang="zh-TW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145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8CCC35-EBF7-45E2-BEF8-92F8CAFB8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TW" dirty="0"/>
              <a:t> bin classiﬁcation for offset bin labels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4E77A8A-840C-433E-A231-C16485956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0711" y="2444640"/>
            <a:ext cx="6492538" cy="3760217"/>
          </a:xfrm>
        </p:spPr>
      </p:pic>
    </p:spTree>
    <p:extLst>
      <p:ext uri="{BB962C8B-B14F-4D97-AF65-F5344CB8AC3E}">
        <p14:creationId xmlns:p14="http://schemas.microsoft.com/office/powerpoint/2010/main" val="4056711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E9AD1E-9986-400A-81B4-F29E001EF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112" y="1138334"/>
            <a:ext cx="9601196" cy="1138335"/>
          </a:xfrm>
        </p:spPr>
        <p:txBody>
          <a:bodyPr>
            <a:normAutofit/>
          </a:bodyPr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30394C4A-8C33-4827-A340-0D12DE68A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3695" y="2507782"/>
            <a:ext cx="9123613" cy="3211884"/>
          </a:xfrm>
        </p:spPr>
      </p:pic>
    </p:spTree>
    <p:extLst>
      <p:ext uri="{BB962C8B-B14F-4D97-AF65-F5344CB8AC3E}">
        <p14:creationId xmlns:p14="http://schemas.microsoft.com/office/powerpoint/2010/main" val="2261814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10F663-4D09-4883-AADE-AA7E141B4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參考來源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69305C-7BA3-4C5A-BF12-5C8BA5EC3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Offset Bin Classiﬁcation Network for Accurate Object Detection</a:t>
            </a:r>
          </a:p>
          <a:p>
            <a:r>
              <a:rPr lang="en-US" altLang="zh-TW" dirty="0">
                <a:hlinkClick r:id="rId3"/>
              </a:rPr>
              <a:t>https://bbs.huaweicloud.com/blogs/114705</a:t>
            </a:r>
            <a:endParaRPr lang="en-US" altLang="zh-TW" dirty="0"/>
          </a:p>
          <a:p>
            <a:r>
              <a:rPr lang="en-US" altLang="zh-TW" dirty="0">
                <a:hlinkClick r:id="rId4"/>
              </a:rPr>
              <a:t>https://www.itread01.com/content/1544685317.html</a:t>
            </a:r>
            <a:endParaRPr lang="en-US" altLang="zh-TW" dirty="0"/>
          </a:p>
          <a:p>
            <a:r>
              <a:rPr lang="en-US" altLang="zh-TW"/>
              <a:t>https://paperswithcode.com/paper/offset-bin-classification-network-for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36599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916</TotalTime>
  <Words>346</Words>
  <Application>Microsoft Office PowerPoint</Application>
  <PresentationFormat>寬螢幕</PresentationFormat>
  <Paragraphs>65</Paragraphs>
  <Slides>19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微軟正黑體</vt:lpstr>
      <vt:lpstr>新細明體</vt:lpstr>
      <vt:lpstr>Arial</vt:lpstr>
      <vt:lpstr>Calibri</vt:lpstr>
      <vt:lpstr>Garamond</vt:lpstr>
      <vt:lpstr>Times New Roman</vt:lpstr>
      <vt:lpstr>有機</vt:lpstr>
      <vt:lpstr>Offset Bin Classiﬁcation Network for Accurate Object Detection</vt:lpstr>
      <vt:lpstr>Abstract</vt:lpstr>
      <vt:lpstr>Introduction</vt:lpstr>
      <vt:lpstr>Object Detectors</vt:lpstr>
      <vt:lpstr>Bounding Box Regression</vt:lpstr>
      <vt:lpstr>Revisiting Bbox Regression</vt:lpstr>
      <vt:lpstr>offset bin classiﬁcation architecture</vt:lpstr>
      <vt:lpstr>(補充) RoIPooling  vs RoIAlign</vt:lpstr>
      <vt:lpstr>Architecture of the proposed hierarchical focusing offset prediction</vt:lpstr>
      <vt:lpstr>Offset bin labels construction</vt:lpstr>
      <vt:lpstr>Network Learning</vt:lpstr>
      <vt:lpstr>Offset Prediction</vt:lpstr>
      <vt:lpstr>offset bin classiﬁcation architecture</vt:lpstr>
      <vt:lpstr>Architecture of the proposed hierarchical focusing offset prediction</vt:lpstr>
      <vt:lpstr>Experiment</vt:lpstr>
      <vt:lpstr>Ablation Study</vt:lpstr>
      <vt:lpstr> bin classiﬁcation for offset bin labels</vt:lpstr>
      <vt:lpstr>Conclusion</vt:lpstr>
      <vt:lpstr>參考來源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Amber</dc:creator>
  <cp:lastModifiedBy>Amber</cp:lastModifiedBy>
  <cp:revision>100</cp:revision>
  <dcterms:created xsi:type="dcterms:W3CDTF">2021-03-06T05:05:02Z</dcterms:created>
  <dcterms:modified xsi:type="dcterms:W3CDTF">2021-03-12T08:30:40Z</dcterms:modified>
</cp:coreProperties>
</file>