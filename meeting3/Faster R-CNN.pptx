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7" r:id="rId10"/>
    <p:sldId id="269" r:id="rId11"/>
    <p:sldId id="270" r:id="rId12"/>
    <p:sldId id="271" r:id="rId13"/>
    <p:sldId id="272" r:id="rId14"/>
    <p:sldId id="268" r:id="rId15"/>
    <p:sldId id="273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3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14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22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34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50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62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79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65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84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92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486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552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895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172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633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826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60E860-05ED-42C8-91A4-A8F95E04C89B}" type="datetimeFigureOut">
              <a:rPr lang="zh-TW" altLang="en-US" smtClean="0"/>
              <a:t>2021/2/19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E82F90A-2020-401C-AB64-78327408C1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123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3142645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93F316-6DDB-4C2C-BA00-BACCCBF24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105" y="1510018"/>
            <a:ext cx="10379978" cy="2815540"/>
          </a:xfrm>
        </p:spPr>
        <p:txBody>
          <a:bodyPr>
            <a:noAutofit/>
          </a:bodyPr>
          <a:lstStyle/>
          <a:p>
            <a:r>
              <a:rPr lang="en-US" altLang="zh-TW" sz="4400" dirty="0"/>
              <a:t>Faster R-CNN: </a:t>
            </a:r>
            <a:br>
              <a:rPr lang="en-US" altLang="zh-TW" sz="4400" dirty="0"/>
            </a:br>
            <a:r>
              <a:rPr lang="en-US" altLang="zh-TW" sz="4400" dirty="0"/>
              <a:t>Towards Real-Time Object</a:t>
            </a:r>
            <a:r>
              <a:rPr lang="zh-TW" altLang="en-US" sz="4400" dirty="0"/>
              <a:t> </a:t>
            </a:r>
            <a:r>
              <a:rPr lang="en-US" altLang="zh-TW" sz="4400" dirty="0"/>
              <a:t>Detection </a:t>
            </a:r>
            <a:br>
              <a:rPr lang="en-US" altLang="zh-TW" sz="4400" dirty="0"/>
            </a:br>
            <a:r>
              <a:rPr lang="en-US" altLang="zh-TW" sz="4400" dirty="0"/>
              <a:t>with Region Proposal Networks</a:t>
            </a:r>
            <a:br>
              <a:rPr lang="en-US" altLang="zh-TW" sz="4400" dirty="0"/>
            </a:br>
            <a:endParaRPr lang="zh-TW" altLang="en-US" sz="4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71E7D9-D8D5-494A-B35A-0DA9CB935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0092" y="4126136"/>
            <a:ext cx="6884063" cy="525345"/>
          </a:xfrm>
        </p:spPr>
        <p:txBody>
          <a:bodyPr/>
          <a:lstStyle/>
          <a:p>
            <a:r>
              <a:rPr lang="zh-TW" altLang="en-US" dirty="0"/>
              <a:t>作者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Shaoqing</a:t>
            </a:r>
            <a:r>
              <a:rPr lang="en-US" altLang="zh-TW" dirty="0"/>
              <a:t> Ren, </a:t>
            </a:r>
            <a:r>
              <a:rPr lang="en-US" altLang="zh-TW" dirty="0" err="1"/>
              <a:t>Kaiming</a:t>
            </a:r>
            <a:r>
              <a:rPr lang="en-US" altLang="zh-TW" dirty="0"/>
              <a:t> He, Ross </a:t>
            </a:r>
            <a:r>
              <a:rPr lang="en-US" altLang="zh-TW" dirty="0" err="1"/>
              <a:t>Girshick</a:t>
            </a:r>
            <a:r>
              <a:rPr lang="en-US" altLang="zh-TW" dirty="0"/>
              <a:t>, and Jian Sun</a:t>
            </a:r>
            <a:endParaRPr lang="zh-TW" altLang="en-US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335B22BD-102D-4E9D-8C9A-F2DCE414D134}"/>
              </a:ext>
            </a:extLst>
          </p:cNvPr>
          <p:cNvSpPr txBox="1">
            <a:spLocks/>
          </p:cNvSpPr>
          <p:nvPr/>
        </p:nvSpPr>
        <p:spPr>
          <a:xfrm>
            <a:off x="7596554" y="4845697"/>
            <a:ext cx="2288617" cy="5253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日期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2021/2/19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185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F64A2-000F-42D2-B411-136FEBBF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7254DF-C764-446B-B143-28AA5FE2E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最先進的目標檢測網路，依靠區域提議演算法</a:t>
            </a:r>
            <a:r>
              <a:rPr lang="en-US" altLang="zh-TW" dirty="0"/>
              <a:t>(region proposal algorithms)</a:t>
            </a:r>
            <a:r>
              <a:rPr lang="zh-TW" altLang="en-US" dirty="0"/>
              <a:t>來假設目標的位置。</a:t>
            </a:r>
            <a:endParaRPr lang="en-US" altLang="zh-TW" dirty="0"/>
          </a:p>
          <a:p>
            <a:r>
              <a:rPr lang="en-US" altLang="zh-TW" dirty="0"/>
              <a:t>RPN</a:t>
            </a:r>
            <a:r>
              <a:rPr lang="zh-TW" altLang="en-US" dirty="0"/>
              <a:t>是一個全卷積網路，可以同時在每個位置預測目標邊界和目標分數。</a:t>
            </a:r>
            <a:r>
              <a:rPr lang="en-US" altLang="zh-TW" dirty="0"/>
              <a:t>RPN </a:t>
            </a:r>
            <a:r>
              <a:rPr lang="zh-TW" altLang="en-US" dirty="0"/>
              <a:t>經過端到端的訓練</a:t>
            </a:r>
            <a:r>
              <a:rPr lang="en-US" altLang="zh-TW" dirty="0"/>
              <a:t>(end-to-end)</a:t>
            </a:r>
            <a:r>
              <a:rPr lang="zh-TW" altLang="en-US" dirty="0"/>
              <a:t>，可以生成高品質的區域提議，以上提議由</a:t>
            </a:r>
            <a:r>
              <a:rPr lang="en-US" altLang="zh-TW" dirty="0"/>
              <a:t>Fast R-CNN</a:t>
            </a:r>
            <a:r>
              <a:rPr lang="zh-TW" altLang="en-US" dirty="0"/>
              <a:t>檢測</a:t>
            </a:r>
            <a:endParaRPr lang="en-US" altLang="zh-TW" dirty="0"/>
          </a:p>
          <a:p>
            <a:r>
              <a:rPr lang="zh-TW" altLang="en-US" dirty="0"/>
              <a:t>將</a:t>
            </a:r>
            <a:r>
              <a:rPr lang="en-US" altLang="zh-TW" dirty="0"/>
              <a:t>RPN</a:t>
            </a:r>
            <a:r>
              <a:rPr lang="zh-TW" altLang="en-US" dirty="0"/>
              <a:t>和</a:t>
            </a:r>
            <a:r>
              <a:rPr lang="en-US" altLang="zh-TW" dirty="0"/>
              <a:t>Fast R-CNN</a:t>
            </a:r>
            <a:r>
              <a:rPr lang="zh-TW" altLang="en-US" dirty="0"/>
              <a:t>通過共享卷積特徵進一步合併為一個單一的網路</a:t>
            </a:r>
            <a:r>
              <a:rPr lang="en-US" altLang="zh-TW" dirty="0"/>
              <a:t>——</a:t>
            </a:r>
            <a:r>
              <a:rPr lang="zh-TW" altLang="en-US" dirty="0"/>
              <a:t>使用最近流行的具有「注意力」機制的神經網路術語，</a:t>
            </a:r>
            <a:r>
              <a:rPr lang="en-US" altLang="zh-TW" dirty="0"/>
              <a:t>RPN</a:t>
            </a:r>
            <a:r>
              <a:rPr lang="zh-TW" altLang="en-US" dirty="0"/>
              <a:t>組件告訴統一網路在哪裡尋找。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50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4F904-B09A-4B1D-95B1-74CFAF7E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處理多尺度的不同機制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784F9CE-0134-418E-B1AA-597B0199E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6" y="2610338"/>
            <a:ext cx="9601200" cy="32655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7590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2F6A24-139E-4EB5-86D2-431F42EF8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963AE85-BE5D-4975-BACF-DDDCC9C2A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E7751F0-16BF-4A9D-B778-5D46B92B4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755924-121A-47AA-8613-995D4108B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D2AFDA-19BE-4455-830E-1541E5D7B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FB15EBF-E414-4E00-87E7-700A78A60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FB0F64A2-000F-42D2-B411-136FEBBF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r>
              <a:rPr lang="zh-TW" altLang="en-US" dirty="0"/>
              <a:t>相關工作 </a:t>
            </a:r>
            <a:r>
              <a:rPr lang="en-US" altLang="zh-TW" dirty="0"/>
              <a:t>– </a:t>
            </a:r>
            <a:r>
              <a:rPr lang="zh-TW" altLang="en-US" dirty="0"/>
              <a:t>方法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DA5B05-DD14-4860-AC45-02A8D2EE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99CE99E4-1D7C-4616-8B9E-3293BD2F09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"/>
          <a:stretch/>
        </p:blipFill>
        <p:spPr>
          <a:xfrm>
            <a:off x="1295403" y="1376908"/>
            <a:ext cx="4123351" cy="410418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BE37AC-AD36-4C42-9B8C-C5500F4E7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7254DF-C764-446B-B143-28AA5FE2E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Conv layers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RPN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err="1"/>
              <a:t>RoI</a:t>
            </a:r>
            <a:r>
              <a:rPr lang="en-US" altLang="zh-TW" dirty="0"/>
              <a:t> pooling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4026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90315DA-DAB1-47D6-AAC2-ED5A468C4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633" y="3540125"/>
            <a:ext cx="7046367" cy="3317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7AD64C4-B992-4151-B7AF-C792F7E9D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62825" cy="3867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7F4C740-1011-49FD-A5DB-87D18F92CB8B}"/>
              </a:ext>
            </a:extLst>
          </p:cNvPr>
          <p:cNvCxnSpPr>
            <a:cxnSpLocks/>
          </p:cNvCxnSpPr>
          <p:nvPr/>
        </p:nvCxnSpPr>
        <p:spPr>
          <a:xfrm flipH="1" flipV="1">
            <a:off x="2390862" y="2592198"/>
            <a:ext cx="3926048" cy="13695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CF07308-98D2-4901-B98F-7502F99FFD9F}"/>
              </a:ext>
            </a:extLst>
          </p:cNvPr>
          <p:cNvSpPr/>
          <p:nvPr/>
        </p:nvSpPr>
        <p:spPr>
          <a:xfrm>
            <a:off x="7316563" y="100667"/>
            <a:ext cx="4875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圖片來源</a:t>
            </a:r>
            <a:r>
              <a:rPr lang="en-US" altLang="zh-TW" dirty="0"/>
              <a:t>:</a:t>
            </a:r>
            <a:r>
              <a:rPr lang="zh-TW" altLang="en-US" dirty="0"/>
              <a:t>https://codingnote.cc/zh-tw/p/193174/</a:t>
            </a: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BA1D6941-FB7E-4665-89B7-C240661A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059" y="4257695"/>
            <a:ext cx="4986285" cy="1303867"/>
          </a:xfrm>
        </p:spPr>
        <p:txBody>
          <a:bodyPr/>
          <a:lstStyle/>
          <a:p>
            <a:r>
              <a:rPr lang="en-US" altLang="zh-TW" dirty="0"/>
              <a:t>Faster-RCNN</a:t>
            </a:r>
            <a:r>
              <a:rPr lang="zh-TW" altLang="en-US" dirty="0"/>
              <a:t>架構</a:t>
            </a:r>
          </a:p>
        </p:txBody>
      </p:sp>
    </p:spTree>
    <p:extLst>
      <p:ext uri="{BB962C8B-B14F-4D97-AF65-F5344CB8AC3E}">
        <p14:creationId xmlns:p14="http://schemas.microsoft.com/office/powerpoint/2010/main" val="373176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F64A2-000F-42D2-B411-136FEBBF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51488"/>
            <a:ext cx="9601196" cy="1303867"/>
          </a:xfrm>
        </p:spPr>
        <p:txBody>
          <a:bodyPr/>
          <a:lstStyle/>
          <a:p>
            <a:r>
              <a:rPr lang="en-US" altLang="zh-TW" dirty="0"/>
              <a:t> Region Proposal Networks(RPN)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1247EF-D5FF-4E68-AD97-039161BA9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766" y="2004353"/>
            <a:ext cx="7978468" cy="207269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800F6E1-7725-4F69-A9E4-5A2F764C56D8}"/>
              </a:ext>
            </a:extLst>
          </p:cNvPr>
          <p:cNvSpPr/>
          <p:nvPr/>
        </p:nvSpPr>
        <p:spPr>
          <a:xfrm>
            <a:off x="2106766" y="4247114"/>
            <a:ext cx="79784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RPN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的網路結構</a:t>
            </a:r>
            <a:r>
              <a:rPr lang="zh-TW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可以看到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RPN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網路實際分為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條線</a:t>
            </a:r>
            <a:r>
              <a:rPr lang="zh-TW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zh-TW" altLang="zh-TW" dirty="0"/>
              <a:t>上面一條通過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softmax</a:t>
            </a:r>
            <a:r>
              <a:rPr lang="zh-TW" altLang="zh-TW" dirty="0"/>
              <a:t>分類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anchors</a:t>
            </a:r>
            <a:r>
              <a:rPr lang="zh-TW" altLang="zh-TW" dirty="0"/>
              <a:t>獲得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r>
              <a:rPr lang="zh-TW" altLang="zh-TW" dirty="0"/>
              <a:t>和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r>
              <a:rPr lang="zh-TW" altLang="zh-TW" dirty="0"/>
              <a:t>分類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zh-TW" dirty="0"/>
              <a:t>下面一條用於計算對於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anchors</a:t>
            </a:r>
            <a:r>
              <a:rPr lang="zh-TW" altLang="zh-TW" dirty="0"/>
              <a:t>的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bounding box regression</a:t>
            </a:r>
            <a:r>
              <a:rPr lang="zh-TW" altLang="zh-TW" dirty="0"/>
              <a:t>偏移量，以獲得精確的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proposal</a:t>
            </a:r>
            <a:r>
              <a:rPr lang="zh-TW" altLang="zh-TW" dirty="0"/>
              <a:t>。</a:t>
            </a:r>
            <a:endParaRPr lang="en-US" altLang="zh-TW" dirty="0"/>
          </a:p>
          <a:p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RPN</a:t>
            </a:r>
            <a:r>
              <a:rPr lang="zh-TW" altLang="en-US" dirty="0"/>
              <a:t>最終就是在原圖尺度上，設置了密密麻麻的候選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Anchor</a:t>
            </a:r>
            <a:r>
              <a:rPr lang="zh-TW" altLang="en-US" dirty="0"/>
              <a:t>。然後用</a:t>
            </a:r>
            <a:r>
              <a:rPr lang="en-US" altLang="zh-TW" dirty="0" err="1"/>
              <a:t>cnn</a:t>
            </a:r>
            <a:r>
              <a:rPr lang="zh-TW" altLang="en-US" dirty="0"/>
              <a:t>去判斷哪些</a:t>
            </a:r>
            <a:r>
              <a:rPr lang="en-US" altLang="zh-TW" dirty="0"/>
              <a:t>Anchor</a:t>
            </a:r>
            <a:r>
              <a:rPr lang="zh-TW" altLang="en-US" dirty="0"/>
              <a:t>是裡面有目標的</a:t>
            </a:r>
            <a:r>
              <a:rPr lang="en-US" altLang="zh-TW" dirty="0"/>
              <a:t>positive anchor</a:t>
            </a:r>
            <a:r>
              <a:rPr lang="zh-TW" altLang="en-US" dirty="0"/>
              <a:t>，哪些是沒目標的</a:t>
            </a:r>
            <a:r>
              <a:rPr lang="en-US" altLang="zh-TW" dirty="0"/>
              <a:t>negative anchor</a:t>
            </a:r>
            <a:r>
              <a:rPr lang="zh-TW" altLang="en-US" dirty="0"/>
              <a:t>。所以，就是個二分類而已。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745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4B4F904-B09A-4B1D-95B1-74CFAF7E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US" altLang="zh-TW" sz="2800" dirty="0">
                <a:solidFill>
                  <a:srgbClr val="262626"/>
                </a:solidFill>
              </a:rPr>
              <a:t>Anchor</a:t>
            </a:r>
            <a:endParaRPr lang="zh-TW" altLang="en-US" sz="2800" dirty="0">
              <a:solidFill>
                <a:srgbClr val="262626"/>
              </a:solidFill>
            </a:endParaRPr>
          </a:p>
        </p:txBody>
      </p:sp>
      <p:sp>
        <p:nvSpPr>
          <p:cNvPr id="33" name="Content Placeholder 8">
            <a:extLst>
              <a:ext uri="{FF2B5EF4-FFF2-40B4-BE49-F238E27FC236}">
                <a16:creationId xmlns:a16="http://schemas.microsoft.com/office/drawing/2014/main" id="{B181264B-7E36-4D71-B3DF-2CA2903ED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64" y="2430471"/>
            <a:ext cx="3392393" cy="3552039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solidFill>
                  <a:srgbClr val="262626"/>
                </a:solidFill>
              </a:rPr>
              <a:t>所謂</a:t>
            </a:r>
            <a:r>
              <a:rPr lang="en-US" sz="1800" dirty="0">
                <a:solidFill>
                  <a:srgbClr val="262626"/>
                </a:solidFill>
              </a:rPr>
              <a:t>anchors，</a:t>
            </a:r>
            <a:r>
              <a:rPr lang="zh-TW" altLang="en-US" sz="1800" dirty="0">
                <a:solidFill>
                  <a:srgbClr val="262626"/>
                </a:solidFill>
              </a:rPr>
              <a:t>實際上就是一組由</a:t>
            </a:r>
            <a:r>
              <a:rPr lang="en-US" sz="1800" dirty="0">
                <a:solidFill>
                  <a:srgbClr val="262626"/>
                </a:solidFill>
              </a:rPr>
              <a:t>rpn/generate_anchors.py</a:t>
            </a:r>
            <a:r>
              <a:rPr lang="zh-TW" altLang="en-US" sz="1800" dirty="0">
                <a:solidFill>
                  <a:srgbClr val="262626"/>
                </a:solidFill>
              </a:rPr>
              <a:t>生成的矩形</a:t>
            </a:r>
            <a:endParaRPr lang="en-US" altLang="zh-TW" sz="1800" dirty="0">
              <a:solidFill>
                <a:srgbClr val="262626"/>
              </a:solidFill>
            </a:endParaRPr>
          </a:p>
          <a:p>
            <a:r>
              <a:rPr lang="en-US" altLang="zh-TW" sz="1800" dirty="0">
                <a:solidFill>
                  <a:srgbClr val="262626"/>
                </a:solidFill>
              </a:rPr>
              <a:t>9</a:t>
            </a:r>
            <a:r>
              <a:rPr lang="zh-TW" altLang="en-US" sz="1800" dirty="0">
                <a:solidFill>
                  <a:srgbClr val="262626"/>
                </a:solidFill>
              </a:rPr>
              <a:t>個矩形共有</a:t>
            </a:r>
            <a:r>
              <a:rPr lang="en-US" altLang="zh-TW" sz="1800" dirty="0">
                <a:solidFill>
                  <a:srgbClr val="262626"/>
                </a:solidFill>
              </a:rPr>
              <a:t>3</a:t>
            </a:r>
            <a:r>
              <a:rPr lang="zh-TW" altLang="en-US" sz="1800" dirty="0">
                <a:solidFill>
                  <a:srgbClr val="262626"/>
                </a:solidFill>
              </a:rPr>
              <a:t>個形狀</a:t>
            </a:r>
            <a:endParaRPr lang="en-US" altLang="zh-TW" sz="1800" dirty="0">
              <a:solidFill>
                <a:srgbClr val="262626"/>
              </a:solidFill>
            </a:endParaRPr>
          </a:p>
          <a:p>
            <a:r>
              <a:rPr lang="zh-TW" altLang="en-US" sz="1800" dirty="0">
                <a:solidFill>
                  <a:srgbClr val="262626"/>
                </a:solidFill>
              </a:rPr>
              <a:t>通過</a:t>
            </a:r>
            <a:r>
              <a:rPr lang="en-US" altLang="zh-TW" sz="1800" dirty="0">
                <a:solidFill>
                  <a:srgbClr val="262626"/>
                </a:solidFill>
              </a:rPr>
              <a:t>anchors</a:t>
            </a:r>
            <a:r>
              <a:rPr lang="zh-TW" altLang="en-US" sz="1800" dirty="0">
                <a:solidFill>
                  <a:srgbClr val="262626"/>
                </a:solidFill>
              </a:rPr>
              <a:t>就能引入檢測中，常用到的多尺度方法</a:t>
            </a:r>
            <a:endParaRPr lang="en-US" altLang="zh-TW" sz="1800" dirty="0">
              <a:solidFill>
                <a:srgbClr val="262626"/>
              </a:solidFill>
            </a:endParaRPr>
          </a:p>
          <a:p>
            <a:r>
              <a:rPr lang="zh-TW" altLang="en-US" sz="1800" u="sng" dirty="0">
                <a:solidFill>
                  <a:srgbClr val="262626"/>
                </a:solidFill>
              </a:rPr>
              <a:t>平移不變</a:t>
            </a:r>
            <a:r>
              <a:rPr lang="en-US" altLang="zh-TW" sz="1800" u="sng" dirty="0">
                <a:solidFill>
                  <a:srgbClr val="262626"/>
                </a:solidFill>
              </a:rPr>
              <a:t>+</a:t>
            </a:r>
            <a:r>
              <a:rPr lang="zh-TW" altLang="en-US" sz="1800" u="sng" dirty="0">
                <a:solidFill>
                  <a:srgbClr val="262626"/>
                </a:solidFill>
              </a:rPr>
              <a:t>多尺度</a:t>
            </a:r>
            <a:r>
              <a:rPr lang="en-US" altLang="zh-TW" sz="1800" u="sng" dirty="0">
                <a:solidFill>
                  <a:srgbClr val="262626"/>
                </a:solidFill>
              </a:rPr>
              <a:t>anchor</a:t>
            </a:r>
            <a:r>
              <a:rPr lang="zh-TW" altLang="en-US" sz="1800" u="sng" dirty="0">
                <a:solidFill>
                  <a:srgbClr val="262626"/>
                </a:solidFill>
              </a:rPr>
              <a:t>是此方法的重點</a:t>
            </a:r>
            <a:endParaRPr lang="en-US" altLang="zh-TW" sz="1800" u="sng" dirty="0">
              <a:solidFill>
                <a:srgbClr val="262626"/>
              </a:solidFill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ED4DAE65-F41A-4FFD-B7D8-133ABF1BFEEF}"/>
              </a:ext>
            </a:extLst>
          </p:cNvPr>
          <p:cNvGrpSpPr/>
          <p:nvPr/>
        </p:nvGrpSpPr>
        <p:grpSpPr>
          <a:xfrm>
            <a:off x="4506672" y="609603"/>
            <a:ext cx="7685328" cy="6114768"/>
            <a:chOff x="4503624" y="567861"/>
            <a:chExt cx="7685328" cy="6114768"/>
          </a:xfrm>
        </p:grpSpPr>
        <p:pic>
          <p:nvPicPr>
            <p:cNvPr id="5" name="內容版面配置區 4">
              <a:extLst>
                <a:ext uri="{FF2B5EF4-FFF2-40B4-BE49-F238E27FC236}">
                  <a16:creationId xmlns:a16="http://schemas.microsoft.com/office/drawing/2014/main" id="{BC575D51-6A46-40AE-9E70-18EA3B728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0690" y="609602"/>
              <a:ext cx="7348262" cy="5728041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9A547F6-D93F-475C-A0FB-093413810796}"/>
                </a:ext>
              </a:extLst>
            </p:cNvPr>
            <p:cNvSpPr/>
            <p:nvPr/>
          </p:nvSpPr>
          <p:spPr>
            <a:xfrm>
              <a:off x="11635273" y="1600200"/>
              <a:ext cx="419878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rgbClr val="FF0000"/>
                  </a:solidFill>
                </a:rPr>
                <a:t>1:1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33A5D66-BCCF-4501-8A5E-5B6532F55DF4}"/>
                </a:ext>
              </a:extLst>
            </p:cNvPr>
            <p:cNvSpPr/>
            <p:nvPr/>
          </p:nvSpPr>
          <p:spPr>
            <a:xfrm>
              <a:off x="11521934" y="2683898"/>
              <a:ext cx="419878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rgbClr val="FF0000"/>
                  </a:solidFill>
                </a:rPr>
                <a:t>1:2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907C346-A64B-4EF7-8401-ADEC90F414E3}"/>
                </a:ext>
              </a:extLst>
            </p:cNvPr>
            <p:cNvSpPr/>
            <p:nvPr/>
          </p:nvSpPr>
          <p:spPr>
            <a:xfrm>
              <a:off x="11677175" y="3563756"/>
              <a:ext cx="419878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rgbClr val="FF0000"/>
                  </a:solidFill>
                </a:rPr>
                <a:t>2:1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67B5EA2-3F0B-4EDF-9035-A06ADFABF2D2}"/>
                </a:ext>
              </a:extLst>
            </p:cNvPr>
            <p:cNvSpPr/>
            <p:nvPr/>
          </p:nvSpPr>
          <p:spPr>
            <a:xfrm>
              <a:off x="10359010" y="5982510"/>
              <a:ext cx="1807697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dirty="0">
                  <a:solidFill>
                    <a:srgbClr val="FF0000"/>
                  </a:solidFill>
                </a:rPr>
                <a:t>原圖上的</a:t>
              </a:r>
              <a:r>
                <a:rPr lang="en-US" altLang="zh-TW" sz="1400" dirty="0">
                  <a:solidFill>
                    <a:srgbClr val="FF0000"/>
                  </a:solidFill>
                </a:rPr>
                <a:t>anchors</a:t>
              </a:r>
              <a:endParaRPr lang="zh-TW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B8383CF-B25D-4DED-A375-383B001CE714}"/>
                </a:ext>
              </a:extLst>
            </p:cNvPr>
            <p:cNvSpPr/>
            <p:nvPr/>
          </p:nvSpPr>
          <p:spPr>
            <a:xfrm>
              <a:off x="6609131" y="4878960"/>
              <a:ext cx="1807697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0000"/>
                  </a:solidFill>
                </a:rPr>
                <a:t>3*3</a:t>
              </a:r>
              <a:r>
                <a:rPr lang="zh-TW" altLang="en-US" sz="1600" b="1" dirty="0">
                  <a:solidFill>
                    <a:srgbClr val="FF0000"/>
                  </a:solidFill>
                </a:rPr>
                <a:t>卷積核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88C505C-BC7B-4752-ADCF-5D30E36C76ED}"/>
                </a:ext>
              </a:extLst>
            </p:cNvPr>
            <p:cNvSpPr/>
            <p:nvPr/>
          </p:nvSpPr>
          <p:spPr>
            <a:xfrm>
              <a:off x="7892840" y="1881588"/>
              <a:ext cx="1807697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rgbClr val="FFC000"/>
                  </a:solidFill>
                </a:rPr>
                <a:t>邊框回歸層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D8C6535-C87A-4F31-A6FC-F854998AA256}"/>
                </a:ext>
              </a:extLst>
            </p:cNvPr>
            <p:cNvSpPr/>
            <p:nvPr/>
          </p:nvSpPr>
          <p:spPr>
            <a:xfrm>
              <a:off x="4503624" y="1881588"/>
              <a:ext cx="1807697" cy="4852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rgbClr val="FFC000"/>
                  </a:solidFill>
                </a:rPr>
                <a:t>分類層</a:t>
              </a:r>
              <a:br>
                <a:rPr lang="en-US" altLang="zh-TW" sz="1600" b="1" dirty="0">
                  <a:solidFill>
                    <a:srgbClr val="FFC000"/>
                  </a:solidFill>
                </a:rPr>
              </a:br>
              <a:r>
                <a:rPr lang="en-US" altLang="zh-TW" sz="1600" b="1" dirty="0">
                  <a:solidFill>
                    <a:srgbClr val="FFC000"/>
                  </a:solidFill>
                </a:rPr>
                <a:t>(</a:t>
              </a:r>
              <a:r>
                <a:rPr lang="zh-TW" altLang="en-US" sz="1600" b="1" dirty="0">
                  <a:solidFill>
                    <a:srgbClr val="FFC000"/>
                  </a:solidFill>
                </a:rPr>
                <a:t>是不是</a:t>
              </a:r>
              <a:r>
                <a:rPr lang="en-US" altLang="zh-TW" sz="1600" b="1" dirty="0">
                  <a:solidFill>
                    <a:srgbClr val="FFC000"/>
                  </a:solidFill>
                </a:rPr>
                <a:t>object)</a:t>
              </a:r>
              <a:endParaRPr lang="zh-TW" altLang="en-US" sz="1600" b="1" dirty="0">
                <a:solidFill>
                  <a:srgbClr val="FFC000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E4958D1-BED9-4673-A084-935BD8A02DDB}"/>
                </a:ext>
              </a:extLst>
            </p:cNvPr>
            <p:cNvSpPr/>
            <p:nvPr/>
          </p:nvSpPr>
          <p:spPr>
            <a:xfrm>
              <a:off x="5085005" y="567861"/>
              <a:ext cx="1807697" cy="3631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 err="1">
                  <a:solidFill>
                    <a:srgbClr val="00B0F0"/>
                  </a:solidFill>
                </a:rPr>
                <a:t>softmax</a:t>
              </a:r>
              <a:endParaRPr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2B6F55B-C832-4B70-B537-EC133D50EBEF}"/>
                </a:ext>
              </a:extLst>
            </p:cNvPr>
            <p:cNvSpPr/>
            <p:nvPr/>
          </p:nvSpPr>
          <p:spPr>
            <a:xfrm>
              <a:off x="7763386" y="2532275"/>
              <a:ext cx="1807697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rgbClr val="00B050"/>
                  </a:solidFill>
                </a:rPr>
                <a:t>新增第一層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23658C3-1213-4904-95B9-C9B240787D94}"/>
                </a:ext>
              </a:extLst>
            </p:cNvPr>
            <p:cNvSpPr/>
            <p:nvPr/>
          </p:nvSpPr>
          <p:spPr>
            <a:xfrm>
              <a:off x="8557047" y="801297"/>
              <a:ext cx="1807697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rgbClr val="00B050"/>
                  </a:solidFill>
                </a:rPr>
                <a:t>新增第二層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41CA3FA-A78A-45F6-ACF8-28F57D83AB39}"/>
                </a:ext>
              </a:extLst>
            </p:cNvPr>
            <p:cNvSpPr/>
            <p:nvPr/>
          </p:nvSpPr>
          <p:spPr>
            <a:xfrm>
              <a:off x="4931608" y="6379384"/>
              <a:ext cx="1807697" cy="3032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0000"/>
                  </a:solidFill>
                </a:rPr>
                <a:t>ZF model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橢圓 7">
            <a:extLst>
              <a:ext uri="{FF2B5EF4-FFF2-40B4-BE49-F238E27FC236}">
                <a16:creationId xmlns:a16="http://schemas.microsoft.com/office/drawing/2014/main" id="{9284BDF8-E369-4982-8D76-4F2D6F01CF0B}"/>
              </a:ext>
            </a:extLst>
          </p:cNvPr>
          <p:cNvSpPr/>
          <p:nvPr/>
        </p:nvSpPr>
        <p:spPr>
          <a:xfrm>
            <a:off x="6895750" y="4412609"/>
            <a:ext cx="478173" cy="4362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525F37F-A141-43DD-8203-98C3B7D6ED45}"/>
              </a:ext>
            </a:extLst>
          </p:cNvPr>
          <p:cNvCxnSpPr>
            <a:cxnSpLocks/>
          </p:cNvCxnSpPr>
          <p:nvPr/>
        </p:nvCxnSpPr>
        <p:spPr>
          <a:xfrm flipV="1">
            <a:off x="3129094" y="3028885"/>
            <a:ext cx="7226518" cy="57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DCAD3D1-01A0-4A48-9B25-08A7B121E6AA}"/>
              </a:ext>
            </a:extLst>
          </p:cNvPr>
          <p:cNvSpPr/>
          <p:nvPr/>
        </p:nvSpPr>
        <p:spPr>
          <a:xfrm>
            <a:off x="10360404" y="1325461"/>
            <a:ext cx="1693003" cy="28019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257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F64A2-000F-42D2-B411-136FEBBF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損失函式（</a:t>
            </a:r>
            <a:r>
              <a:rPr lang="en-US" altLang="zh-TW" b="1" dirty="0"/>
              <a:t>Loss function)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A43EA64-281E-40A6-B78B-097F2AAD0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02" y="2586955"/>
            <a:ext cx="8192986" cy="84204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D592503-DC6E-4489-A613-F9EF85CD4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845" y="3383774"/>
            <a:ext cx="2857899" cy="35247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33FCCCF-6232-43B2-A5D3-AE5C8BB771AB}"/>
              </a:ext>
            </a:extLst>
          </p:cNvPr>
          <p:cNvSpPr/>
          <p:nvPr/>
        </p:nvSpPr>
        <p:spPr>
          <a:xfrm>
            <a:off x="1585519" y="4533067"/>
            <a:ext cx="91523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上述公式中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表示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anchors index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一個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mini-batch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中的下標， 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pi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anchor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為一個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的預測可能性。如果這個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anchor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的，則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ground-truth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標籤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pi*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，否則為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表示預測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bounding box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個引數化座標，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是這個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positive anchor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對應的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ground-truth box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1991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F64A2-000F-42D2-B411-136FEBBF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損失函式（</a:t>
            </a:r>
            <a:r>
              <a:rPr lang="en-US" altLang="zh-TW" b="1" dirty="0"/>
              <a:t>Loss function)</a:t>
            </a:r>
            <a:endParaRPr lang="zh-TW" altLang="en-US" dirty="0"/>
          </a:p>
        </p:txBody>
      </p:sp>
      <p:pic>
        <p:nvPicPr>
          <p:cNvPr id="6" name="內容版面配置區 3">
            <a:extLst>
              <a:ext uri="{FF2B5EF4-FFF2-40B4-BE49-F238E27FC236}">
                <a16:creationId xmlns:a16="http://schemas.microsoft.com/office/drawing/2014/main" id="{0DADB653-B557-4111-9C5E-C801CB9E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19" y="2803464"/>
            <a:ext cx="6106377" cy="1695687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2106C5-2248-45A0-A6D3-441351487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634" y="5016615"/>
            <a:ext cx="9092964" cy="1023457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x</a:t>
            </a:r>
            <a:r>
              <a:rPr lang="zh-TW" altLang="zh-TW" dirty="0"/>
              <a:t>、</a:t>
            </a:r>
            <a:r>
              <a:rPr lang="en-US" altLang="zh-TW" dirty="0"/>
              <a:t>y</a:t>
            </a:r>
            <a:r>
              <a:rPr lang="zh-TW" altLang="zh-TW" dirty="0"/>
              <a:t>、</a:t>
            </a:r>
            <a:r>
              <a:rPr lang="en-US" altLang="zh-TW" dirty="0"/>
              <a:t>w</a:t>
            </a:r>
            <a:r>
              <a:rPr lang="zh-TW" altLang="zh-TW" dirty="0"/>
              <a:t>、</a:t>
            </a:r>
            <a:r>
              <a:rPr lang="en-US" altLang="zh-TW" dirty="0"/>
              <a:t>h</a:t>
            </a:r>
            <a:r>
              <a:rPr lang="zh-TW" altLang="zh-TW" dirty="0"/>
              <a:t>表示</a:t>
            </a:r>
            <a:r>
              <a:rPr lang="en-US" altLang="zh-TW" dirty="0"/>
              <a:t>box</a:t>
            </a:r>
            <a:r>
              <a:rPr lang="zh-TW" altLang="zh-TW" dirty="0"/>
              <a:t>中心的座標以及它的寬度和高度。變數</a:t>
            </a:r>
            <a:r>
              <a:rPr lang="en-US" altLang="zh-TW" dirty="0"/>
              <a:t>x</a:t>
            </a:r>
            <a:r>
              <a:rPr lang="zh-TW" altLang="zh-TW" dirty="0"/>
              <a:t>、</a:t>
            </a:r>
            <a:r>
              <a:rPr lang="en-US" altLang="zh-TW" dirty="0" err="1"/>
              <a:t>xa</a:t>
            </a:r>
            <a:r>
              <a:rPr lang="zh-TW" altLang="zh-TW" dirty="0"/>
              <a:t>和</a:t>
            </a:r>
            <a:r>
              <a:rPr lang="en-US" altLang="zh-TW" dirty="0"/>
              <a:t>x*</a:t>
            </a:r>
            <a:r>
              <a:rPr lang="zh-TW" altLang="zh-TW" dirty="0"/>
              <a:t>分別針對於預測的</a:t>
            </a:r>
            <a:r>
              <a:rPr lang="en-US" altLang="zh-TW" dirty="0"/>
              <a:t>box</a:t>
            </a:r>
            <a:r>
              <a:rPr lang="zh-TW" altLang="zh-TW" dirty="0"/>
              <a:t>、</a:t>
            </a:r>
            <a:r>
              <a:rPr lang="en-US" altLang="zh-TW" dirty="0"/>
              <a:t>anchor </a:t>
            </a:r>
            <a:r>
              <a:rPr lang="en-US" altLang="zh-TW" dirty="0" err="1"/>
              <a:t>boxhe</a:t>
            </a:r>
            <a:r>
              <a:rPr lang="en-US" altLang="zh-TW" dirty="0"/>
              <a:t> ground-truth box</a:t>
            </a:r>
            <a:r>
              <a:rPr lang="zh-TW" altLang="zh-TW" dirty="0"/>
              <a:t>（</a:t>
            </a:r>
            <a:r>
              <a:rPr lang="en-US" altLang="zh-TW" dirty="0"/>
              <a:t>y</a:t>
            </a:r>
            <a:r>
              <a:rPr lang="zh-TW" altLang="zh-TW" dirty="0"/>
              <a:t>、</a:t>
            </a:r>
            <a:r>
              <a:rPr lang="en-US" altLang="zh-TW" dirty="0"/>
              <a:t>w</a:t>
            </a:r>
            <a:r>
              <a:rPr lang="zh-TW" altLang="zh-TW" dirty="0"/>
              <a:t>、</a:t>
            </a:r>
            <a:r>
              <a:rPr lang="en-US" altLang="zh-TW" dirty="0"/>
              <a:t>h</a:t>
            </a:r>
            <a:r>
              <a:rPr lang="zh-TW" altLang="zh-TW" dirty="0"/>
              <a:t>也是一樣的）。</a:t>
            </a:r>
            <a:endParaRPr lang="en-US" altLang="zh-TW" dirty="0"/>
          </a:p>
          <a:p>
            <a:r>
              <a:rPr lang="zh-TW" altLang="zh-TW" dirty="0"/>
              <a:t>可以認為是從一個</a:t>
            </a:r>
            <a:r>
              <a:rPr lang="en-US" altLang="zh-TW" dirty="0"/>
              <a:t>anchor box</a:t>
            </a:r>
            <a:r>
              <a:rPr lang="zh-TW" altLang="zh-TW" dirty="0"/>
              <a:t>到一個附近的</a:t>
            </a:r>
            <a:r>
              <a:rPr lang="en-US" altLang="zh-TW" dirty="0"/>
              <a:t>ground-truth box</a:t>
            </a:r>
            <a:r>
              <a:rPr lang="zh-TW" altLang="zh-TW" dirty="0"/>
              <a:t>的</a:t>
            </a:r>
            <a:r>
              <a:rPr lang="en-US" altLang="zh-TW" dirty="0" err="1"/>
              <a:t>bouding</a:t>
            </a:r>
            <a:r>
              <a:rPr lang="en-US" altLang="zh-TW" dirty="0"/>
              <a:t> box</a:t>
            </a:r>
            <a:r>
              <a:rPr lang="zh-TW" altLang="zh-TW" dirty="0"/>
              <a:t>迴歸。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025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19B149-8FEE-4DB1-B230-F8D8CBE9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RPN</a:t>
            </a:r>
            <a:r>
              <a:rPr lang="zh-TW" altLang="en-US" b="1" dirty="0"/>
              <a:t>與</a:t>
            </a:r>
            <a:r>
              <a:rPr lang="en-US" altLang="zh-TW" b="1" dirty="0"/>
              <a:t>Fast R-CNN</a:t>
            </a:r>
            <a:r>
              <a:rPr lang="zh-TW" altLang="en-US" b="1" dirty="0"/>
              <a:t>共享特徵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9F2606-4460-461E-AF16-B627B10E7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獨立訓練的 </a:t>
            </a:r>
            <a:r>
              <a:rPr lang="en-US" altLang="zh-TW" dirty="0"/>
              <a:t>RPN </a:t>
            </a:r>
            <a:r>
              <a:rPr lang="zh-TW" altLang="en-US" dirty="0"/>
              <a:t>和 </a:t>
            </a:r>
            <a:r>
              <a:rPr lang="en-US" altLang="zh-TW" dirty="0"/>
              <a:t>Fast R-CNN </a:t>
            </a:r>
            <a:r>
              <a:rPr lang="zh-TW" altLang="en-US" dirty="0"/>
              <a:t>將以不同的方式修改卷積層。因此，我們需要開發一種允許在兩個網路之間共享卷積層的技術，而不是學習兩個獨立的網路。我們討論三個方法來訓練具有貢獻特徵的網路：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交替訓練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近似聯合訓練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非近似的聯合訓練</a:t>
            </a:r>
          </a:p>
        </p:txBody>
      </p:sp>
    </p:spTree>
    <p:extLst>
      <p:ext uri="{BB962C8B-B14F-4D97-AF65-F5344CB8AC3E}">
        <p14:creationId xmlns:p14="http://schemas.microsoft.com/office/powerpoint/2010/main" val="31591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EE77CB-75A8-4388-A1FF-162BFD20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58252"/>
            <a:ext cx="9601196" cy="917228"/>
          </a:xfrm>
        </p:spPr>
        <p:txBody>
          <a:bodyPr/>
          <a:lstStyle/>
          <a:p>
            <a:r>
              <a:rPr lang="zh-TW" altLang="en-US" dirty="0"/>
              <a:t>實驗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C7D1208-FBC6-4034-B279-3EC1A1120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11" y="1551964"/>
            <a:ext cx="9103377" cy="388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FBB1577-44FD-4ACB-B061-E9AC522B8940}"/>
              </a:ext>
            </a:extLst>
          </p:cNvPr>
          <p:cNvSpPr/>
          <p:nvPr/>
        </p:nvSpPr>
        <p:spPr>
          <a:xfrm>
            <a:off x="7166999" y="658252"/>
            <a:ext cx="4526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inherit"/>
              </a:rPr>
              <a:t> SS</a:t>
            </a:r>
            <a:r>
              <a:rPr lang="zh-TW" altLang="en-US" dirty="0">
                <a:latin typeface="inherit"/>
              </a:rPr>
              <a:t>表示</a:t>
            </a:r>
            <a:r>
              <a:rPr lang="en-US" altLang="zh-TW" dirty="0">
                <a:latin typeface="inherit"/>
              </a:rPr>
              <a:t>Selective Search </a:t>
            </a:r>
            <a:r>
              <a:rPr lang="zh-TW" altLang="en-US" dirty="0">
                <a:latin typeface="Source Sans Pro" panose="020B0604020202020204" pitchFamily="34" charset="0"/>
              </a:rPr>
              <a:t>，</a:t>
            </a:r>
            <a:r>
              <a:rPr lang="en-US" altLang="zh-TW" dirty="0">
                <a:latin typeface="inherit"/>
              </a:rPr>
              <a:t>EB</a:t>
            </a:r>
            <a:r>
              <a:rPr lang="zh-TW" altLang="en-US" dirty="0">
                <a:latin typeface="inherit"/>
              </a:rPr>
              <a:t>表示</a:t>
            </a:r>
            <a:r>
              <a:rPr lang="en-US" altLang="zh-TW" dirty="0" err="1">
                <a:latin typeface="inherit"/>
              </a:rPr>
              <a:t>EdgeBoxes</a:t>
            </a:r>
            <a:r>
              <a:rPr lang="en-US" altLang="zh-TW" dirty="0">
                <a:latin typeface="inherit"/>
              </a:rPr>
              <a:t> 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A27D5EB-1B96-4F81-A46C-F9D51ABF7CCA}"/>
              </a:ext>
            </a:extLst>
          </p:cNvPr>
          <p:cNvSpPr txBox="1">
            <a:spLocks/>
          </p:cNvSpPr>
          <p:nvPr/>
        </p:nvSpPr>
        <p:spPr>
          <a:xfrm>
            <a:off x="1467456" y="5598467"/>
            <a:ext cx="9601196" cy="11274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zh-TW" altLang="en-US" sz="1600" dirty="0"/>
              <a:t>數 據 集：</a:t>
            </a:r>
            <a:r>
              <a:rPr lang="en-US" altLang="zh-TW" sz="1600" dirty="0"/>
              <a:t>PASCAL VOC 2007</a:t>
            </a:r>
            <a:r>
              <a:rPr lang="zh-TW" altLang="en-US" sz="1600" dirty="0"/>
              <a:t>、</a:t>
            </a:r>
            <a:r>
              <a:rPr lang="en-US" altLang="zh-TW" sz="1600" dirty="0"/>
              <a:t>2012 (</a:t>
            </a:r>
            <a:r>
              <a:rPr lang="zh-TW" altLang="en-US" sz="1600" dirty="0"/>
              <a:t>包含</a:t>
            </a:r>
            <a:r>
              <a:rPr lang="en-US" altLang="zh-TW" sz="1600" dirty="0"/>
              <a:t>5K</a:t>
            </a:r>
            <a:r>
              <a:rPr lang="zh-TW" altLang="en-US" sz="1600" dirty="0"/>
              <a:t>張訓練影象和</a:t>
            </a:r>
            <a:r>
              <a:rPr lang="en-US" altLang="zh-TW" sz="1600" dirty="0"/>
              <a:t>5K</a:t>
            </a:r>
            <a:r>
              <a:rPr lang="zh-TW" altLang="en-US" sz="1600" dirty="0"/>
              <a:t>張測試影象，超過</a:t>
            </a:r>
            <a:r>
              <a:rPr lang="en-US" altLang="zh-TW" sz="1600" dirty="0"/>
              <a:t>20</a:t>
            </a:r>
            <a:r>
              <a:rPr lang="zh-TW" altLang="en-US" sz="1600" dirty="0"/>
              <a:t>個</a:t>
            </a:r>
            <a:r>
              <a:rPr lang="en-US" altLang="zh-TW" sz="1600" dirty="0"/>
              <a:t>object</a:t>
            </a:r>
            <a:r>
              <a:rPr lang="zh-TW" altLang="en-US" sz="1600" dirty="0"/>
              <a:t>種類）</a:t>
            </a:r>
          </a:p>
          <a:p>
            <a:pPr fontAlgn="base"/>
            <a:r>
              <a:rPr lang="zh-TW" altLang="en-US" sz="1600" dirty="0"/>
              <a:t>網  絡：</a:t>
            </a:r>
            <a:r>
              <a:rPr lang="en-US" altLang="zh-TW" sz="1600" dirty="0"/>
              <a:t>ZF net</a:t>
            </a:r>
            <a:r>
              <a:rPr lang="zh-TW" altLang="en-US" sz="1600" dirty="0"/>
              <a:t>的“</a:t>
            </a:r>
            <a:r>
              <a:rPr lang="en-US" altLang="zh-TW" sz="1600" dirty="0"/>
              <a:t>fast"</a:t>
            </a:r>
            <a:r>
              <a:rPr lang="zh-TW" altLang="en-US" sz="1600" dirty="0"/>
              <a:t>版本（</a:t>
            </a:r>
            <a:r>
              <a:rPr lang="en-US" altLang="zh-TW" sz="1600" dirty="0"/>
              <a:t>5</a:t>
            </a:r>
            <a:r>
              <a:rPr lang="zh-TW" altLang="en-US" sz="1600" dirty="0"/>
              <a:t>個卷積層</a:t>
            </a:r>
            <a:r>
              <a:rPr lang="en-US" altLang="zh-TW" sz="1600" dirty="0"/>
              <a:t>+3</a:t>
            </a:r>
            <a:r>
              <a:rPr lang="zh-TW" altLang="en-US" sz="1600" dirty="0"/>
              <a:t>個全連線層） 和  </a:t>
            </a:r>
            <a:r>
              <a:rPr lang="en-US" altLang="zh-TW" sz="1600" dirty="0"/>
              <a:t>VGG-16</a:t>
            </a:r>
            <a:r>
              <a:rPr lang="zh-TW" altLang="en-US" sz="1600" dirty="0"/>
              <a:t>（</a:t>
            </a:r>
            <a:r>
              <a:rPr lang="en-US" altLang="zh-TW" sz="1600" dirty="0"/>
              <a:t>13</a:t>
            </a:r>
            <a:r>
              <a:rPr lang="zh-TW" altLang="en-US" sz="1600" dirty="0"/>
              <a:t>個卷積層</a:t>
            </a:r>
            <a:r>
              <a:rPr lang="en-US" altLang="zh-TW" sz="1600" dirty="0"/>
              <a:t>+3</a:t>
            </a:r>
            <a:r>
              <a:rPr lang="zh-TW" altLang="en-US" sz="1600" dirty="0"/>
              <a:t>個全連線層）</a:t>
            </a:r>
          </a:p>
          <a:p>
            <a:pPr fontAlgn="base"/>
            <a:r>
              <a:rPr lang="zh-TW" altLang="en-US" sz="1600" dirty="0"/>
              <a:t>衡量標準：檢測平均準確率（</a:t>
            </a:r>
            <a:r>
              <a:rPr lang="en-US" altLang="zh-TW" sz="1600" dirty="0"/>
              <a:t>mean Average Precision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mAP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0710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F7BA3-BB7E-4412-B222-F918AD74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64066"/>
            <a:ext cx="9601196" cy="792759"/>
          </a:xfrm>
        </p:spPr>
        <p:txBody>
          <a:bodyPr/>
          <a:lstStyle/>
          <a:p>
            <a:r>
              <a:rPr lang="zh-TW" altLang="en-US" dirty="0"/>
              <a:t>實驗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1FF8DC4-BD81-4135-B700-E0A3EE0735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023539"/>
            <a:ext cx="10896600" cy="1912777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5E515EB-4C8F-4BA6-9C9D-2118AEF46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4445643"/>
            <a:ext cx="10896600" cy="178033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FB9EB10D-44DF-4319-9428-B37EA688A91A}"/>
              </a:ext>
            </a:extLst>
          </p:cNvPr>
          <p:cNvSpPr txBox="1">
            <a:spLocks/>
          </p:cNvSpPr>
          <p:nvPr/>
        </p:nvSpPr>
        <p:spPr>
          <a:xfrm>
            <a:off x="578840" y="1514212"/>
            <a:ext cx="2745579" cy="4676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sz="2400" dirty="0"/>
              <a:t>PASCAL VOC 2007</a:t>
            </a:r>
            <a:endParaRPr lang="zh-TW" altLang="en-US" sz="2400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537E3FA8-B0EF-46A3-8DC6-952DAC02B76B}"/>
              </a:ext>
            </a:extLst>
          </p:cNvPr>
          <p:cNvSpPr txBox="1">
            <a:spLocks/>
          </p:cNvSpPr>
          <p:nvPr/>
        </p:nvSpPr>
        <p:spPr>
          <a:xfrm>
            <a:off x="578840" y="3958713"/>
            <a:ext cx="2745579" cy="4676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sz="2400" dirty="0"/>
              <a:t>PASCAL VOC 2012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95258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F7BA3-BB7E-4412-B222-F918AD74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64066"/>
            <a:ext cx="9601196" cy="792759"/>
          </a:xfrm>
        </p:spPr>
        <p:txBody>
          <a:bodyPr/>
          <a:lstStyle/>
          <a:p>
            <a:r>
              <a:rPr lang="zh-TW" altLang="en-US" dirty="0"/>
              <a:t>實驗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FB9EB10D-44DF-4319-9428-B37EA688A91A}"/>
              </a:ext>
            </a:extLst>
          </p:cNvPr>
          <p:cNvSpPr txBox="1">
            <a:spLocks/>
          </p:cNvSpPr>
          <p:nvPr/>
        </p:nvSpPr>
        <p:spPr>
          <a:xfrm>
            <a:off x="2541863" y="2086217"/>
            <a:ext cx="2745579" cy="4676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驗證</a:t>
            </a:r>
            <a:r>
              <a:rPr lang="en-US" altLang="zh-TW" dirty="0"/>
              <a:t>anchor</a:t>
            </a:r>
            <a:r>
              <a:rPr lang="zh-TW" altLang="en-US" dirty="0"/>
              <a:t>設定的影響</a:t>
            </a:r>
            <a:endParaRPr lang="zh-TW" altLang="en-US" sz="2400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537E3FA8-B0EF-46A3-8DC6-952DAC02B76B}"/>
              </a:ext>
            </a:extLst>
          </p:cNvPr>
          <p:cNvSpPr txBox="1">
            <a:spLocks/>
          </p:cNvSpPr>
          <p:nvPr/>
        </p:nvSpPr>
        <p:spPr>
          <a:xfrm>
            <a:off x="6736359" y="4748170"/>
            <a:ext cx="4040993" cy="50519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1600" dirty="0"/>
              <a:t>驗證</a:t>
            </a:r>
            <a:r>
              <a:rPr lang="en-US" altLang="zh-TW" sz="1600" dirty="0"/>
              <a:t>loss function</a:t>
            </a:r>
            <a:r>
              <a:rPr lang="zh-TW" altLang="en-US" sz="1600" dirty="0"/>
              <a:t>式（</a:t>
            </a:r>
            <a:r>
              <a:rPr lang="en-US" altLang="zh-TW" sz="1600" dirty="0"/>
              <a:t>1</a:t>
            </a:r>
            <a:r>
              <a:rPr lang="zh-TW" altLang="en-US" sz="1600" dirty="0"/>
              <a:t>）中不同</a:t>
            </a:r>
            <a:r>
              <a:rPr lang="en-US" altLang="zh-TW" sz="1600" dirty="0"/>
              <a:t>λ</a:t>
            </a:r>
            <a:r>
              <a:rPr lang="zh-TW" altLang="en-US" sz="1600" dirty="0"/>
              <a:t>值的影響</a:t>
            </a:r>
            <a:endParaRPr lang="zh-TW" altLang="en-US" sz="900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AA38965A-284A-4F69-BF9E-2EC978729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15" y="2553902"/>
            <a:ext cx="6143625" cy="2105025"/>
          </a:xfr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699DF3C-83DE-4AAC-95B3-127B1BB3A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159624"/>
            <a:ext cx="5162931" cy="79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9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BCF1F-69F1-4BE4-9450-46A08B3C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Recall vs. </a:t>
            </a:r>
            <a:r>
              <a:rPr lang="en-US" altLang="zh-TW" dirty="0" err="1"/>
              <a:t>IoU</a:t>
            </a:r>
            <a:r>
              <a:rPr lang="zh-TW" altLang="en-US" dirty="0"/>
              <a:t>重疊率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B0A4808-0157-4149-971D-07798C824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56" y="2557463"/>
            <a:ext cx="9131087" cy="3317875"/>
          </a:xfrm>
        </p:spPr>
      </p:pic>
    </p:spTree>
    <p:extLst>
      <p:ext uri="{BB962C8B-B14F-4D97-AF65-F5344CB8AC3E}">
        <p14:creationId xmlns:p14="http://schemas.microsoft.com/office/powerpoint/2010/main" val="320190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CE1114B-D68C-4ACE-B082-437475E0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zh-TW" altLang="en-US" sz="2800">
                <a:solidFill>
                  <a:srgbClr val="262626"/>
                </a:solidFill>
              </a:rPr>
              <a:t>總結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6CE333-6390-4F02-8F76-92C83C395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77" y="2461998"/>
            <a:ext cx="3704389" cy="3552039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solidFill>
                  <a:srgbClr val="262626"/>
                </a:solidFill>
              </a:rPr>
              <a:t>作者提出了</a:t>
            </a:r>
            <a:r>
              <a:rPr lang="en-US" altLang="zh-TW" sz="1800" dirty="0">
                <a:solidFill>
                  <a:srgbClr val="262626"/>
                </a:solidFill>
              </a:rPr>
              <a:t>RPN</a:t>
            </a:r>
            <a:r>
              <a:rPr lang="zh-TW" altLang="en-US" sz="1800" dirty="0">
                <a:solidFill>
                  <a:srgbClr val="262626"/>
                </a:solidFill>
              </a:rPr>
              <a:t>來生成高效，準確的區域提議。通過與下游檢測網路共享卷積特徵，區域提議步驟幾乎是零成本的。</a:t>
            </a:r>
            <a:endParaRPr lang="en-US" altLang="zh-TW" sz="1800" dirty="0">
              <a:solidFill>
                <a:srgbClr val="262626"/>
              </a:solidFill>
            </a:endParaRPr>
          </a:p>
          <a:p>
            <a:r>
              <a:rPr lang="zh-TW" altLang="en-US" sz="1800" dirty="0">
                <a:solidFill>
                  <a:srgbClr val="262626"/>
                </a:solidFill>
              </a:rPr>
              <a:t>方法是統一的，基於深度學習的目標檢測系統能夠以接近實時的幀率運行。學習到的</a:t>
            </a:r>
            <a:r>
              <a:rPr lang="en-US" altLang="zh-TW" sz="1800" dirty="0">
                <a:solidFill>
                  <a:srgbClr val="262626"/>
                </a:solidFill>
              </a:rPr>
              <a:t>RPN</a:t>
            </a:r>
            <a:r>
              <a:rPr lang="zh-TW" altLang="en-US" sz="1800" dirty="0">
                <a:solidFill>
                  <a:srgbClr val="262626"/>
                </a:solidFill>
              </a:rPr>
              <a:t>也提高了區域提議的品質，從而提高了整體的目標檢測精準度。</a:t>
            </a:r>
            <a:endParaRPr lang="en-US" altLang="zh-TW" sz="1800" dirty="0">
              <a:solidFill>
                <a:srgbClr val="262626"/>
              </a:solidFill>
            </a:endParaRPr>
          </a:p>
          <a:p>
            <a:r>
              <a:rPr lang="zh-TW" altLang="en-US" sz="1800" dirty="0">
                <a:solidFill>
                  <a:srgbClr val="262626"/>
                </a:solidFill>
              </a:rPr>
              <a:t>對於每種圖像，一種顏色代表該圖像中的一個對像類別。</a:t>
            </a:r>
            <a:endParaRPr lang="en-US" sz="1800" dirty="0">
              <a:solidFill>
                <a:srgbClr val="262626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A7FBE05-66B1-4AB4-BF82-8A0E026BC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116" y="0"/>
            <a:ext cx="7075157" cy="69482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39886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F64A2-000F-42D2-B411-136FEBBF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7254DF-C764-446B-B143-28AA5FE2E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Faster R-CNN: Towards Real-Time Object</a:t>
            </a:r>
            <a:r>
              <a:rPr lang="zh-TW" altLang="en-US" dirty="0"/>
              <a:t> </a:t>
            </a:r>
            <a:r>
              <a:rPr lang="en-US" altLang="zh-TW" dirty="0"/>
              <a:t>Detection with Region Proposal Networks</a:t>
            </a:r>
          </a:p>
          <a:p>
            <a:r>
              <a:rPr lang="en-US" altLang="zh-TW" dirty="0"/>
              <a:t>https://codingnote.cc/zh-tw/p/193174/</a:t>
            </a:r>
          </a:p>
          <a:p>
            <a:r>
              <a:rPr lang="en-US" altLang="zh-TW" dirty="0">
                <a:hlinkClick r:id="rId2"/>
              </a:rPr>
              <a:t>https://zhuanlan.zhihu.com/p/31426458</a:t>
            </a:r>
            <a:endParaRPr lang="en-US" altLang="zh-TW" dirty="0"/>
          </a:p>
          <a:p>
            <a:r>
              <a:rPr lang="en-US" altLang="zh-TW" dirty="0"/>
              <a:t>https://www.itread01.com/content/1546423230.html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8927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868</Words>
  <Application>Microsoft Office PowerPoint</Application>
  <PresentationFormat>寬螢幕</PresentationFormat>
  <Paragraphs>68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inherit</vt:lpstr>
      <vt:lpstr>微軟正黑體</vt:lpstr>
      <vt:lpstr>新細明體</vt:lpstr>
      <vt:lpstr>Arial</vt:lpstr>
      <vt:lpstr>Calibri</vt:lpstr>
      <vt:lpstr>Garamond</vt:lpstr>
      <vt:lpstr>Source Sans Pro</vt:lpstr>
      <vt:lpstr>Times New Roman</vt:lpstr>
      <vt:lpstr>有機</vt:lpstr>
      <vt:lpstr>Faster R-CNN:  Towards Real-Time Object Detection  with Region Proposal Networks </vt:lpstr>
      <vt:lpstr>介紹</vt:lpstr>
      <vt:lpstr>處理多尺度的不同機制</vt:lpstr>
      <vt:lpstr>相關工作 – 方法</vt:lpstr>
      <vt:lpstr>Faster-RCNN架構</vt:lpstr>
      <vt:lpstr> Region Proposal Networks(RPN)</vt:lpstr>
      <vt:lpstr>Anchor</vt:lpstr>
      <vt:lpstr>損失函式（Loss function)</vt:lpstr>
      <vt:lpstr>損失函式（Loss function)</vt:lpstr>
      <vt:lpstr>RPN與Fast R-CNN共享特徵</vt:lpstr>
      <vt:lpstr>實驗</vt:lpstr>
      <vt:lpstr>實驗</vt:lpstr>
      <vt:lpstr>實驗</vt:lpstr>
      <vt:lpstr>實驗 - Recall vs. IoU重疊率</vt:lpstr>
      <vt:lpstr>總結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Faster R-CNN:  Towards Real-Time Object Detection  with Region Proposal Networks </dc:title>
  <dc:creator>Amber</dc:creator>
  <cp:lastModifiedBy>Amber</cp:lastModifiedBy>
  <cp:revision>11</cp:revision>
  <dcterms:created xsi:type="dcterms:W3CDTF">2021-02-16T05:39:28Z</dcterms:created>
  <dcterms:modified xsi:type="dcterms:W3CDTF">2021-02-19T08:59:16Z</dcterms:modified>
</cp:coreProperties>
</file>