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sldIdLst>
    <p:sldId id="257" r:id="rId2"/>
    <p:sldId id="266" r:id="rId3"/>
    <p:sldId id="259" r:id="rId4"/>
    <p:sldId id="267" r:id="rId5"/>
    <p:sldId id="268" r:id="rId6"/>
    <p:sldId id="269" r:id="rId7"/>
    <p:sldId id="271" r:id="rId8"/>
    <p:sldId id="270" r:id="rId9"/>
    <p:sldId id="260" r:id="rId10"/>
    <p:sldId id="265" r:id="rId11"/>
    <p:sldId id="261" r:id="rId12"/>
    <p:sldId id="262" r:id="rId13"/>
    <p:sldId id="273" r:id="rId14"/>
    <p:sldId id="274" r:id="rId15"/>
    <p:sldId id="263" r:id="rId16"/>
    <p:sldId id="26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13FB-FFD9-48A2-A875-44C7260AA8A8}" type="datetimeFigureOut">
              <a:rPr lang="zh-TW" altLang="en-US" smtClean="0"/>
              <a:t>2021/2/4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4269-D10C-4A97-BC2F-378DB43BA3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432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13FB-FFD9-48A2-A875-44C7260AA8A8}" type="datetimeFigureOut">
              <a:rPr lang="zh-TW" altLang="en-US" smtClean="0"/>
              <a:t>2021/2/4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4269-D10C-4A97-BC2F-378DB43BA3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5105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13FB-FFD9-48A2-A875-44C7260AA8A8}" type="datetimeFigureOut">
              <a:rPr lang="zh-TW" altLang="en-US" smtClean="0"/>
              <a:t>2021/2/4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4269-D10C-4A97-BC2F-378DB43BA3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8058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13FB-FFD9-48A2-A875-44C7260AA8A8}" type="datetimeFigureOut">
              <a:rPr lang="zh-TW" altLang="en-US" smtClean="0"/>
              <a:t>2021/2/4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4269-D10C-4A97-BC2F-378DB43BA3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472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13FB-FFD9-48A2-A875-44C7260AA8A8}" type="datetimeFigureOut">
              <a:rPr lang="zh-TW" altLang="en-US" smtClean="0"/>
              <a:t>2021/2/4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4269-D10C-4A97-BC2F-378DB43BA3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0165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13FB-FFD9-48A2-A875-44C7260AA8A8}" type="datetimeFigureOut">
              <a:rPr lang="zh-TW" altLang="en-US" smtClean="0"/>
              <a:t>2021/2/4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4269-D10C-4A97-BC2F-378DB43BA3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5528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13FB-FFD9-48A2-A875-44C7260AA8A8}" type="datetimeFigureOut">
              <a:rPr lang="zh-TW" altLang="en-US" smtClean="0"/>
              <a:t>2021/2/4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4269-D10C-4A97-BC2F-378DB43BA3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4427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13FB-FFD9-48A2-A875-44C7260AA8A8}" type="datetimeFigureOut">
              <a:rPr lang="zh-TW" altLang="en-US" smtClean="0"/>
              <a:t>2021/2/4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4269-D10C-4A97-BC2F-378DB43BA3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8426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13FB-FFD9-48A2-A875-44C7260AA8A8}" type="datetimeFigureOut">
              <a:rPr lang="zh-TW" altLang="en-US" smtClean="0"/>
              <a:t>2021/2/4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4269-D10C-4A97-BC2F-378DB43BA3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21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13FB-FFD9-48A2-A875-44C7260AA8A8}" type="datetimeFigureOut">
              <a:rPr lang="zh-TW" altLang="en-US" smtClean="0"/>
              <a:t>2021/2/4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4269-D10C-4A97-BC2F-378DB43BA3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1961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13FB-FFD9-48A2-A875-44C7260AA8A8}" type="datetimeFigureOut">
              <a:rPr lang="zh-TW" altLang="en-US" smtClean="0"/>
              <a:t>2021/2/4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4269-D10C-4A97-BC2F-378DB43BA3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1757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13FB-FFD9-48A2-A875-44C7260AA8A8}" type="datetimeFigureOut">
              <a:rPr lang="zh-TW" altLang="en-US" smtClean="0"/>
              <a:t>2021/2/4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4269-D10C-4A97-BC2F-378DB43BA34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6564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13FB-FFD9-48A2-A875-44C7260AA8A8}" type="datetimeFigureOut">
              <a:rPr lang="zh-TW" altLang="en-US" smtClean="0"/>
              <a:t>2021/2/4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4269-D10C-4A97-BC2F-378DB43BA3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36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13FB-FFD9-48A2-A875-44C7260AA8A8}" type="datetimeFigureOut">
              <a:rPr lang="zh-TW" altLang="en-US" smtClean="0"/>
              <a:t>2021/2/4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4269-D10C-4A97-BC2F-378DB43BA3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1984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13FB-FFD9-48A2-A875-44C7260AA8A8}" type="datetimeFigureOut">
              <a:rPr lang="zh-TW" altLang="en-US" smtClean="0"/>
              <a:t>2021/2/4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4269-D10C-4A97-BC2F-378DB43BA3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29407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13FB-FFD9-48A2-A875-44C7260AA8A8}" type="datetimeFigureOut">
              <a:rPr lang="zh-TW" altLang="en-US" smtClean="0"/>
              <a:t>2021/2/4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4269-D10C-4A97-BC2F-378DB43BA3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3283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13FB-FFD9-48A2-A875-44C7260AA8A8}" type="datetimeFigureOut">
              <a:rPr lang="zh-TW" altLang="en-US" smtClean="0"/>
              <a:t>2021/2/4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4269-D10C-4A97-BC2F-378DB43BA3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9491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13FB-FFD9-48A2-A875-44C7260AA8A8}" type="datetimeFigureOut">
              <a:rPr lang="zh-TW" altLang="en-US" smtClean="0"/>
              <a:t>2021/2/4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4269-D10C-4A97-BC2F-378DB43BA3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1521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A1A13FB-FFD9-48A2-A875-44C7260AA8A8}" type="datetimeFigureOut">
              <a:rPr lang="zh-TW" altLang="en-US" smtClean="0"/>
              <a:t>2021/2/4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AE34269-D10C-4A97-BC2F-378DB43BA3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03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  <p:sldLayoutId id="2147483783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0.gif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4.png"/><Relationship Id="rId4" Type="http://schemas.openxmlformats.org/officeDocument/2006/relationships/image" Target="../media/image2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gWDIIOHtPA&amp;ab_channel=Hung-yiLee" TargetMode="External"/><Relationship Id="rId2" Type="http://schemas.openxmlformats.org/officeDocument/2006/relationships/hyperlink" Target="https://zhuanlan.zhihu.com/p/51631163" TargetMode="Externa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F3D718-7348-43C3-AEE6-2E8693189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DETR</a:t>
            </a:r>
            <a:r>
              <a:rPr lang="zh-TW" altLang="en-US" dirty="0"/>
              <a:t> </a:t>
            </a:r>
            <a:r>
              <a:rPr lang="en-US" altLang="zh-TW" dirty="0"/>
              <a:t>Model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A39285-3F56-4F13-97D6-19C7480AE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在偵測中直接做集合預測有兩個非常重要的關鍵 </a:t>
            </a:r>
            <a:r>
              <a:rPr lang="en-US" altLang="zh-TW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集合預測損失必須強制將預測框與真實框進行唯一匹配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整個架構必須要預測 </a:t>
            </a:r>
            <a:r>
              <a:rPr lang="en-US" altLang="zh-TW" dirty="0"/>
              <a:t>(</a:t>
            </a:r>
            <a:r>
              <a:rPr lang="zh-TW" altLang="en-US" dirty="0"/>
              <a:t>一次預測</a:t>
            </a:r>
            <a:r>
              <a:rPr lang="en-US" altLang="zh-TW" dirty="0"/>
              <a:t>) </a:t>
            </a:r>
            <a:r>
              <a:rPr lang="zh-TW" altLang="en-US" dirty="0"/>
              <a:t>物件集合並且對其關係進行建模</a:t>
            </a:r>
          </a:p>
        </p:txBody>
      </p:sp>
    </p:spTree>
    <p:extLst>
      <p:ext uri="{BB962C8B-B14F-4D97-AF65-F5344CB8AC3E}">
        <p14:creationId xmlns:p14="http://schemas.microsoft.com/office/powerpoint/2010/main" val="2938727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D2CA358-2EA6-49C2-AAEF-0C79C1F76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AAD74829-8970-4A28-B5F6-387E0E313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8A21074-B76F-49E5-8E56-B20E9C0D10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863" y="3254018"/>
            <a:ext cx="5519846" cy="2868303"/>
          </a:xfrm>
          <a:prstGeom prst="rect">
            <a:avLst/>
          </a:prstGeom>
        </p:spPr>
      </p:pic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BC9F6CB-E56B-4D83-87B6-359445120B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60" y="3257859"/>
            <a:ext cx="5907389" cy="2894621"/>
          </a:xfrm>
          <a:prstGeom prst="rect">
            <a:avLst/>
          </a:prstGeom>
        </p:spPr>
      </p:pic>
      <p:pic>
        <p:nvPicPr>
          <p:cNvPr id="27" name="Picture 17">
            <a:extLst>
              <a:ext uri="{FF2B5EF4-FFF2-40B4-BE49-F238E27FC236}">
                <a16:creationId xmlns:a16="http://schemas.microsoft.com/office/drawing/2014/main" id="{D976ACB9-C2D4-45C2-924A-2CF7CFF5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"/>
            <a:ext cx="12192000" cy="6858000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BAB2083-C1A6-4D98-98A1-61D6A00C0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107" y="1205664"/>
            <a:ext cx="10675781" cy="1864708"/>
          </a:xfrm>
        </p:spPr>
        <p:txBody>
          <a:bodyPr>
            <a:normAutofit/>
          </a:bodyPr>
          <a:lstStyle/>
          <a:p>
            <a:r>
              <a:rPr lang="zh-TW" altLang="en-US" dirty="0"/>
              <a:t>「二分圖」是圖的一種特例。</a:t>
            </a:r>
            <a:endParaRPr lang="en-US" altLang="zh-TW" dirty="0"/>
          </a:p>
          <a:p>
            <a:r>
              <a:rPr lang="zh-TW" altLang="en-US" dirty="0"/>
              <a:t>一張二分圖的結構是：兩群點（通常標記作 </a:t>
            </a:r>
            <a:r>
              <a:rPr lang="en-US" altLang="zh-TW" dirty="0"/>
              <a:t>X </a:t>
            </a:r>
            <a:r>
              <a:rPr lang="zh-TW" altLang="en-US" dirty="0"/>
              <a:t>集合與 </a:t>
            </a:r>
            <a:r>
              <a:rPr lang="en-US" altLang="zh-TW" dirty="0"/>
              <a:t>Y </a:t>
            </a:r>
            <a:r>
              <a:rPr lang="zh-TW" altLang="en-US" dirty="0"/>
              <a:t>集合）、橫跨這兩群點的邊（ </a:t>
            </a:r>
            <a:r>
              <a:rPr lang="en-US" altLang="zh-TW" dirty="0"/>
              <a:t>X </a:t>
            </a:r>
            <a:r>
              <a:rPr lang="zh-TW" altLang="en-US" dirty="0"/>
              <a:t>與 </a:t>
            </a:r>
            <a:r>
              <a:rPr lang="en-US" altLang="zh-TW" dirty="0"/>
              <a:t>Y </a:t>
            </a:r>
            <a:r>
              <a:rPr lang="zh-TW" altLang="en-US" dirty="0"/>
              <a:t>之間）。至於兩群點各自之內是沒有邊的（ </a:t>
            </a:r>
            <a:r>
              <a:rPr lang="en-US" altLang="zh-TW" dirty="0"/>
              <a:t>X </a:t>
            </a:r>
            <a:r>
              <a:rPr lang="zh-TW" altLang="en-US" dirty="0"/>
              <a:t>與 </a:t>
            </a:r>
            <a:r>
              <a:rPr lang="en-US" altLang="zh-TW" dirty="0"/>
              <a:t>X </a:t>
            </a:r>
            <a:r>
              <a:rPr lang="zh-TW" altLang="en-US" dirty="0"/>
              <a:t>、 </a:t>
            </a:r>
            <a:r>
              <a:rPr lang="en-US" altLang="zh-TW" dirty="0"/>
              <a:t>Y </a:t>
            </a:r>
            <a:r>
              <a:rPr lang="zh-TW" altLang="en-US" dirty="0"/>
              <a:t>與 </a:t>
            </a:r>
            <a:r>
              <a:rPr lang="en-US" altLang="zh-TW" dirty="0"/>
              <a:t>Y </a:t>
            </a:r>
            <a:r>
              <a:rPr lang="zh-TW" altLang="en-US" dirty="0"/>
              <a:t>間）。</a:t>
            </a:r>
            <a:endParaRPr lang="en-US" altLang="zh-TW" dirty="0"/>
          </a:p>
          <a:p>
            <a:r>
              <a:rPr lang="zh-TW" altLang="en-US" dirty="0"/>
              <a:t>最大匹配、最優匹配</a:t>
            </a:r>
            <a:r>
              <a:rPr lang="en-US" altLang="zh-TW" dirty="0"/>
              <a:t>…</a:t>
            </a:r>
            <a:r>
              <a:rPr lang="zh-TW" altLang="en-US" dirty="0"/>
              <a:t>等。</a:t>
            </a:r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A3934CA-868F-41F6-B71B-EA07E131C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8" y="252211"/>
            <a:ext cx="6480272" cy="1173124"/>
          </a:xfrm>
        </p:spPr>
        <p:txBody>
          <a:bodyPr>
            <a:normAutofit/>
          </a:bodyPr>
          <a:lstStyle/>
          <a:p>
            <a:r>
              <a:rPr lang="en-US" altLang="zh-TW" dirty="0"/>
              <a:t> Bipartite Graph(</a:t>
            </a:r>
            <a:r>
              <a:rPr lang="zh-TW" altLang="en-US" dirty="0"/>
              <a:t>二分圖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61362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F3D718-7348-43C3-AEE6-2E869318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345346"/>
            <a:ext cx="10364451" cy="721454"/>
          </a:xfrm>
        </p:spPr>
        <p:txBody>
          <a:bodyPr/>
          <a:lstStyle/>
          <a:p>
            <a:pPr latinLnBrk="1"/>
            <a:r>
              <a:rPr lang="en-US" altLang="zh-TW" b="1" dirty="0"/>
              <a:t>Hungarian Algorithm(</a:t>
            </a:r>
            <a:r>
              <a:rPr lang="zh-TW" altLang="en-US" b="1" dirty="0"/>
              <a:t>匈牙利算法</a:t>
            </a:r>
            <a:r>
              <a:rPr lang="en-US" altLang="zh-TW" b="1" dirty="0"/>
              <a:t>)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A39285-3F56-4F13-97D6-19C7480AE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2" y="1066800"/>
            <a:ext cx="10364452" cy="5359167"/>
          </a:xfrm>
        </p:spPr>
        <p:txBody>
          <a:bodyPr/>
          <a:lstStyle/>
          <a:p>
            <a:r>
              <a:rPr lang="zh-TW" altLang="en-US" dirty="0"/>
              <a:t>介紹 </a:t>
            </a:r>
            <a:r>
              <a:rPr lang="en-US" altLang="zh-TW" dirty="0"/>
              <a:t>: </a:t>
            </a:r>
            <a:r>
              <a:rPr lang="zh-CN" altLang="en-US" dirty="0"/>
              <a:t>一種在多項式時間</a:t>
            </a:r>
            <a:r>
              <a:rPr lang="en-US" altLang="zh-CN" dirty="0"/>
              <a:t>(</a:t>
            </a:r>
            <a:r>
              <a:rPr lang="zh-TW" altLang="en-US" dirty="0"/>
              <a:t>時間複雜度</a:t>
            </a:r>
            <a:r>
              <a:rPr lang="en-US" altLang="zh-TW" dirty="0"/>
              <a:t>o(N3)</a:t>
            </a:r>
            <a:r>
              <a:rPr lang="en-US" altLang="zh-CN" dirty="0"/>
              <a:t>)</a:t>
            </a:r>
            <a:r>
              <a:rPr lang="zh-TW" altLang="en-US" dirty="0"/>
              <a:t>，</a:t>
            </a:r>
            <a:r>
              <a:rPr lang="zh-CN" altLang="en-US" dirty="0"/>
              <a:t>求解任務分配問題的組合優化演算法</a:t>
            </a:r>
            <a:endParaRPr lang="en-US" altLang="zh-CN" dirty="0"/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A4889C8-02A4-447D-84D4-99A971CF6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89" y="1798738"/>
            <a:ext cx="5076825" cy="401002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2AC43F7-06FE-4F7D-AF05-0878BCC88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597" y="1798738"/>
            <a:ext cx="5000625" cy="3992462"/>
          </a:xfrm>
          <a:prstGeom prst="rect">
            <a:avLst/>
          </a:prstGeom>
        </p:spPr>
      </p:pic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3ACBFC55-93C8-4A91-829C-19A9A7051E80}"/>
              </a:ext>
            </a:extLst>
          </p:cNvPr>
          <p:cNvSpPr txBox="1">
            <a:spLocks/>
          </p:cNvSpPr>
          <p:nvPr/>
        </p:nvSpPr>
        <p:spPr>
          <a:xfrm>
            <a:off x="326542" y="6425966"/>
            <a:ext cx="10364452" cy="432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dirty="0"/>
              <a:t>來源 </a:t>
            </a:r>
            <a:r>
              <a:rPr lang="en-US" altLang="zh-TW" sz="1600" dirty="0"/>
              <a:t>:</a:t>
            </a:r>
            <a:r>
              <a:rPr lang="zh-TW" altLang="en-US" sz="1600" dirty="0"/>
              <a:t> </a:t>
            </a:r>
            <a:r>
              <a:rPr lang="en-US" altLang="zh-TW" sz="1600" dirty="0"/>
              <a:t>https://blog.csdn.net/u014754127/article/details/78086014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1684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DD90DC-CC55-4589-9224-C3E1CF108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7864" y="131819"/>
            <a:ext cx="3301380" cy="740500"/>
          </a:xfrm>
        </p:spPr>
        <p:txBody>
          <a:bodyPr/>
          <a:lstStyle/>
          <a:p>
            <a:r>
              <a:rPr lang="zh-TW" altLang="en-US" dirty="0"/>
              <a:t>計算步驟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3187A9F-4418-4BE9-9C30-C4CF4BD6F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73" y="1219768"/>
            <a:ext cx="4539071" cy="11827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275ABC5-6F49-4201-A540-0B4FA0F6D8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73" y="2922382"/>
            <a:ext cx="4658209" cy="12505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3962931-A69A-47FD-97B6-952BBE381E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454" y="4971230"/>
            <a:ext cx="5072375" cy="14044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D9CD924-95CC-41BA-A16D-D45D91A16F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72" y="4920922"/>
            <a:ext cx="2750202" cy="14547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6FA409B-E751-418D-AD26-B8373F0F33FF}"/>
              </a:ext>
            </a:extLst>
          </p:cNvPr>
          <p:cNvSpPr/>
          <p:nvPr/>
        </p:nvSpPr>
        <p:spPr>
          <a:xfrm>
            <a:off x="913773" y="629174"/>
            <a:ext cx="2953552" cy="45334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第一步：</a:t>
            </a:r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Row reduction</a:t>
            </a:r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altLang="zh-TW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BECA04-1714-48A9-A61E-B97AE99FFC33}"/>
              </a:ext>
            </a:extLst>
          </p:cNvPr>
          <p:cNvSpPr/>
          <p:nvPr/>
        </p:nvSpPr>
        <p:spPr>
          <a:xfrm>
            <a:off x="913772" y="2401041"/>
            <a:ext cx="3221999" cy="45334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第二步：</a:t>
            </a:r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Column reduction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77C379-141D-4C90-92B5-7AEAC980D817}"/>
              </a:ext>
            </a:extLst>
          </p:cNvPr>
          <p:cNvSpPr/>
          <p:nvPr/>
        </p:nvSpPr>
        <p:spPr>
          <a:xfrm>
            <a:off x="880215" y="4308148"/>
            <a:ext cx="4606185" cy="45334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第三步：</a:t>
            </a:r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Test for an optimal assignment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9140E9-1FC2-4370-977C-7C2B37641882}"/>
              </a:ext>
            </a:extLst>
          </p:cNvPr>
          <p:cNvSpPr/>
          <p:nvPr/>
        </p:nvSpPr>
        <p:spPr>
          <a:xfrm>
            <a:off x="6555899" y="1574989"/>
            <a:ext cx="4606185" cy="45334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第四步：</a:t>
            </a:r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Shift zeros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D00A5C-0F3D-4566-83EC-CE2BDFA084B8}"/>
              </a:ext>
            </a:extLst>
          </p:cNvPr>
          <p:cNvSpPr/>
          <p:nvPr/>
        </p:nvSpPr>
        <p:spPr>
          <a:xfrm>
            <a:off x="6555900" y="4308148"/>
            <a:ext cx="4606185" cy="45334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第五步：</a:t>
            </a:r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Making the final assignment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59E02F-9301-4279-AC1D-E6A2FFB9689A}"/>
              </a:ext>
            </a:extLst>
          </p:cNvPr>
          <p:cNvSpPr/>
          <p:nvPr/>
        </p:nvSpPr>
        <p:spPr>
          <a:xfrm>
            <a:off x="6555900" y="1906530"/>
            <a:ext cx="3880005" cy="1367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當第三步驟，涵蓋</a:t>
            </a:r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的最少直線數量小於該矩陣維度時</a:t>
            </a:r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直線數量 </a:t>
            </a:r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</a:t>
            </a:r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TW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，才會使用移轉。</a:t>
            </a:r>
            <a:endParaRPr lang="en-US" altLang="zh-TW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DF40D5-2EA3-4653-8742-2352FC5B07F4}"/>
              </a:ext>
            </a:extLst>
          </p:cNvPr>
          <p:cNvSpPr/>
          <p:nvPr/>
        </p:nvSpPr>
        <p:spPr>
          <a:xfrm>
            <a:off x="3663974" y="5153094"/>
            <a:ext cx="2359321" cy="925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最少直線數量</a:t>
            </a:r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=3 =</a:t>
            </a:r>
            <a:r>
              <a:rPr lang="en-US" altLang="zh-TW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endParaRPr lang="en-US" altLang="zh-TW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2208FEF-F4B2-4CC1-B1AC-D9CD7DF472C5}"/>
              </a:ext>
            </a:extLst>
          </p:cNvPr>
          <p:cNvSpPr/>
          <p:nvPr/>
        </p:nvSpPr>
        <p:spPr>
          <a:xfrm>
            <a:off x="3948559" y="839093"/>
            <a:ext cx="1623423" cy="4202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3*3</a:t>
            </a:r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矩陣</a:t>
            </a:r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,n=3</a:t>
            </a:r>
          </a:p>
        </p:txBody>
      </p:sp>
      <p:sp>
        <p:nvSpPr>
          <p:cNvPr id="16" name="內容版面配置區 2">
            <a:extLst>
              <a:ext uri="{FF2B5EF4-FFF2-40B4-BE49-F238E27FC236}">
                <a16:creationId xmlns:a16="http://schemas.microsoft.com/office/drawing/2014/main" id="{CA75D157-417A-4423-B4EA-5984185164C5}"/>
              </a:ext>
            </a:extLst>
          </p:cNvPr>
          <p:cNvSpPr txBox="1">
            <a:spLocks/>
          </p:cNvSpPr>
          <p:nvPr/>
        </p:nvSpPr>
        <p:spPr>
          <a:xfrm>
            <a:off x="304174" y="6361174"/>
            <a:ext cx="10364452" cy="592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dirty="0"/>
              <a:t>來源 </a:t>
            </a:r>
            <a:r>
              <a:rPr lang="en-US" altLang="zh-TW" sz="1600" dirty="0"/>
              <a:t>:</a:t>
            </a:r>
            <a:r>
              <a:rPr lang="zh-TW" altLang="en-US" sz="1600" dirty="0"/>
              <a:t> </a:t>
            </a:r>
            <a:r>
              <a:rPr lang="en-US" altLang="zh-TW" sz="1600" dirty="0"/>
              <a:t>https://blog.csdn.net/u014754127/article/details/78086014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91607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DD90DC-CC55-4589-9224-C3E1CF108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7864" y="131819"/>
            <a:ext cx="3301380" cy="740500"/>
          </a:xfrm>
        </p:spPr>
        <p:txBody>
          <a:bodyPr/>
          <a:lstStyle/>
          <a:p>
            <a:r>
              <a:rPr lang="zh-TW" altLang="en-US" dirty="0"/>
              <a:t>計算步驟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FA409B-E751-418D-AD26-B8373F0F33FF}"/>
              </a:ext>
            </a:extLst>
          </p:cNvPr>
          <p:cNvSpPr/>
          <p:nvPr/>
        </p:nvSpPr>
        <p:spPr>
          <a:xfrm>
            <a:off x="913773" y="629174"/>
            <a:ext cx="2953552" cy="45334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第一步：</a:t>
            </a:r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Row reduction</a:t>
            </a:r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altLang="zh-TW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BECA04-1714-48A9-A61E-B97AE99FFC33}"/>
              </a:ext>
            </a:extLst>
          </p:cNvPr>
          <p:cNvSpPr/>
          <p:nvPr/>
        </p:nvSpPr>
        <p:spPr>
          <a:xfrm>
            <a:off x="913772" y="2401041"/>
            <a:ext cx="3221999" cy="45334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第二步：</a:t>
            </a:r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Column reduction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77C379-141D-4C90-92B5-7AEAC980D817}"/>
              </a:ext>
            </a:extLst>
          </p:cNvPr>
          <p:cNvSpPr/>
          <p:nvPr/>
        </p:nvSpPr>
        <p:spPr>
          <a:xfrm>
            <a:off x="880215" y="4308148"/>
            <a:ext cx="4606185" cy="45334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第三步：</a:t>
            </a:r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Test for an optimal assignment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9140E9-1FC2-4370-977C-7C2B37641882}"/>
              </a:ext>
            </a:extLst>
          </p:cNvPr>
          <p:cNvSpPr/>
          <p:nvPr/>
        </p:nvSpPr>
        <p:spPr>
          <a:xfrm>
            <a:off x="6396508" y="882740"/>
            <a:ext cx="4606185" cy="45334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第四步：</a:t>
            </a:r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Shift zeros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D00A5C-0F3D-4566-83EC-CE2BDFA084B8}"/>
              </a:ext>
            </a:extLst>
          </p:cNvPr>
          <p:cNvSpPr/>
          <p:nvPr/>
        </p:nvSpPr>
        <p:spPr>
          <a:xfrm>
            <a:off x="6555900" y="4308148"/>
            <a:ext cx="4606185" cy="45334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第五步：</a:t>
            </a:r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Making the final assignment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DF40D5-2EA3-4653-8742-2352FC5B07F4}"/>
              </a:ext>
            </a:extLst>
          </p:cNvPr>
          <p:cNvSpPr/>
          <p:nvPr/>
        </p:nvSpPr>
        <p:spPr>
          <a:xfrm>
            <a:off x="3233687" y="4919424"/>
            <a:ext cx="2359321" cy="925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最少直線數量</a:t>
            </a:r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=2 &lt; </a:t>
            </a:r>
            <a:r>
              <a:rPr lang="en-US" altLang="zh-TW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endParaRPr lang="en-US" altLang="zh-TW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2208FEF-F4B2-4CC1-B1AC-D9CD7DF472C5}"/>
              </a:ext>
            </a:extLst>
          </p:cNvPr>
          <p:cNvSpPr/>
          <p:nvPr/>
        </p:nvSpPr>
        <p:spPr>
          <a:xfrm>
            <a:off x="3948559" y="839093"/>
            <a:ext cx="1623423" cy="4202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3*3</a:t>
            </a:r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矩陣</a:t>
            </a:r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,n=3</a:t>
            </a:r>
          </a:p>
        </p:txBody>
      </p:sp>
      <p:sp>
        <p:nvSpPr>
          <p:cNvPr id="16" name="內容版面配置區 2">
            <a:extLst>
              <a:ext uri="{FF2B5EF4-FFF2-40B4-BE49-F238E27FC236}">
                <a16:creationId xmlns:a16="http://schemas.microsoft.com/office/drawing/2014/main" id="{CA75D157-417A-4423-B4EA-5984185164C5}"/>
              </a:ext>
            </a:extLst>
          </p:cNvPr>
          <p:cNvSpPr txBox="1">
            <a:spLocks/>
          </p:cNvSpPr>
          <p:nvPr/>
        </p:nvSpPr>
        <p:spPr>
          <a:xfrm>
            <a:off x="304174" y="6361174"/>
            <a:ext cx="10364452" cy="592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dirty="0"/>
              <a:t>來源 </a:t>
            </a:r>
            <a:r>
              <a:rPr lang="en-US" altLang="zh-TW" sz="1600" dirty="0"/>
              <a:t>:</a:t>
            </a:r>
            <a:r>
              <a:rPr lang="zh-TW" altLang="en-US" sz="1600" dirty="0"/>
              <a:t> </a:t>
            </a:r>
            <a:r>
              <a:rPr lang="en-US" altLang="zh-TW" sz="1600" dirty="0"/>
              <a:t>https://blog.csdn.net/u014754127/article/details/78086014</a:t>
            </a:r>
            <a:endParaRPr lang="zh-TW" altLang="en-US" sz="1600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F638E9FC-0365-4B5D-98B1-A3F0C63FBF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15" y="1129077"/>
            <a:ext cx="4219575" cy="12001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E86E01E5-76A5-4E23-B5A0-784C5FC5B4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72" y="2967701"/>
            <a:ext cx="4238625" cy="11715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C0FF6E49-F6AA-4C16-B29C-AD7CFC0316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725" y="4856055"/>
            <a:ext cx="2114655" cy="1359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F7FBBC85-A9D7-42B7-B05C-59B1FE9E98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508" y="1520462"/>
            <a:ext cx="2311264" cy="11798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E635745B-FDAF-4924-A22D-1342ADB2CB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861" y="2700284"/>
            <a:ext cx="2407911" cy="14001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85DBB7AD-051E-49E4-9CF1-B5B81AFAB8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900" y="4969181"/>
            <a:ext cx="2495550" cy="13049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AAA94B28-8850-47D2-95DF-A1A94DCE8306}"/>
              </a:ext>
            </a:extLst>
          </p:cNvPr>
          <p:cNvSpPr/>
          <p:nvPr/>
        </p:nvSpPr>
        <p:spPr>
          <a:xfrm>
            <a:off x="1167740" y="5692366"/>
            <a:ext cx="1103055" cy="4217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EEAC618-E971-4E90-90F5-95990D425EFF}"/>
              </a:ext>
            </a:extLst>
          </p:cNvPr>
          <p:cNvSpPr/>
          <p:nvPr/>
        </p:nvSpPr>
        <p:spPr>
          <a:xfrm>
            <a:off x="8935569" y="2973660"/>
            <a:ext cx="2359321" cy="925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最少直線數量</a:t>
            </a:r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=3 = </a:t>
            </a:r>
            <a:r>
              <a:rPr lang="en-US" altLang="zh-TW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endParaRPr lang="en-US" altLang="zh-TW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E78B1C9-9551-42F7-8B54-EA4B9E994763}"/>
              </a:ext>
            </a:extLst>
          </p:cNvPr>
          <p:cNvSpPr/>
          <p:nvPr/>
        </p:nvSpPr>
        <p:spPr>
          <a:xfrm>
            <a:off x="9058622" y="5112883"/>
            <a:ext cx="2359321" cy="925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(10,15,20)</a:t>
            </a:r>
          </a:p>
          <a:p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(10,10,25)</a:t>
            </a:r>
          </a:p>
        </p:txBody>
      </p:sp>
    </p:spTree>
    <p:extLst>
      <p:ext uri="{BB962C8B-B14F-4D97-AF65-F5344CB8AC3E}">
        <p14:creationId xmlns:p14="http://schemas.microsoft.com/office/powerpoint/2010/main" val="1134604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群組 36">
            <a:extLst>
              <a:ext uri="{FF2B5EF4-FFF2-40B4-BE49-F238E27FC236}">
                <a16:creationId xmlns:a16="http://schemas.microsoft.com/office/drawing/2014/main" id="{BF14B31A-47F8-4C96-8896-D9F4386701CD}"/>
              </a:ext>
            </a:extLst>
          </p:cNvPr>
          <p:cNvGrpSpPr/>
          <p:nvPr/>
        </p:nvGrpSpPr>
        <p:grpSpPr>
          <a:xfrm>
            <a:off x="2356513" y="182988"/>
            <a:ext cx="8459227" cy="6211165"/>
            <a:chOff x="2356513" y="182988"/>
            <a:chExt cx="8459227" cy="6211165"/>
          </a:xfrm>
        </p:grpSpPr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23661296-AF22-4D38-9CAD-D28283FD94FC}"/>
                </a:ext>
              </a:extLst>
            </p:cNvPr>
            <p:cNvSpPr/>
            <p:nvPr/>
          </p:nvSpPr>
          <p:spPr>
            <a:xfrm>
              <a:off x="4505698" y="182988"/>
              <a:ext cx="1100133" cy="61725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>
                  <a:solidFill>
                    <a:schemeClr val="bg1"/>
                  </a:solidFill>
                </a:rPr>
                <a:t>開始</a:t>
              </a:r>
            </a:p>
          </p:txBody>
        </p:sp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9D5D61EE-7272-4B91-86A0-619E9991D922}"/>
                </a:ext>
              </a:extLst>
            </p:cNvPr>
            <p:cNvSpPr/>
            <p:nvPr/>
          </p:nvSpPr>
          <p:spPr>
            <a:xfrm>
              <a:off x="3220239" y="1002349"/>
              <a:ext cx="3694241" cy="489728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</a:rPr>
                <a:t>1.Row reduction</a:t>
              </a:r>
              <a:endParaRPr lang="zh-TW" alt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1C00C892-157B-46DB-B41A-E4D80E70C517}"/>
                </a:ext>
              </a:extLst>
            </p:cNvPr>
            <p:cNvSpPr/>
            <p:nvPr/>
          </p:nvSpPr>
          <p:spPr>
            <a:xfrm>
              <a:off x="3208643" y="1786403"/>
              <a:ext cx="3694241" cy="489727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</a:rPr>
                <a:t>2.Column reduction</a:t>
              </a:r>
              <a:endParaRPr lang="zh-TW" alt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8" name="菱形 7">
              <a:extLst>
                <a:ext uri="{FF2B5EF4-FFF2-40B4-BE49-F238E27FC236}">
                  <a16:creationId xmlns:a16="http://schemas.microsoft.com/office/drawing/2014/main" id="{BAA31460-BE71-4F3C-A9DF-01B7B4AE3DEB}"/>
                </a:ext>
              </a:extLst>
            </p:cNvPr>
            <p:cNvSpPr/>
            <p:nvPr/>
          </p:nvSpPr>
          <p:spPr>
            <a:xfrm>
              <a:off x="3102752" y="2631668"/>
              <a:ext cx="3929212" cy="2015051"/>
            </a:xfrm>
            <a:prstGeom prst="diamond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dirty="0">
                  <a:ln w="0"/>
                  <a:solidFill>
                    <a:schemeClr val="bg1"/>
                  </a:solidFill>
                </a:rPr>
                <a:t>3.Test for an optimal assignment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40290104-19B8-46CC-BFD1-4091DBDCDB39}"/>
                </a:ext>
              </a:extLst>
            </p:cNvPr>
            <p:cNvSpPr/>
            <p:nvPr/>
          </p:nvSpPr>
          <p:spPr>
            <a:xfrm>
              <a:off x="7504000" y="3343517"/>
              <a:ext cx="3311740" cy="59135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</a:rPr>
                <a:t>4.Shift zeros</a:t>
              </a:r>
              <a:endParaRPr lang="zh-TW" alt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F07E6832-B19A-4B40-9547-E7F5860750D7}"/>
                </a:ext>
              </a:extLst>
            </p:cNvPr>
            <p:cNvSpPr/>
            <p:nvPr/>
          </p:nvSpPr>
          <p:spPr>
            <a:xfrm>
              <a:off x="2356513" y="5045379"/>
              <a:ext cx="5398499" cy="50189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</a:rPr>
                <a:t>5.Making the final assignment</a:t>
              </a:r>
              <a:endParaRPr lang="zh-TW" alt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4D729768-3232-4C56-9A90-C7E77058B50D}"/>
                </a:ext>
              </a:extLst>
            </p:cNvPr>
            <p:cNvSpPr/>
            <p:nvPr/>
          </p:nvSpPr>
          <p:spPr>
            <a:xfrm>
              <a:off x="4592385" y="5776900"/>
              <a:ext cx="1100133" cy="61725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>
                  <a:solidFill>
                    <a:schemeClr val="bg1"/>
                  </a:solidFill>
                </a:rPr>
                <a:t>結束</a:t>
              </a:r>
            </a:p>
          </p:txBody>
        </p: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4C5C53E2-92C3-4684-A437-83B42870C082}"/>
                </a:ext>
              </a:extLst>
            </p:cNvPr>
            <p:cNvCxnSpPr>
              <a:stCxn id="4" idx="2"/>
            </p:cNvCxnSpPr>
            <p:nvPr/>
          </p:nvCxnSpPr>
          <p:spPr>
            <a:xfrm flipH="1">
              <a:off x="5055763" y="800241"/>
              <a:ext cx="2" cy="2021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AE77529A-D9FF-4D01-AB4B-DF1A9D2C6F01}"/>
                </a:ext>
              </a:extLst>
            </p:cNvPr>
            <p:cNvCxnSpPr>
              <a:cxnSpLocks/>
            </p:cNvCxnSpPr>
            <p:nvPr/>
          </p:nvCxnSpPr>
          <p:spPr>
            <a:xfrm>
              <a:off x="5055763" y="1506115"/>
              <a:ext cx="12005" cy="2821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5E0856C0-1112-4FEF-A5DB-7D9EEC465CC7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5061356" y="2241225"/>
              <a:ext cx="6002" cy="3904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487D9C43-4442-4C69-9B95-83413C9E1140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5067358" y="4646719"/>
              <a:ext cx="12410" cy="3838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59CDA9E2-9713-4C3E-A448-8089DD64689D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9159870" y="2391474"/>
              <a:ext cx="0" cy="9520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4CCB5DD6-FF44-4D5C-A535-E879BA3701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7358" y="2391474"/>
              <a:ext cx="408773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2876D077-C566-4A44-88CF-B004ADA4D946}"/>
                </a:ext>
              </a:extLst>
            </p:cNvPr>
            <p:cNvCxnSpPr>
              <a:cxnSpLocks/>
            </p:cNvCxnSpPr>
            <p:nvPr/>
          </p:nvCxnSpPr>
          <p:spPr>
            <a:xfrm>
              <a:off x="5073563" y="5482760"/>
              <a:ext cx="12005" cy="2821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66C2847E-6FCB-42C7-A180-780E719AD6FC}"/>
                </a:ext>
              </a:extLst>
            </p:cNvPr>
            <p:cNvCxnSpPr>
              <a:cxnSpLocks/>
            </p:cNvCxnSpPr>
            <p:nvPr/>
          </p:nvCxnSpPr>
          <p:spPr>
            <a:xfrm>
              <a:off x="6914480" y="3639193"/>
              <a:ext cx="5895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A6239FF-2D41-434C-B1BB-77BE81045B4F}"/>
                </a:ext>
              </a:extLst>
            </p:cNvPr>
            <p:cNvSpPr/>
            <p:nvPr/>
          </p:nvSpPr>
          <p:spPr>
            <a:xfrm>
              <a:off x="4904002" y="4646719"/>
              <a:ext cx="973884" cy="2401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Yes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A8F9ED87-BCB8-4108-BF64-D17F41A61BF4}"/>
                </a:ext>
              </a:extLst>
            </p:cNvPr>
            <p:cNvSpPr/>
            <p:nvPr/>
          </p:nvSpPr>
          <p:spPr>
            <a:xfrm>
              <a:off x="6781040" y="3341328"/>
              <a:ext cx="973884" cy="2401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No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4583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F3D718-7348-43C3-AEE6-2E869318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313" y="251994"/>
            <a:ext cx="10364451" cy="1104900"/>
          </a:xfrm>
        </p:spPr>
        <p:txBody>
          <a:bodyPr/>
          <a:lstStyle/>
          <a:p>
            <a:r>
              <a:rPr lang="en-US" altLang="zh-TW" dirty="0"/>
              <a:t>Object detection set prediction loss</a:t>
            </a:r>
            <a:endParaRPr lang="zh-TW" altLang="en-US" dirty="0"/>
          </a:p>
        </p:txBody>
      </p:sp>
      <p:pic>
        <p:nvPicPr>
          <p:cNvPr id="17" name="內容版面配置區 16">
            <a:extLst>
              <a:ext uri="{FF2B5EF4-FFF2-40B4-BE49-F238E27FC236}">
                <a16:creationId xmlns:a16="http://schemas.microsoft.com/office/drawing/2014/main" id="{0D2DFD00-37C4-405B-9156-235D36E5B5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112" y="1791909"/>
            <a:ext cx="4972050" cy="1104900"/>
          </a:xfr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66B3B652-7B92-4224-80F5-A9692C9A73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904" y="5269995"/>
            <a:ext cx="9401175" cy="1104900"/>
          </a:xfrm>
          <a:prstGeom prst="rect">
            <a:avLst/>
          </a:prstGeom>
        </p:spPr>
      </p:pic>
      <p:sp>
        <p:nvSpPr>
          <p:cNvPr id="20" name="橢圓 19">
            <a:extLst>
              <a:ext uri="{FF2B5EF4-FFF2-40B4-BE49-F238E27FC236}">
                <a16:creationId xmlns:a16="http://schemas.microsoft.com/office/drawing/2014/main" id="{EE5AEFFE-C1BA-49A2-B3BE-4CA0CFD0AFA3}"/>
              </a:ext>
            </a:extLst>
          </p:cNvPr>
          <p:cNvSpPr/>
          <p:nvPr/>
        </p:nvSpPr>
        <p:spPr>
          <a:xfrm>
            <a:off x="5293453" y="2102606"/>
            <a:ext cx="469784" cy="5117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CED21292-4667-4824-83CB-81F3B2C4B1CE}"/>
              </a:ext>
            </a:extLst>
          </p:cNvPr>
          <p:cNvSpPr/>
          <p:nvPr/>
        </p:nvSpPr>
        <p:spPr>
          <a:xfrm>
            <a:off x="5804207" y="2102606"/>
            <a:ext cx="291793" cy="5117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6F573606-E12E-4BED-A134-C76144645361}"/>
              </a:ext>
            </a:extLst>
          </p:cNvPr>
          <p:cNvCxnSpPr>
            <a:cxnSpLocks/>
          </p:cNvCxnSpPr>
          <p:nvPr/>
        </p:nvCxnSpPr>
        <p:spPr>
          <a:xfrm>
            <a:off x="5080718" y="1745630"/>
            <a:ext cx="343530" cy="40325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9F2783BC-E6CA-4C0A-BC56-1C141EEFA022}"/>
              </a:ext>
            </a:extLst>
          </p:cNvPr>
          <p:cNvSpPr/>
          <p:nvPr/>
        </p:nvSpPr>
        <p:spPr>
          <a:xfrm>
            <a:off x="3955190" y="1129150"/>
            <a:ext cx="1615100" cy="6088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真實物件集合</a:t>
            </a: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AF10816A-9156-4758-83C9-B7CDB1C5889D}"/>
              </a:ext>
            </a:extLst>
          </p:cNvPr>
          <p:cNvCxnSpPr>
            <a:cxnSpLocks/>
          </p:cNvCxnSpPr>
          <p:nvPr/>
        </p:nvCxnSpPr>
        <p:spPr>
          <a:xfrm flipH="1">
            <a:off x="6039697" y="1737964"/>
            <a:ext cx="275264" cy="38259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: 圓角 26">
                <a:extLst>
                  <a:ext uri="{FF2B5EF4-FFF2-40B4-BE49-F238E27FC236}">
                    <a16:creationId xmlns:a16="http://schemas.microsoft.com/office/drawing/2014/main" id="{1E99640F-47F3-4AF9-B6A1-3931B9680ADB}"/>
                  </a:ext>
                </a:extLst>
              </p:cNvPr>
              <p:cNvSpPr/>
              <p:nvPr/>
            </p:nvSpPr>
            <p:spPr>
              <a:xfrm>
                <a:off x="6095999" y="1115100"/>
                <a:ext cx="3093129" cy="608814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i="1" dirty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i="1" dirty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zh-TW" altLang="en-US" i="0" dirty="0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TW" altLang="en-US" i="1" dirty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zh-TW" altLang="en-US" i="1" dirty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TW" altLang="en-US" i="1" dirty="0" smtClean="0">
                                    <a:ln w="0"/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zh-TW" altLang="en-US" i="1" dirty="0" smtClean="0">
                                        <a:ln w="0"/>
                                        <a:solidFill>
                                          <a:schemeClr val="tx1"/>
                                        </a:solidFill>
                                        <a:effectLst>
                                          <a:outerShdw blurRad="38100" dist="19050" dir="2700000" algn="tl" rotWithShape="0">
                                            <a:schemeClr val="dk1">
                                              <a:alpha val="40000"/>
                                            </a:scheme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TW" altLang="en-US" i="1" dirty="0" smtClean="0">
                                        <a:ln w="0"/>
                                        <a:solidFill>
                                          <a:schemeClr val="tx1"/>
                                        </a:solidFill>
                                        <a:effectLst>
                                          <a:outerShdw blurRad="38100" dist="19050" dir="2700000" algn="tl" rotWithShape="0">
                                            <a:schemeClr val="dk1">
                                              <a:alpha val="40000"/>
                                            </a:schemeClr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TW" altLang="en-US" i="1" dirty="0" smtClean="0">
                                    <a:ln w="0"/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zh-TW" altLang="en-US" i="0" dirty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ⅈ=1</m:t>
                        </m:r>
                      </m:sub>
                      <m:sup>
                        <m:r>
                          <a:rPr lang="zh-TW" altLang="en-US" i="1" dirty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zh-TW" altLang="en-US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預測集合</a:t>
                </a:r>
              </a:p>
            </p:txBody>
          </p:sp>
        </mc:Choice>
        <mc:Fallback xmlns="">
          <p:sp>
            <p:nvSpPr>
              <p:cNvPr id="27" name="矩形: 圓角 26">
                <a:extLst>
                  <a:ext uri="{FF2B5EF4-FFF2-40B4-BE49-F238E27FC236}">
                    <a16:creationId xmlns:a16="http://schemas.microsoft.com/office/drawing/2014/main" id="{1E99640F-47F3-4AF9-B6A1-3931B9680A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1115100"/>
                <a:ext cx="3093129" cy="60881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群組 3">
            <a:extLst>
              <a:ext uri="{FF2B5EF4-FFF2-40B4-BE49-F238E27FC236}">
                <a16:creationId xmlns:a16="http://schemas.microsoft.com/office/drawing/2014/main" id="{E383D799-A27D-4D8A-B597-951BDD336E5D}"/>
              </a:ext>
            </a:extLst>
          </p:cNvPr>
          <p:cNvGrpSpPr/>
          <p:nvPr/>
        </p:nvGrpSpPr>
        <p:grpSpPr>
          <a:xfrm>
            <a:off x="506603" y="2823662"/>
            <a:ext cx="11066187" cy="2210151"/>
            <a:chOff x="241660" y="3021942"/>
            <a:chExt cx="11066187" cy="2210151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24D9C5ED-C022-4C10-A495-76698614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6036" y="3935538"/>
              <a:ext cx="8867775" cy="495300"/>
            </a:xfrm>
            <a:prstGeom prst="rect">
              <a:avLst/>
            </a:prstGeom>
          </p:spPr>
        </p:pic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CE5FEC4B-9333-448B-BDFA-240E605A36B8}"/>
                </a:ext>
              </a:extLst>
            </p:cNvPr>
            <p:cNvSpPr/>
            <p:nvPr/>
          </p:nvSpPr>
          <p:spPr>
            <a:xfrm>
              <a:off x="1457598" y="3735966"/>
              <a:ext cx="2638005" cy="80203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441C7EDB-B14A-4F63-942D-C6D9DB1ACB94}"/>
                </a:ext>
              </a:extLst>
            </p:cNvPr>
            <p:cNvCxnSpPr>
              <a:cxnSpLocks/>
            </p:cNvCxnSpPr>
            <p:nvPr/>
          </p:nvCxnSpPr>
          <p:spPr>
            <a:xfrm>
              <a:off x="1117271" y="3735966"/>
              <a:ext cx="467832" cy="231401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C3F3559-78F0-4D8C-810E-DC7FD196E1DE}"/>
                </a:ext>
              </a:extLst>
            </p:cNvPr>
            <p:cNvSpPr/>
            <p:nvPr/>
          </p:nvSpPr>
          <p:spPr>
            <a:xfrm>
              <a:off x="241660" y="3113102"/>
              <a:ext cx="1186489" cy="608814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匹配損失</a:t>
              </a:r>
            </a:p>
          </p:txBody>
        </p:sp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E1B6D801-5865-4B0D-8913-93BA8F3B043E}"/>
                </a:ext>
              </a:extLst>
            </p:cNvPr>
            <p:cNvSpPr/>
            <p:nvPr/>
          </p:nvSpPr>
          <p:spPr>
            <a:xfrm>
              <a:off x="6505948" y="3933223"/>
              <a:ext cx="403175" cy="51172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9" name="直線接點 38">
              <a:extLst>
                <a:ext uri="{FF2B5EF4-FFF2-40B4-BE49-F238E27FC236}">
                  <a16:creationId xmlns:a16="http://schemas.microsoft.com/office/drawing/2014/main" id="{DB4DE773-266C-4B86-A6AA-006036D549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62184" y="3569307"/>
              <a:ext cx="275264" cy="38259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0" name="矩形: 圓角 39">
              <a:extLst>
                <a:ext uri="{FF2B5EF4-FFF2-40B4-BE49-F238E27FC236}">
                  <a16:creationId xmlns:a16="http://schemas.microsoft.com/office/drawing/2014/main" id="{F84ABEB7-FCC4-40CB-96D7-6812133A7B2F}"/>
                </a:ext>
              </a:extLst>
            </p:cNvPr>
            <p:cNvSpPr/>
            <p:nvPr/>
          </p:nvSpPr>
          <p:spPr>
            <a:xfrm>
              <a:off x="6717109" y="3021942"/>
              <a:ext cx="2158391" cy="502803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該物件的類別標籤 </a:t>
              </a:r>
              <a:r>
                <a:rPr lang="en-US" altLang="zh-TW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(</a:t>
              </a:r>
              <a:r>
                <a:rPr lang="zh-TW" alt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或</a:t>
              </a:r>
              <a:r>
                <a:rPr lang="en-US" altLang="zh-TW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Poor Richard" panose="02080502050505020702" pitchFamily="18" charset="0"/>
                </a:rPr>
                <a:t>Ø)</a:t>
              </a:r>
              <a:endPara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2CB077F3-269D-4869-90D2-93714FA50644}"/>
                </a:ext>
              </a:extLst>
            </p:cNvPr>
            <p:cNvSpPr/>
            <p:nvPr/>
          </p:nvSpPr>
          <p:spPr>
            <a:xfrm>
              <a:off x="9201737" y="3868383"/>
              <a:ext cx="283172" cy="51172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1DF0349F-A7BD-4A16-A3E3-AEF87AD3B9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4444" y="3536513"/>
              <a:ext cx="275264" cy="38259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4" name="矩形: 圓角 43">
              <a:extLst>
                <a:ext uri="{FF2B5EF4-FFF2-40B4-BE49-F238E27FC236}">
                  <a16:creationId xmlns:a16="http://schemas.microsoft.com/office/drawing/2014/main" id="{A537668F-8EC1-4D9A-B96C-6A610C69E217}"/>
                </a:ext>
              </a:extLst>
            </p:cNvPr>
            <p:cNvSpPr/>
            <p:nvPr/>
          </p:nvSpPr>
          <p:spPr>
            <a:xfrm>
              <a:off x="9530741" y="3060694"/>
              <a:ext cx="1777106" cy="479723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chemeClr val="tx1"/>
                  </a:solidFill>
                </a:rPr>
                <a:t>一個四維向量</a:t>
              </a:r>
              <a:endPara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43DC37C6-7EBF-480B-86A8-BE1149576151}"/>
                </a:ext>
              </a:extLst>
            </p:cNvPr>
            <p:cNvSpPr/>
            <p:nvPr/>
          </p:nvSpPr>
          <p:spPr>
            <a:xfrm>
              <a:off x="9605234" y="3868383"/>
              <a:ext cx="745465" cy="60701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7" name="直線接點 46">
              <a:extLst>
                <a:ext uri="{FF2B5EF4-FFF2-40B4-BE49-F238E27FC236}">
                  <a16:creationId xmlns:a16="http://schemas.microsoft.com/office/drawing/2014/main" id="{ED5C9457-0C32-4EE7-977D-B0B0E080C59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318" y="4430838"/>
              <a:ext cx="300176" cy="305955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8" name="矩形: 圓角 47">
              <a:extLst>
                <a:ext uri="{FF2B5EF4-FFF2-40B4-BE49-F238E27FC236}">
                  <a16:creationId xmlns:a16="http://schemas.microsoft.com/office/drawing/2014/main" id="{524C1660-EBED-475F-AB5B-FF9CFBBB5272}"/>
                </a:ext>
              </a:extLst>
            </p:cNvPr>
            <p:cNvSpPr/>
            <p:nvPr/>
          </p:nvSpPr>
          <p:spPr>
            <a:xfrm>
              <a:off x="10181318" y="4752370"/>
              <a:ext cx="1054428" cy="479723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chemeClr val="tx1"/>
                  </a:solidFill>
                </a:rPr>
                <a:t>預測框</a:t>
              </a:r>
              <a:endPara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3" name="矩形: 圓角 52">
              <a:extLst>
                <a:ext uri="{FF2B5EF4-FFF2-40B4-BE49-F238E27FC236}">
                  <a16:creationId xmlns:a16="http://schemas.microsoft.com/office/drawing/2014/main" id="{8025392C-9609-4E0B-A4A0-491A3D6A6084}"/>
                </a:ext>
              </a:extLst>
            </p:cNvPr>
            <p:cNvSpPr/>
            <p:nvPr/>
          </p:nvSpPr>
          <p:spPr>
            <a:xfrm>
              <a:off x="4309791" y="4566399"/>
              <a:ext cx="1976630" cy="349866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altLang="zh-TW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σ(</a:t>
              </a:r>
              <a:r>
                <a:rPr lang="en-US" altLang="zh-TW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</a:t>
              </a:r>
              <a:r>
                <a:rPr lang="en-US" altLang="zh-TW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) </a:t>
              </a:r>
              <a:r>
                <a:rPr lang="zh-TW" alt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為 </a:t>
              </a:r>
              <a:r>
                <a:rPr lang="en-US" altLang="zh-TW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ci </a:t>
              </a:r>
              <a:r>
                <a:rPr lang="zh-TW" alt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的機率</a:t>
              </a:r>
            </a:p>
          </p:txBody>
        </p:sp>
        <p:sp>
          <p:nvSpPr>
            <p:cNvPr id="56" name="矩形: 圓角 55">
              <a:extLst>
                <a:ext uri="{FF2B5EF4-FFF2-40B4-BE49-F238E27FC236}">
                  <a16:creationId xmlns:a16="http://schemas.microsoft.com/office/drawing/2014/main" id="{FEEC72B4-2E11-4313-9CBE-EAE43B71A646}"/>
                </a:ext>
              </a:extLst>
            </p:cNvPr>
            <p:cNvSpPr/>
            <p:nvPr/>
          </p:nvSpPr>
          <p:spPr>
            <a:xfrm>
              <a:off x="5712799" y="3951848"/>
              <a:ext cx="1204324" cy="50280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57" name="直線接點 56">
              <a:extLst>
                <a:ext uri="{FF2B5EF4-FFF2-40B4-BE49-F238E27FC236}">
                  <a16:creationId xmlns:a16="http://schemas.microsoft.com/office/drawing/2014/main" id="{012627CD-7179-4A2F-9C90-9B0CE5AD5F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13297" y="4463825"/>
              <a:ext cx="99579" cy="93400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59" name="橢圓 58">
            <a:extLst>
              <a:ext uri="{FF2B5EF4-FFF2-40B4-BE49-F238E27FC236}">
                <a16:creationId xmlns:a16="http://schemas.microsoft.com/office/drawing/2014/main" id="{3820289C-9580-4BBD-850B-C3B167DC9AC0}"/>
              </a:ext>
            </a:extLst>
          </p:cNvPr>
          <p:cNvSpPr/>
          <p:nvPr/>
        </p:nvSpPr>
        <p:spPr>
          <a:xfrm>
            <a:off x="6385650" y="5763080"/>
            <a:ext cx="207712" cy="3278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B92FCF1E-2459-43EF-AA02-855986206FB0}"/>
              </a:ext>
            </a:extLst>
          </p:cNvPr>
          <p:cNvSpPr/>
          <p:nvPr/>
        </p:nvSpPr>
        <p:spPr>
          <a:xfrm>
            <a:off x="10237199" y="5742358"/>
            <a:ext cx="250823" cy="3468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AutoShape 2" descr="[公式]">
            <a:extLst>
              <a:ext uri="{FF2B5EF4-FFF2-40B4-BE49-F238E27FC236}">
                <a16:creationId xmlns:a16="http://schemas.microsoft.com/office/drawing/2014/main" id="{84E650E8-3776-4D09-A362-2BF98F4C23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41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AE21EE0-3931-40DC-9CF0-EED1AAFD7285}"/>
              </a:ext>
            </a:extLst>
          </p:cNvPr>
          <p:cNvSpPr/>
          <p:nvPr/>
        </p:nvSpPr>
        <p:spPr>
          <a:xfrm>
            <a:off x="500393" y="6428256"/>
            <a:ext cx="103644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905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當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Ci=</a:t>
            </a:r>
            <a:r>
              <a:rPr lang="en-US" altLang="zh-TW" kern="100" dirty="0">
                <a:latin typeface="Poor Richard" panose="02080502050505020702" pitchFamily="18" charset="0"/>
                <a:cs typeface="Times New Roman" panose="02020603050405020304" pitchFamily="18" charset="0"/>
              </a:rPr>
              <a:t>Ø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zh-TW" alt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背景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zh-TW" alt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時，把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log-probability </a:t>
            </a:r>
            <a:r>
              <a:rPr lang="zh-TW" alt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權重*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1/10</a:t>
            </a:r>
            <a:r>
              <a:rPr lang="zh-TW" alt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倍，來解決正負樣本不平衡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zh-TW" alt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測試時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707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F3D718-7348-43C3-AEE6-2E869318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313" y="251994"/>
            <a:ext cx="10364451" cy="1104900"/>
          </a:xfrm>
        </p:spPr>
        <p:txBody>
          <a:bodyPr/>
          <a:lstStyle/>
          <a:p>
            <a:r>
              <a:rPr lang="en-US" altLang="zh-TW" dirty="0"/>
              <a:t>Bounding box loss</a:t>
            </a:r>
            <a:endParaRPr lang="zh-TW" altLang="en-US" dirty="0"/>
          </a:p>
        </p:txBody>
      </p:sp>
      <p:pic>
        <p:nvPicPr>
          <p:cNvPr id="11" name="內容版面配置區 5">
            <a:extLst>
              <a:ext uri="{FF2B5EF4-FFF2-40B4-BE49-F238E27FC236}">
                <a16:creationId xmlns:a16="http://schemas.microsoft.com/office/drawing/2014/main" id="{292112F0-BB2F-45CE-AC88-92E157F22F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913" y="1415174"/>
            <a:ext cx="7896225" cy="495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B5D69E3-5F8F-4014-A905-2AA3D318056A}"/>
                  </a:ext>
                </a:extLst>
              </p:cNvPr>
              <p:cNvSpPr txBox="1"/>
              <p:nvPr/>
            </p:nvSpPr>
            <p:spPr>
              <a:xfrm>
                <a:off x="7476430" y="2186497"/>
                <a:ext cx="3336979" cy="6178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zh-TW" altLang="en-US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ⅆ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zh-TW" alt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TW" alt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zh-TW" altLang="en-US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TW" altLang="en-US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mr>
                          <m:mr>
                            <m:e>
                              <m:r>
                                <a:rPr lang="zh-TW" altLang="en-US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TW" altLang="en-US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B5D69E3-5F8F-4014-A905-2AA3D3180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430" y="2186497"/>
                <a:ext cx="3336979" cy="6178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圖片 19">
            <a:extLst>
              <a:ext uri="{FF2B5EF4-FFF2-40B4-BE49-F238E27FC236}">
                <a16:creationId xmlns:a16="http://schemas.microsoft.com/office/drawing/2014/main" id="{E6BA1F9C-720A-4AD2-941E-2CCF8AA603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67" y="2873398"/>
            <a:ext cx="6458413" cy="1938991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A8B41C11-7E1D-4990-9BCA-B46960DF71DC}"/>
              </a:ext>
            </a:extLst>
          </p:cNvPr>
          <p:cNvSpPr/>
          <p:nvPr/>
        </p:nvSpPr>
        <p:spPr>
          <a:xfrm>
            <a:off x="1613005" y="5202322"/>
            <a:ext cx="1106905" cy="1403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52EB431-24BE-438A-8D6C-76C575A36E6F}"/>
              </a:ext>
            </a:extLst>
          </p:cNvPr>
          <p:cNvSpPr/>
          <p:nvPr/>
        </p:nvSpPr>
        <p:spPr>
          <a:xfrm>
            <a:off x="4740068" y="5202322"/>
            <a:ext cx="1106905" cy="1403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CF2EE03-5CC5-4D80-B6B9-FF7C9E4B2224}"/>
              </a:ext>
            </a:extLst>
          </p:cNvPr>
          <p:cNvSpPr/>
          <p:nvPr/>
        </p:nvSpPr>
        <p:spPr>
          <a:xfrm>
            <a:off x="989008" y="5202322"/>
            <a:ext cx="1106905" cy="1403684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B9A48ED-5C95-4B57-8F0D-53B6499E199C}"/>
              </a:ext>
            </a:extLst>
          </p:cNvPr>
          <p:cNvSpPr/>
          <p:nvPr/>
        </p:nvSpPr>
        <p:spPr>
          <a:xfrm>
            <a:off x="4116071" y="4971674"/>
            <a:ext cx="1106905" cy="1403684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FFC9751-1767-4F21-9490-803EF650CCFA}"/>
              </a:ext>
            </a:extLst>
          </p:cNvPr>
          <p:cNvSpPr/>
          <p:nvPr/>
        </p:nvSpPr>
        <p:spPr>
          <a:xfrm>
            <a:off x="7084284" y="6421340"/>
            <a:ext cx="4759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來源 </a:t>
            </a:r>
            <a:r>
              <a:rPr lang="en-US" altLang="zh-TW" dirty="0"/>
              <a:t>:</a:t>
            </a:r>
            <a:r>
              <a:rPr lang="zh-TW" altLang="en-US" dirty="0"/>
              <a:t> https://zhuanlan.zhihu.com/p/342991797</a:t>
            </a:r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EA1F94EA-503D-43F1-B244-5B0D56BA72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8591" y="1968754"/>
            <a:ext cx="5058481" cy="743054"/>
          </a:xfrm>
          <a:prstGeom prst="rect">
            <a:avLst/>
          </a:prstGeom>
        </p:spPr>
      </p:pic>
      <p:sp>
        <p:nvSpPr>
          <p:cNvPr id="3" name="橢圓 2">
            <a:extLst>
              <a:ext uri="{FF2B5EF4-FFF2-40B4-BE49-F238E27FC236}">
                <a16:creationId xmlns:a16="http://schemas.microsoft.com/office/drawing/2014/main" id="{AB6B9B11-B755-40FE-A498-BFD25CE83689}"/>
              </a:ext>
            </a:extLst>
          </p:cNvPr>
          <p:cNvSpPr/>
          <p:nvPr/>
        </p:nvSpPr>
        <p:spPr>
          <a:xfrm>
            <a:off x="4669523" y="1410096"/>
            <a:ext cx="503340" cy="4967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6289C9A5-1DCD-4115-B552-03A555262E29}"/>
              </a:ext>
            </a:extLst>
          </p:cNvPr>
          <p:cNvSpPr/>
          <p:nvPr/>
        </p:nvSpPr>
        <p:spPr>
          <a:xfrm>
            <a:off x="7639225" y="1442879"/>
            <a:ext cx="503340" cy="4967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4874744A-5889-4D29-80F1-662CF76094B3}"/>
              </a:ext>
            </a:extLst>
          </p:cNvPr>
          <p:cNvSpPr/>
          <p:nvPr/>
        </p:nvSpPr>
        <p:spPr>
          <a:xfrm>
            <a:off x="5648795" y="917260"/>
            <a:ext cx="1576553" cy="36820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人為假設</a:t>
            </a:r>
          </a:p>
        </p:txBody>
      </p:sp>
      <p:cxnSp>
        <p:nvCxnSpPr>
          <p:cNvPr id="5" name="接點: 肘形 4">
            <a:extLst>
              <a:ext uri="{FF2B5EF4-FFF2-40B4-BE49-F238E27FC236}">
                <a16:creationId xmlns:a16="http://schemas.microsoft.com/office/drawing/2014/main" id="{5A167A50-192F-44B4-AB27-26F239CDBBD7}"/>
              </a:ext>
            </a:extLst>
          </p:cNvPr>
          <p:cNvCxnSpPr>
            <a:cxnSpLocks/>
          </p:cNvCxnSpPr>
          <p:nvPr/>
        </p:nvCxnSpPr>
        <p:spPr>
          <a:xfrm flipV="1">
            <a:off x="5069478" y="1072311"/>
            <a:ext cx="1026522" cy="35904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接點: 肘形 23">
            <a:extLst>
              <a:ext uri="{FF2B5EF4-FFF2-40B4-BE49-F238E27FC236}">
                <a16:creationId xmlns:a16="http://schemas.microsoft.com/office/drawing/2014/main" id="{D001962F-09B1-4CCF-B205-81C6AD539C7F}"/>
              </a:ext>
            </a:extLst>
          </p:cNvPr>
          <p:cNvCxnSpPr>
            <a:cxnSpLocks/>
          </p:cNvCxnSpPr>
          <p:nvPr/>
        </p:nvCxnSpPr>
        <p:spPr>
          <a:xfrm>
            <a:off x="6908730" y="1072311"/>
            <a:ext cx="730495" cy="42630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298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F3D718-7348-43C3-AEE6-2E869318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86612"/>
            <a:ext cx="10364451" cy="861755"/>
          </a:xfrm>
        </p:spPr>
        <p:txBody>
          <a:bodyPr/>
          <a:lstStyle/>
          <a:p>
            <a:r>
              <a:rPr lang="en-US" altLang="zh-TW" dirty="0"/>
              <a:t>DETR architecture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D69135F-85A0-4826-93BA-16245919D0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858" y="866274"/>
            <a:ext cx="9174836" cy="2205709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B1C7CB0-E248-4E7A-B2F4-46273D416340}"/>
                  </a:ext>
                </a:extLst>
              </p:cNvPr>
              <p:cNvSpPr/>
              <p:nvPr/>
            </p:nvSpPr>
            <p:spPr>
              <a:xfrm>
                <a:off x="539691" y="3071983"/>
                <a:ext cx="10364451" cy="32555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90550" indent="-285750"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Backbone of CNN :</a:t>
                </a:r>
              </a:p>
              <a:p>
                <a:pPr marL="304800">
                  <a:spcAft>
                    <a:spcPts val="0"/>
                  </a:spcAft>
                </a:pPr>
                <a:r>
                  <a:rPr lang="zh-TW" altLang="zh-TW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從初始圖像</a:t>
                </a:r>
                <a:r>
                  <a:rPr lang="en-US" altLang="zh-TW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X</a:t>
                </a:r>
                <a:r>
                  <a:rPr lang="en-US" altLang="zh-TW" kern="1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img</a:t>
                </a:r>
                <a:r>
                  <a:rPr lang="en-US" altLang="zh-TW" kern="1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kern="10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kern="100" dirty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i="0" kern="100" dirty="0">
                            <a:latin typeface="Cambria Math" panose="02040503050406030204" pitchFamily="18" charset="0"/>
                          </a:rPr>
                          <m:t>3×</m:t>
                        </m:r>
                        <m:sSub>
                          <m:sSubPr>
                            <m:ctrlPr>
                              <a:rPr lang="en-US" altLang="zh-TW" i="1" kern="10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kern="100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TW" i="0" kern="1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i="0" kern="100" dirty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TW" i="1" kern="10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kern="100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i="0" kern="1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TW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zh-TW" altLang="zh-TW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開始，一個卷積</a:t>
                </a:r>
                <a:r>
                  <a:rPr lang="en-US" altLang="zh-TW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CNN backbone</a:t>
                </a:r>
                <a:r>
                  <a:rPr lang="zh-TW" altLang="zh-TW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會生成一個低解析度的</a:t>
                </a:r>
                <a:r>
                  <a:rPr lang="en-US" altLang="zh-TW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activation map </a:t>
                </a:r>
              </a:p>
              <a:p>
                <a:pPr marL="304800">
                  <a:spcAft>
                    <a:spcPts val="0"/>
                  </a:spcAft>
                </a:pPr>
                <a:r>
                  <a:rPr lang="en-US" altLang="zh-TW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TW" kern="1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∈</a:t>
                </a:r>
                <a:r>
                  <a:rPr lang="en-US" altLang="zh-TW" kern="1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kern="10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kern="100" dirty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TW" b="0" i="0" kern="100" dirty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TW" kern="100" dirty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TW" i="1" kern="10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kern="100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/>
                        </m:sSub>
                        <m:r>
                          <a:rPr lang="en-US" altLang="zh-TW" kern="100" dirty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TW" i="1" kern="10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kern="100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/>
                        </m:sSub>
                      </m:sup>
                    </m:sSup>
                    <m:r>
                      <a:rPr lang="en-US" altLang="zh-TW" i="1" kern="1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zh-TW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。論文內的設置</a:t>
                </a:r>
                <a:r>
                  <a:rPr lang="en-US" altLang="zh-TW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C = 2048 , H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kern="10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 kern="100" smtClean="0">
                            <a:latin typeface="Cambria Math" panose="02040503050406030204" pitchFamily="18" charset="0"/>
                          </a:rPr>
                          <m:t>𝐻𝑜</m:t>
                        </m:r>
                      </m:num>
                      <m:den>
                        <m:r>
                          <a:rPr lang="en-US" altLang="zh-TW" i="1" kern="100" smtClean="0"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lang="en-US" altLang="zh-TW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, W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kern="1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altLang="zh-TW" kern="100"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a:rPr lang="en-US" altLang="zh-TW" i="1" kern="1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zh-TW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。</a:t>
                </a:r>
                <a:endParaRPr lang="en-US" altLang="zh-TW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04800">
                  <a:spcAft>
                    <a:spcPts val="0"/>
                  </a:spcAft>
                </a:pPr>
                <a:endParaRPr lang="en-US" altLang="zh-TW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590550" indent="-285750"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Transformer</a:t>
                </a:r>
                <a:r>
                  <a:rPr lang="zh-TW" altLang="en-US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en-US" altLang="zh-TW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– Encoder + Decoder</a:t>
                </a:r>
              </a:p>
              <a:p>
                <a:pPr marL="304800">
                  <a:spcAft>
                    <a:spcPts val="0"/>
                  </a:spcAft>
                </a:pPr>
                <a:endParaRPr lang="en-US" altLang="zh-TW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590550" indent="-285750"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FFN(</a:t>
                </a:r>
                <a:r>
                  <a:rPr lang="en-US" altLang="zh-TW" dirty="0"/>
                  <a:t>Feed forward Network</a:t>
                </a:r>
                <a:r>
                  <a:rPr lang="zh-TW" altLang="en-US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前饋網路</a:t>
                </a:r>
                <a:r>
                  <a:rPr lang="en-US" altLang="zh-TW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304800"/>
                <a:r>
                  <a:rPr lang="en-US" altLang="zh-TW" dirty="0"/>
                  <a:t>	</a:t>
                </a:r>
                <a:r>
                  <a:rPr lang="zh-TW" altLang="zh-TW" dirty="0"/>
                  <a:t>最終的預測是經由</a:t>
                </a:r>
                <a:r>
                  <a:rPr lang="en-US" altLang="zh-TW" dirty="0"/>
                  <a:t> 3 </a:t>
                </a:r>
                <a:r>
                  <a:rPr lang="zh-TW" altLang="zh-TW" dirty="0"/>
                  <a:t>層帶有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ReLU</a:t>
                </a:r>
                <a:r>
                  <a:rPr lang="en-US" altLang="zh-TW" dirty="0"/>
                  <a:t> activation function </a:t>
                </a:r>
                <a:r>
                  <a:rPr lang="zh-TW" altLang="zh-TW" dirty="0"/>
                  <a:t>以及隱藏維度</a:t>
                </a:r>
                <a:r>
                  <a:rPr lang="en-US" altLang="zh-TW" dirty="0"/>
                  <a:t> d </a:t>
                </a:r>
                <a:r>
                  <a:rPr lang="zh-TW" altLang="zh-TW" dirty="0"/>
                  <a:t>的</a:t>
                </a:r>
                <a:r>
                  <a:rPr lang="en-US" altLang="zh-TW" dirty="0"/>
                  <a:t> perceptron </a:t>
                </a:r>
                <a:r>
                  <a:rPr lang="zh-TW" altLang="zh-TW" dirty="0"/>
                  <a:t>加上一個線性層</a:t>
                </a:r>
                <a:r>
                  <a:rPr lang="en-US" altLang="zh-TW" dirty="0"/>
                  <a:t>	</a:t>
                </a:r>
                <a:r>
                  <a:rPr lang="zh-TW" altLang="zh-TW" dirty="0"/>
                  <a:t>計算而得。這樣的</a:t>
                </a:r>
                <a:r>
                  <a:rPr lang="en-US" altLang="zh-TW" dirty="0"/>
                  <a:t> FFN </a:t>
                </a:r>
                <a:r>
                  <a:rPr lang="zh-TW" altLang="zh-TW" dirty="0"/>
                  <a:t>會預測出針對輸入圖像的邊界框中心座標及長寬，而線性層則是利用</a:t>
                </a:r>
                <a:r>
                  <a:rPr lang="en-US" altLang="zh-TW" dirty="0"/>
                  <a:t> 	</a:t>
                </a:r>
                <a:r>
                  <a:rPr lang="en-US" altLang="zh-TW" dirty="0" err="1"/>
                  <a:t>softmax</a:t>
                </a:r>
                <a:r>
                  <a:rPr lang="en-US" altLang="zh-TW" dirty="0"/>
                  <a:t> </a:t>
                </a:r>
                <a:r>
                  <a:rPr lang="zh-TW" altLang="zh-TW" dirty="0"/>
                  <a:t>來直接預測類別。</a:t>
                </a:r>
              </a:p>
              <a:p>
                <a:pPr marL="590550" indent="-285750"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zh-TW" altLang="zh-TW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B1C7CB0-E248-4E7A-B2F4-46273D416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91" y="3071983"/>
                <a:ext cx="10364451" cy="3255571"/>
              </a:xfrm>
              <a:prstGeom prst="rect">
                <a:avLst/>
              </a:prstGeom>
              <a:blipFill>
                <a:blip r:embed="rId3"/>
                <a:stretch>
                  <a:fillRect t="-11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2884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E2F523-DEE8-4E8B-805F-6331B565C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20842"/>
            <a:ext cx="10364451" cy="1107789"/>
          </a:xfrm>
        </p:spPr>
        <p:txBody>
          <a:bodyPr/>
          <a:lstStyle/>
          <a:p>
            <a:r>
              <a:rPr lang="en-US" altLang="zh-TW" dirty="0"/>
              <a:t>Backbone(CNN+CAM)</a:t>
            </a:r>
            <a:endParaRPr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FF5B17F-27D0-4160-A76F-86A81D1736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422" y="1284252"/>
            <a:ext cx="8760277" cy="342423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5643B36-4301-468E-9F0A-90ECC8AD88FB}"/>
              </a:ext>
            </a:extLst>
          </p:cNvPr>
          <p:cNvSpPr/>
          <p:nvPr/>
        </p:nvSpPr>
        <p:spPr>
          <a:xfrm>
            <a:off x="272716" y="5059830"/>
            <a:ext cx="9674443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4D4D4D"/>
                </a:solidFill>
                <a:latin typeface="-apple-system"/>
              </a:rPr>
              <a:t>針對圖片中的關鍵部分進行定位</a:t>
            </a:r>
            <a:r>
              <a:rPr lang="en-US" altLang="zh-CN" dirty="0">
                <a:solidFill>
                  <a:srgbClr val="4D4D4D"/>
                </a:solidFill>
                <a:latin typeface="-apple-system"/>
              </a:rPr>
              <a:t>(CAM)</a:t>
            </a:r>
          </a:p>
          <a:p>
            <a:r>
              <a:rPr lang="zh-CN" altLang="en-US" dirty="0"/>
              <a:t>這是一個基於分類訓練的</a:t>
            </a:r>
            <a:r>
              <a:rPr lang="en-US" altLang="zh-CN" dirty="0"/>
              <a:t>CNN</a:t>
            </a:r>
            <a:r>
              <a:rPr lang="zh-CN" altLang="en-US" dirty="0"/>
              <a:t>網路，最左邊是輸入，中間是很多卷積層，</a:t>
            </a:r>
            <a:endParaRPr lang="en-US" altLang="zh-CN" dirty="0"/>
          </a:p>
          <a:p>
            <a:r>
              <a:rPr lang="zh-CN" altLang="en-US" dirty="0"/>
              <a:t>在最後一層卷積層之後接的是全域平均池化層（</a:t>
            </a:r>
            <a:r>
              <a:rPr lang="en-US" altLang="zh-CN" dirty="0"/>
              <a:t>GAP</a:t>
            </a:r>
            <a:r>
              <a:rPr lang="zh-CN" altLang="en-US" dirty="0"/>
              <a:t>），最後接一層</a:t>
            </a:r>
            <a:r>
              <a:rPr lang="en-US" altLang="zh-CN" dirty="0" err="1"/>
              <a:t>softmax</a:t>
            </a:r>
            <a:r>
              <a:rPr lang="zh-CN" altLang="en-US" dirty="0"/>
              <a:t>，得到輸出。</a:t>
            </a:r>
            <a:endParaRPr lang="en-US" altLang="zh-CN" dirty="0"/>
          </a:p>
          <a:p>
            <a:r>
              <a:rPr lang="zh-CN" altLang="en-US" dirty="0"/>
              <a:t>我們剛剛說過，</a:t>
            </a:r>
            <a:r>
              <a:rPr lang="en-US" altLang="zh-CN" dirty="0"/>
              <a:t>GAP</a:t>
            </a:r>
            <a:r>
              <a:rPr lang="zh-CN" altLang="en-US" dirty="0"/>
              <a:t>就是把特徵圖轉換成特徵向量，每一層特徵圖用一個值表示，</a:t>
            </a:r>
            <a:endParaRPr lang="en-US" altLang="zh-CN" dirty="0"/>
          </a:p>
          <a:p>
            <a:r>
              <a:rPr lang="zh-CN" altLang="en-US" dirty="0"/>
              <a:t>所以如果這個特徵圖的深度是</a:t>
            </a:r>
            <a:r>
              <a:rPr lang="en-US" altLang="zh-CN" dirty="0"/>
              <a:t>512</a:t>
            </a:r>
            <a:r>
              <a:rPr lang="zh-CN" altLang="en-US" dirty="0"/>
              <a:t>，那麼這個特徵向量的長度就是</a:t>
            </a:r>
            <a:r>
              <a:rPr lang="en-US" altLang="zh-CN" dirty="0"/>
              <a:t>512</a:t>
            </a:r>
            <a:r>
              <a:rPr lang="zh-CN" altLang="en-US" dirty="0"/>
              <a:t>。我們的輸出是</a:t>
            </a:r>
            <a:r>
              <a:rPr lang="zh-TW" altLang="en-US" dirty="0"/>
              <a:t>那隻狗</a:t>
            </a:r>
          </a:p>
        </p:txBody>
      </p:sp>
    </p:spTree>
    <p:extLst>
      <p:ext uri="{BB962C8B-B14F-4D97-AF65-F5344CB8AC3E}">
        <p14:creationId xmlns:p14="http://schemas.microsoft.com/office/powerpoint/2010/main" val="3978839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F3D718-7348-43C3-AEE6-2E869318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403" y="255567"/>
            <a:ext cx="10364451" cy="811232"/>
          </a:xfrm>
        </p:spPr>
        <p:txBody>
          <a:bodyPr/>
          <a:lstStyle/>
          <a:p>
            <a:r>
              <a:rPr lang="en-US" altLang="zh-TW" dirty="0"/>
              <a:t>Transformer encoder-decoder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068CFC8-F83C-4CEF-92A4-B0C417140864}"/>
              </a:ext>
            </a:extLst>
          </p:cNvPr>
          <p:cNvSpPr/>
          <p:nvPr/>
        </p:nvSpPr>
        <p:spPr>
          <a:xfrm>
            <a:off x="251286" y="6417767"/>
            <a:ext cx="4265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D0A0B"/>
                </a:solidFill>
                <a:latin typeface="montserrat-medium"/>
              </a:rPr>
              <a:t>FFN</a:t>
            </a:r>
            <a:r>
              <a:rPr lang="zh-TW" altLang="en-US" dirty="0">
                <a:solidFill>
                  <a:srgbClr val="0D0A0B"/>
                </a:solidFill>
                <a:latin typeface="montserrat-medium"/>
              </a:rPr>
              <a:t> </a:t>
            </a:r>
            <a:r>
              <a:rPr lang="en-US" altLang="zh-TW" dirty="0">
                <a:solidFill>
                  <a:srgbClr val="0D0A0B"/>
                </a:solidFill>
                <a:latin typeface="montserrat-medium"/>
              </a:rPr>
              <a:t>:</a:t>
            </a:r>
            <a:r>
              <a:rPr lang="zh-TW" altLang="en-US" dirty="0">
                <a:solidFill>
                  <a:srgbClr val="0D0A0B"/>
                </a:solidFill>
                <a:latin typeface="montserrat-medium"/>
              </a:rPr>
              <a:t> </a:t>
            </a:r>
            <a:r>
              <a:rPr lang="en-US" altLang="zh-TW" dirty="0">
                <a:solidFill>
                  <a:srgbClr val="0D0A0B"/>
                </a:solidFill>
                <a:latin typeface="montserrat-medium"/>
              </a:rPr>
              <a:t>Position-wise Feed-Forward Networks</a:t>
            </a:r>
            <a:endParaRPr lang="en-US" altLang="zh-TW" b="0" i="0" dirty="0">
              <a:solidFill>
                <a:srgbClr val="0D0A0B"/>
              </a:solidFill>
              <a:effectLst/>
              <a:latin typeface="montserrat-medium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546A59CD-954E-4BA8-8547-3A2B55762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65" y="972983"/>
            <a:ext cx="4683573" cy="5444784"/>
          </a:xfrm>
          <a:prstGeom prst="rect">
            <a:avLst/>
          </a:prstGeom>
        </p:spPr>
      </p:pic>
      <p:pic>
        <p:nvPicPr>
          <p:cNvPr id="18" name="內容版面配置區 17">
            <a:extLst>
              <a:ext uri="{FF2B5EF4-FFF2-40B4-BE49-F238E27FC236}">
                <a16:creationId xmlns:a16="http://schemas.microsoft.com/office/drawing/2014/main" id="{092CAE03-4F76-4BBE-8836-4B4AE70F6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231" y="1279054"/>
            <a:ext cx="5603801" cy="5167162"/>
          </a:xfr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A4DDD43-5403-4715-BDF6-64AAAA2CF9FE}"/>
              </a:ext>
            </a:extLst>
          </p:cNvPr>
          <p:cNvSpPr/>
          <p:nvPr/>
        </p:nvSpPr>
        <p:spPr>
          <a:xfrm>
            <a:off x="5671467" y="6417767"/>
            <a:ext cx="40071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-apple-system"/>
              </a:rPr>
              <a:t>Encoder:</a:t>
            </a:r>
            <a:r>
              <a:rPr lang="zh-TW" altLang="en-US" dirty="0">
                <a:latin typeface="-apple-system"/>
              </a:rPr>
              <a:t>每一層都加</a:t>
            </a:r>
            <a:r>
              <a:rPr lang="en-US" altLang="zh-TW" dirty="0">
                <a:latin typeface="-apple-system"/>
              </a:rPr>
              <a:t>positional encoding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55267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F3D718-7348-43C3-AEE6-2E869318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84968"/>
            <a:ext cx="10364451" cy="781832"/>
          </a:xfrm>
        </p:spPr>
        <p:txBody>
          <a:bodyPr/>
          <a:lstStyle/>
          <a:p>
            <a:r>
              <a:rPr lang="en-US" altLang="zh-TW" dirty="0"/>
              <a:t>Prediction feed-forward networks (FFNs)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0508387-11CF-442E-AE11-4D87870C6C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557" y="974521"/>
            <a:ext cx="9458883" cy="4724400"/>
          </a:xfr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5F5C1BD1-2430-4313-814A-6DA8FF60558F}"/>
              </a:ext>
            </a:extLst>
          </p:cNvPr>
          <p:cNvSpPr txBox="1">
            <a:spLocks/>
          </p:cNvSpPr>
          <p:nvPr/>
        </p:nvSpPr>
        <p:spPr>
          <a:xfrm>
            <a:off x="318083" y="5914629"/>
            <a:ext cx="10515600" cy="7818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400" dirty="0"/>
              <a:t>一組神經元當範例</a:t>
            </a:r>
            <a:endParaRPr lang="en-US" altLang="zh-TW" sz="1400" dirty="0"/>
          </a:p>
          <a:p>
            <a:r>
              <a:rPr lang="zh-TW" altLang="zh-TW" sz="1400" dirty="0"/>
              <a:t>最終的預測是經由</a:t>
            </a:r>
            <a:r>
              <a:rPr lang="en-US" altLang="zh-TW" sz="1400" dirty="0"/>
              <a:t> 3 </a:t>
            </a:r>
            <a:r>
              <a:rPr lang="zh-TW" altLang="zh-TW" sz="1400" dirty="0"/>
              <a:t>層帶有</a:t>
            </a:r>
            <a:r>
              <a:rPr lang="en-US" altLang="zh-TW" sz="1400" dirty="0"/>
              <a:t> </a:t>
            </a:r>
            <a:r>
              <a:rPr lang="en-US" altLang="zh-TW" sz="1400" dirty="0" err="1"/>
              <a:t>ReLU</a:t>
            </a:r>
            <a:r>
              <a:rPr lang="en-US" altLang="zh-TW" sz="1400" dirty="0"/>
              <a:t> activation function </a:t>
            </a:r>
            <a:r>
              <a:rPr lang="zh-TW" altLang="zh-TW" sz="1400" dirty="0"/>
              <a:t>以及隱藏維度</a:t>
            </a:r>
            <a:r>
              <a:rPr lang="en-US" altLang="zh-TW" sz="1400" dirty="0"/>
              <a:t> d </a:t>
            </a:r>
            <a:r>
              <a:rPr lang="zh-TW" altLang="zh-TW" sz="1400" dirty="0"/>
              <a:t>的</a:t>
            </a:r>
            <a:r>
              <a:rPr lang="en-US" altLang="zh-TW" sz="1400" dirty="0"/>
              <a:t> perceptron </a:t>
            </a:r>
            <a:r>
              <a:rPr lang="zh-TW" altLang="zh-TW" sz="1400" dirty="0"/>
              <a:t>加上一個線性層計算而得。這樣的</a:t>
            </a:r>
            <a:r>
              <a:rPr lang="en-US" altLang="zh-TW" sz="1400" dirty="0"/>
              <a:t> FFN </a:t>
            </a:r>
            <a:r>
              <a:rPr lang="zh-TW" altLang="zh-TW" sz="1400" dirty="0"/>
              <a:t>會預測出針對輸入圖像的邊界框中心座標及長寬，而線性層則是利用</a:t>
            </a:r>
            <a:r>
              <a:rPr lang="en-US" altLang="zh-TW" sz="1400" dirty="0"/>
              <a:t> </a:t>
            </a:r>
            <a:r>
              <a:rPr lang="en-US" altLang="zh-TW" sz="1400" dirty="0" err="1"/>
              <a:t>softmax</a:t>
            </a:r>
            <a:r>
              <a:rPr lang="en-US" altLang="zh-TW" sz="1400" dirty="0"/>
              <a:t> </a:t>
            </a:r>
            <a:r>
              <a:rPr lang="zh-TW" altLang="zh-TW" sz="1400" dirty="0"/>
              <a:t>來直接預測類別。</a:t>
            </a:r>
          </a:p>
          <a:p>
            <a:endParaRPr lang="zh-TW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AC893B-BE65-41B1-8FFC-69F250F4A3AF}"/>
              </a:ext>
            </a:extLst>
          </p:cNvPr>
          <p:cNvSpPr/>
          <p:nvPr/>
        </p:nvSpPr>
        <p:spPr>
          <a:xfrm>
            <a:off x="3336760" y="1928290"/>
            <a:ext cx="1507958" cy="66975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97997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F7FB087A-FE4B-4227-BAFC-20C1FAD33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250" y="2323322"/>
            <a:ext cx="5967170" cy="346165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0F363A0-9A42-43B2-AC98-D32961D79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031" y="2323323"/>
            <a:ext cx="5574798" cy="3461655"/>
          </a:xfrm>
          <a:prstGeom prst="rect">
            <a:avLst/>
          </a:prstGeom>
        </p:spPr>
      </p:pic>
      <p:sp>
        <p:nvSpPr>
          <p:cNvPr id="16" name="標題 1">
            <a:extLst>
              <a:ext uri="{FF2B5EF4-FFF2-40B4-BE49-F238E27FC236}">
                <a16:creationId xmlns:a16="http://schemas.microsoft.com/office/drawing/2014/main" id="{F2AEF7EB-48B2-42EF-BFEA-45AFF8315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102" y="337761"/>
            <a:ext cx="9837339" cy="781832"/>
          </a:xfrm>
        </p:spPr>
        <p:txBody>
          <a:bodyPr>
            <a:normAutofit/>
          </a:bodyPr>
          <a:lstStyle/>
          <a:p>
            <a:r>
              <a:rPr lang="en-US" altLang="zh-TW" dirty="0"/>
              <a:t>2</a:t>
            </a:r>
            <a:r>
              <a:rPr lang="zh-TW" altLang="en-US" dirty="0"/>
              <a:t> </a:t>
            </a:r>
            <a:r>
              <a:rPr lang="en-US" altLang="zh-TW" dirty="0"/>
              <a:t>– layer feed forward networks (FFNs)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58899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BAA817E8-052E-4F11-AA1E-B6421AE214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02657"/>
            <a:ext cx="6578082" cy="438026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EBB5DBF-3993-4495-9114-41EDF5FB7275}"/>
              </a:ext>
            </a:extLst>
          </p:cNvPr>
          <p:cNvSpPr/>
          <p:nvPr/>
        </p:nvSpPr>
        <p:spPr>
          <a:xfrm>
            <a:off x="1778466" y="5085313"/>
            <a:ext cx="81177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AFN6</a:t>
            </a:r>
            <a:r>
              <a:rPr lang="zh-TW" altLang="en-US" dirty="0"/>
              <a:t>與正確答案之間的誤差為</a:t>
            </a:r>
            <a:r>
              <a:rPr lang="en-US" altLang="zh-TW" dirty="0"/>
              <a:t>Err6=AFn6*(1-AFn6)*(T-AFn6)</a:t>
            </a:r>
            <a:r>
              <a:rPr lang="zh-TW" altLang="en-US" dirty="0"/>
              <a:t>，</a:t>
            </a:r>
            <a:r>
              <a:rPr lang="en-US" altLang="zh-TW" dirty="0"/>
              <a:t>(</a:t>
            </a:r>
            <a:r>
              <a:rPr lang="zh-TW" altLang="en-US" dirty="0"/>
              <a:t>假設正確答案是</a:t>
            </a:r>
            <a:r>
              <a:rPr lang="en-US" altLang="zh-TW" dirty="0"/>
              <a:t>T)</a:t>
            </a:r>
            <a:r>
              <a:rPr lang="zh-TW" altLang="en-US" dirty="0"/>
              <a:t>。 </a:t>
            </a:r>
            <a:r>
              <a:rPr lang="en-US" altLang="zh-TW" dirty="0"/>
              <a:t>(</a:t>
            </a:r>
            <a:r>
              <a:rPr lang="zh-TW" altLang="en-US" dirty="0"/>
              <a:t>反向傳播算法</a:t>
            </a:r>
            <a:r>
              <a:rPr lang="en-US" altLang="zh-TW" dirty="0"/>
              <a:t>)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AF6F207-0F10-4A14-AEE9-670C3917F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397" y="572358"/>
            <a:ext cx="5467737" cy="362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525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F3D718-7348-43C3-AEE6-2E869318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796" y="486385"/>
            <a:ext cx="5484169" cy="89413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Auxiliary decoding losses</a:t>
            </a:r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4DD7165B-7545-43F8-8CB7-F7FBF6BE3155}"/>
              </a:ext>
            </a:extLst>
          </p:cNvPr>
          <p:cNvSpPr txBox="1">
            <a:spLocks/>
          </p:cNvSpPr>
          <p:nvPr/>
        </p:nvSpPr>
        <p:spPr>
          <a:xfrm>
            <a:off x="913774" y="2023145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67026E-A880-40F8-B7DA-35AB94E19BA2}"/>
              </a:ext>
            </a:extLst>
          </p:cNvPr>
          <p:cNvSpPr/>
          <p:nvPr/>
        </p:nvSpPr>
        <p:spPr>
          <a:xfrm>
            <a:off x="632597" y="1791169"/>
            <a:ext cx="106456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0">
              <a:spcAft>
                <a:spcPts val="0"/>
              </a:spcAft>
            </a:pP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作者發現，訓練過程中在解碼層中使用輔助損失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( Auxiliary loss )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非常有用，尤其是對於模型輸出每個物件的正確數量更有幫助。</a:t>
            </a:r>
            <a:endParaRPr lang="en-US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04800">
              <a:spcAft>
                <a:spcPts val="0"/>
              </a:spcAft>
            </a:pP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作者在每一個解碼層後加入了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FFNs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以及匈牙利損失。所有的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FFNs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均共享權重</a:t>
            </a:r>
            <a:r>
              <a:rPr lang="zh-TW" alt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，同時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也使用了額外的共享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Layer-Normalize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層來對於不同解碼層的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FFNs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輸入進行標準化。</a:t>
            </a:r>
          </a:p>
        </p:txBody>
      </p:sp>
    </p:spTree>
    <p:extLst>
      <p:ext uri="{BB962C8B-B14F-4D97-AF65-F5344CB8AC3E}">
        <p14:creationId xmlns:p14="http://schemas.microsoft.com/office/powerpoint/2010/main" val="2669783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F3D718-7348-43C3-AEE6-2E8693189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參考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A39285-3F56-4F13-97D6-19C7480AE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https://zhuanlan.zhihu.com/p/51631163</a:t>
            </a:r>
            <a:endParaRPr lang="en-US" altLang="zh-TW" dirty="0"/>
          </a:p>
          <a:p>
            <a:r>
              <a:rPr lang="en-US" altLang="zh-TW" dirty="0">
                <a:hlinkClick r:id="rId3"/>
              </a:rPr>
              <a:t>https://www.youtube.com/watch?v=ugWDIIOHtPA&amp;ab_channel=Hung-yiLee</a:t>
            </a:r>
            <a:endParaRPr lang="en-US" altLang="zh-TW" dirty="0"/>
          </a:p>
          <a:p>
            <a:r>
              <a:rPr lang="en-US" altLang="zh-TW" dirty="0"/>
              <a:t>https://xken831.pixnet.net/blog/post/459568282-%5Bmachine-learning%5D%5B%E9%A1%9E%E7%A5%9E%E7%B6%93%E7%B6%B2%E8%B7%AF%28neural-network%29%5D-%E9%A1%9E%E7%A5%9E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81407502"/>
      </p:ext>
    </p:extLst>
  </p:cSld>
  <p:clrMapOvr>
    <a:masterClrMapping/>
  </p:clrMapOvr>
</p:sld>
</file>

<file path=ppt/theme/theme1.xml><?xml version="1.0" encoding="utf-8"?>
<a:theme xmlns:a="http://schemas.openxmlformats.org/drawingml/2006/main" name="小水滴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小水滴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小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991</Words>
  <Application>Microsoft Office PowerPoint</Application>
  <PresentationFormat>寬螢幕</PresentationFormat>
  <Paragraphs>85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7" baseType="lpstr">
      <vt:lpstr>-apple-system</vt:lpstr>
      <vt:lpstr>montserrat-medium</vt:lpstr>
      <vt:lpstr>宋体</vt:lpstr>
      <vt:lpstr>新細明體</vt:lpstr>
      <vt:lpstr>Arial</vt:lpstr>
      <vt:lpstr>Calibri</vt:lpstr>
      <vt:lpstr>Cambria Math</vt:lpstr>
      <vt:lpstr>Poor Richard</vt:lpstr>
      <vt:lpstr>Times New Roman</vt:lpstr>
      <vt:lpstr>Tw Cen MT</vt:lpstr>
      <vt:lpstr>小水滴</vt:lpstr>
      <vt:lpstr>DETR Model</vt:lpstr>
      <vt:lpstr> Bipartite Graph(二分圖)</vt:lpstr>
      <vt:lpstr>Hungarian Algorithm(匈牙利算法)</vt:lpstr>
      <vt:lpstr>計算步驟</vt:lpstr>
      <vt:lpstr>計算步驟</vt:lpstr>
      <vt:lpstr>PowerPoint 簡報</vt:lpstr>
      <vt:lpstr>Object detection set prediction loss</vt:lpstr>
      <vt:lpstr>Bounding box loss</vt:lpstr>
      <vt:lpstr>DETR architecture</vt:lpstr>
      <vt:lpstr>Backbone(CNN+CAM)</vt:lpstr>
      <vt:lpstr>Transformer encoder-decoder</vt:lpstr>
      <vt:lpstr>Prediction feed-forward networks (FFNs)</vt:lpstr>
      <vt:lpstr>2 – layer feed forward networks (FFNs)</vt:lpstr>
      <vt:lpstr>PowerPoint 簡報</vt:lpstr>
      <vt:lpstr>Auxiliary decoding losses</vt:lpstr>
      <vt:lpstr>參考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DETR Model</dc:title>
  <dc:creator>Amber</dc:creator>
  <cp:lastModifiedBy>Amber</cp:lastModifiedBy>
  <cp:revision>156</cp:revision>
  <dcterms:created xsi:type="dcterms:W3CDTF">2021-02-03T08:07:19Z</dcterms:created>
  <dcterms:modified xsi:type="dcterms:W3CDTF">2021-02-04T13:00:02Z</dcterms:modified>
</cp:coreProperties>
</file>