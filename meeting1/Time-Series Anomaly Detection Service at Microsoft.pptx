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356" r:id="rId4"/>
    <p:sldId id="257" r:id="rId5"/>
    <p:sldId id="357" r:id="rId6"/>
    <p:sldId id="259" r:id="rId7"/>
    <p:sldId id="261" r:id="rId8"/>
    <p:sldId id="263" r:id="rId9"/>
    <p:sldId id="363" r:id="rId10"/>
    <p:sldId id="264" r:id="rId11"/>
    <p:sldId id="260" r:id="rId12"/>
    <p:sldId id="284" r:id="rId13"/>
    <p:sldId id="359" r:id="rId14"/>
    <p:sldId id="361" r:id="rId15"/>
    <p:sldId id="364" r:id="rId16"/>
    <p:sldId id="25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3113C-C966-442F-B677-A73D7D3A4D82}" type="datetimeFigureOut">
              <a:rPr lang="zh-TW" altLang="en-US" smtClean="0"/>
              <a:t>2021/1/28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6FAF2-C121-4284-A4AA-554F0956FC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62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4104B-6A54-4758-A514-BDB33F22A85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99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718936" y="2852936"/>
            <a:ext cx="10801146" cy="220824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814955" y="275692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45483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776469" y="4564592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854195" y="464232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348062" y="4721615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805445" y="519239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953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  <p:sldLayoutId id="2147483670" r:id="rId18"/>
    <p:sldLayoutId id="2147483671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mon108018/Machine-Learning/blob/master/meeting/Deep%20Learning%20%E7%94%A8Python%E9%80%B2%E8%A1%8C%E6%B7%B1%E5%BA%A6%E5%AD%B8%E7%BF%92%E7%9A%84%E5%9F%BA%E7%A4%8E%E7%90%86%E8%AB%96%E5%AF%A6%E4%BD%9C/Ch4.pptx" TargetMode="External"/><Relationship Id="rId2" Type="http://schemas.openxmlformats.org/officeDocument/2006/relationships/hyperlink" Target="https://github.com/simon108018/Machine-Learning/tree/master/meeting/Deep%20Learning%20%E7%94%A8Python%E9%80%B2%E8%A1%8C%E6%B7%B1%E5%BA%A6%E5%AD%B8%E7%BF%92%E7%9A%84%E5%9F%BA%E7%A4%8E%E7%90%86%E8%AB%96%E5%AF%A6%E4%BD%9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imon108018/Machine-Learning/blob/master/meeting/Deep%20Learning%20%E7%94%A8Python%E9%80%B2%E8%A1%8C%E6%B7%B1%E5%BA%A6%E5%AD%B8%E7%BF%92%E7%9A%84%E5%9F%BA%E7%A4%8E%E7%90%86%E8%AB%96%E5%AF%A6%E4%BD%9C/Ch7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37525C-082B-49BF-9A61-5A40F0994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6972" y="1871131"/>
            <a:ext cx="7491369" cy="1515533"/>
          </a:xfrm>
        </p:spPr>
        <p:txBody>
          <a:bodyPr/>
          <a:lstStyle/>
          <a:p>
            <a:r>
              <a:rPr lang="en-US" altLang="zh-TW" sz="4800" dirty="0"/>
              <a:t>Time-Series Anomaly Detection Service at Microsoft</a:t>
            </a:r>
            <a:endParaRPr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E820821-57AB-4BC1-8266-64C52D1FB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Author : </a:t>
            </a:r>
            <a:r>
              <a:rPr lang="en-US" altLang="zh-TW" dirty="0" err="1"/>
              <a:t>Hansheng</a:t>
            </a:r>
            <a:r>
              <a:rPr lang="en-US" altLang="zh-TW" dirty="0"/>
              <a:t> Ren, </a:t>
            </a:r>
            <a:r>
              <a:rPr lang="en-US" altLang="zh-TW" dirty="0" err="1"/>
              <a:t>Bixiong</a:t>
            </a:r>
            <a:r>
              <a:rPr lang="en-US" altLang="zh-TW" dirty="0"/>
              <a:t> Xu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455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>
          <a:xfrm>
            <a:off x="1295402" y="1015068"/>
            <a:ext cx="9601196" cy="952149"/>
          </a:xfrm>
        </p:spPr>
        <p:txBody>
          <a:bodyPr>
            <a:normAutofit/>
          </a:bodyPr>
          <a:lstStyle/>
          <a:p>
            <a:r>
              <a:rPr lang="en-US" altLang="ja-JP" sz="4800" dirty="0">
                <a:solidFill>
                  <a:schemeClr val="accent2"/>
                </a:solidFill>
                <a:latin typeface="Pyunji R" panose="02030504000101010101" pitchFamily="18" charset="-127"/>
                <a:ea typeface="Pyunji R" panose="02030504000101010101" pitchFamily="18" charset="-127"/>
              </a:rPr>
              <a:t>INTRODUCTION</a:t>
            </a:r>
            <a:endParaRPr lang="ja-JP" altLang="en-US" sz="4800" dirty="0">
              <a:solidFill>
                <a:schemeClr val="accent2"/>
              </a:solidFill>
              <a:latin typeface="Pyunji R" panose="02030504000101010101" pitchFamily="18" charset="-127"/>
              <a:ea typeface="Pyunji R" panose="02030504000101010101" pitchFamily="18" charset="-127"/>
            </a:endParaRP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4"/>
          </p:nvPr>
        </p:nvSpPr>
        <p:spPr>
          <a:xfrm>
            <a:off x="813341" y="2029401"/>
            <a:ext cx="10800209" cy="4079299"/>
          </a:xfrm>
        </p:spPr>
        <p:txBody>
          <a:bodyPr>
            <a:normAutofit/>
          </a:bodyPr>
          <a:lstStyle/>
          <a:p>
            <a:r>
              <a:rPr lang="en-US" altLang="zh-TW" sz="2133" dirty="0">
                <a:solidFill>
                  <a:schemeClr val="tx1"/>
                </a:solidFill>
              </a:rPr>
              <a:t>In this paper, we focus on the algorithm of our anomaly detection service specialized for time-series data, which is designed to be accurate, efficient and general. </a:t>
            </a:r>
          </a:p>
          <a:p>
            <a:pPr marL="0" indent="0">
              <a:buNone/>
            </a:pPr>
            <a:endParaRPr lang="en-US" altLang="zh-TW" sz="2133" dirty="0">
              <a:solidFill>
                <a:schemeClr val="tx1"/>
              </a:solidFill>
            </a:endParaRPr>
          </a:p>
          <a:p>
            <a:r>
              <a:rPr lang="en-US" altLang="zh-TW" sz="2133" dirty="0">
                <a:solidFill>
                  <a:schemeClr val="tx1"/>
                </a:solidFill>
              </a:rPr>
              <a:t>They propose a novel algorithm based on Spectral Residual (SR) and Convolutional Neural Network (CNN), and work the first attempt to borrow the SR model from visual saliency detection domain to time-series anomaly detection. we innovatively combine SR and CNN together to improve the performance of SR model.</a:t>
            </a:r>
          </a:p>
          <a:p>
            <a:endParaRPr lang="en-US" altLang="zh-TW" sz="2133" dirty="0">
              <a:solidFill>
                <a:schemeClr val="tx1"/>
              </a:solidFill>
            </a:endParaRPr>
          </a:p>
          <a:p>
            <a:endParaRPr lang="en-US" altLang="zh-TW" sz="2133" dirty="0">
              <a:solidFill>
                <a:schemeClr val="tx1"/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564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73"/>
    </mc:Choice>
    <mc:Fallback xmlns="">
      <p:transition advTm="40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56345" y="561586"/>
            <a:ext cx="10408216" cy="998564"/>
          </a:xfrm>
        </p:spPr>
        <p:txBody>
          <a:bodyPr>
            <a:normAutofit fontScale="90000"/>
          </a:bodyPr>
          <a:lstStyle/>
          <a:p>
            <a:r>
              <a:rPr lang="en-US" altLang="ja-JP" sz="3934" dirty="0">
                <a:solidFill>
                  <a:schemeClr val="accent2"/>
                </a:solidFill>
                <a:latin typeface="Pyunji R" panose="02030504000101010101" pitchFamily="18" charset="-127"/>
                <a:ea typeface="Pyunji R" panose="02030504000101010101" pitchFamily="18" charset="-127"/>
              </a:rPr>
              <a:t>Three of challenges in designing an industrial service for time-series anomaly detection</a:t>
            </a:r>
            <a:endParaRPr lang="ja-JP" altLang="en-US" sz="3934" dirty="0">
              <a:solidFill>
                <a:schemeClr val="accent2"/>
              </a:solidFill>
              <a:latin typeface="Pyunji R" panose="02030504000101010101" pitchFamily="18" charset="-127"/>
              <a:ea typeface="Pyunji R" panose="02030504000101010101" pitchFamily="18" charset="-127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/>
          </p:nvPr>
        </p:nvSpPr>
        <p:spPr>
          <a:xfrm>
            <a:off x="1348474" y="1687438"/>
            <a:ext cx="4951242" cy="526901"/>
          </a:xfrm>
        </p:spPr>
        <p:txBody>
          <a:bodyPr/>
          <a:lstStyle/>
          <a:p>
            <a:r>
              <a:rPr lang="en-US" altLang="ja-JP" dirty="0"/>
              <a:t>Challenge 1: Lack of Labels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4"/>
          </p:nvPr>
        </p:nvSpPr>
        <p:spPr>
          <a:xfrm>
            <a:off x="1806573" y="2214340"/>
            <a:ext cx="9292017" cy="950550"/>
          </a:xfrm>
        </p:spPr>
        <p:txBody>
          <a:bodyPr>
            <a:normAutofit/>
          </a:bodyPr>
          <a:lstStyle/>
          <a:p>
            <a:r>
              <a:rPr lang="en-US" altLang="ja-JP" sz="1600" b="1" dirty="0"/>
              <a:t>To provide anomaly detection services for a single business scenario, the system must process millions of time-series simultaneously. There is no easy way for users</a:t>
            </a:r>
            <a:r>
              <a:rPr lang="zh-TW" altLang="en-US" sz="1600" b="1" dirty="0"/>
              <a:t> </a:t>
            </a:r>
            <a:r>
              <a:rPr lang="en-US" altLang="ja-JP" sz="1600" b="1" dirty="0"/>
              <a:t>to label each time-series manually</a:t>
            </a:r>
            <a:endParaRPr lang="ja-JP" altLang="en-US" sz="1600" b="1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6"/>
          </p:nvPr>
        </p:nvSpPr>
        <p:spPr>
          <a:xfrm>
            <a:off x="1348062" y="3135957"/>
            <a:ext cx="4951672" cy="526901"/>
          </a:xfrm>
        </p:spPr>
        <p:txBody>
          <a:bodyPr/>
          <a:lstStyle/>
          <a:p>
            <a:r>
              <a:rPr lang="en-US" altLang="ja-JP" dirty="0"/>
              <a:t>Challenge 2: Generalization</a:t>
            </a:r>
            <a:endParaRPr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7"/>
          </p:nvPr>
        </p:nvSpPr>
        <p:spPr>
          <a:xfrm>
            <a:off x="1806572" y="3650016"/>
            <a:ext cx="9292017" cy="1071599"/>
          </a:xfrm>
        </p:spPr>
        <p:txBody>
          <a:bodyPr>
            <a:normAutofit/>
          </a:bodyPr>
          <a:lstStyle/>
          <a:p>
            <a:r>
              <a:rPr lang="en-US" altLang="ja-JP" sz="1600" b="1" dirty="0"/>
              <a:t>Various kinds of time-series from different business scenarios are required to be monitored. However, existing approaches are not generalized enough for different patterns. </a:t>
            </a:r>
            <a:endParaRPr lang="ja-JP" altLang="en-US" sz="1600" b="1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8"/>
          </p:nvPr>
        </p:nvSpPr>
        <p:spPr>
          <a:xfrm>
            <a:off x="1348062" y="4547994"/>
            <a:ext cx="4951672" cy="526901"/>
          </a:xfrm>
        </p:spPr>
        <p:txBody>
          <a:bodyPr/>
          <a:lstStyle/>
          <a:p>
            <a:r>
              <a:rPr lang="en-US" altLang="ja-JP" dirty="0"/>
              <a:t>Challenge 3: Efficiency</a:t>
            </a:r>
            <a:endParaRPr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9"/>
          </p:nvPr>
        </p:nvSpPr>
        <p:spPr>
          <a:xfrm>
            <a:off x="1806572" y="5080702"/>
            <a:ext cx="9292017" cy="1052097"/>
          </a:xfrm>
        </p:spPr>
        <p:txBody>
          <a:bodyPr>
            <a:normAutofit/>
          </a:bodyPr>
          <a:lstStyle/>
          <a:p>
            <a:r>
              <a:rPr lang="en-US" altLang="ja-JP" sz="1600" b="1" dirty="0"/>
              <a:t>In business applications, a monitoring system must process millions, even billions of time-series in</a:t>
            </a:r>
            <a:r>
              <a:rPr lang="zh-TW" altLang="en-US" sz="1600" b="1" dirty="0"/>
              <a:t> </a:t>
            </a:r>
            <a:r>
              <a:rPr lang="en-US" altLang="ja-JP" sz="1600" b="1" dirty="0"/>
              <a:t>near real time. </a:t>
            </a:r>
            <a:r>
              <a:rPr lang="en-US" altLang="zh-TW" sz="1600" b="1" dirty="0"/>
              <a:t>Especially for minute-level time-series, the anomaly detection procedure needs to be finished within limited time.</a:t>
            </a:r>
            <a:endParaRPr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34078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07"/>
    </mc:Choice>
    <mc:Fallback xmlns="">
      <p:transition advTm="83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7" grpId="0" build="p"/>
      <p:bldP spid="10" grpId="0" build="p"/>
      <p:bldP spid="8" grpId="0" build="p"/>
      <p:bldP spid="11" grpId="0" build="p"/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BB0E-2FCF-49AD-92EA-1B1577B0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時間序列的形式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21EA066-E452-478C-98ED-593EEB8CA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834" y="2557993"/>
            <a:ext cx="7862672" cy="3317875"/>
          </a:xfrm>
        </p:spPr>
      </p:pic>
    </p:spTree>
    <p:extLst>
      <p:ext uri="{BB962C8B-B14F-4D97-AF65-F5344CB8AC3E}">
        <p14:creationId xmlns:p14="http://schemas.microsoft.com/office/powerpoint/2010/main" val="267363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5DBAEF-E7CF-46D9-B4B5-944AAC06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845"/>
            <a:ext cx="9601196" cy="858415"/>
          </a:xfrm>
        </p:spPr>
        <p:txBody>
          <a:bodyPr/>
          <a:lstStyle/>
          <a:p>
            <a:r>
              <a:rPr lang="en-US" altLang="zh-TW" dirty="0"/>
              <a:t>System overview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1380232-7F63-4A0D-BFD7-BD28F6FD3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037" y="1316736"/>
            <a:ext cx="10319657" cy="4841467"/>
          </a:xfrm>
        </p:spPr>
      </p:pic>
    </p:spTree>
    <p:extLst>
      <p:ext uri="{BB962C8B-B14F-4D97-AF65-F5344CB8AC3E}">
        <p14:creationId xmlns:p14="http://schemas.microsoft.com/office/powerpoint/2010/main" val="296956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70E4C-86A7-47F9-B408-7603630C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05964"/>
            <a:ext cx="9601196" cy="947336"/>
          </a:xfrm>
        </p:spPr>
        <p:txBody>
          <a:bodyPr/>
          <a:lstStyle/>
          <a:p>
            <a:r>
              <a:rPr lang="en-US" altLang="zh-TW"/>
              <a:t>SR</a:t>
            </a:r>
            <a:r>
              <a:rPr lang="zh-TW" altLang="en-US"/>
              <a:t> </a:t>
            </a:r>
            <a:r>
              <a:rPr lang="en-US" altLang="zh-TW"/>
              <a:t>(Spectral Residual)</a:t>
            </a:r>
            <a:r>
              <a:rPr lang="zh-TW" altLang="en-US"/>
              <a:t> </a:t>
            </a:r>
            <a:r>
              <a:rPr lang="en-US" altLang="zh-TW"/>
              <a:t>algorithm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FBE2F-89E8-49C5-BDE5-5DE1E0DD85C4}"/>
              </a:ext>
            </a:extLst>
          </p:cNvPr>
          <p:cNvSpPr/>
          <p:nvPr/>
        </p:nvSpPr>
        <p:spPr>
          <a:xfrm>
            <a:off x="766149" y="4554601"/>
            <a:ext cx="3573710" cy="1652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第一步驟 使用傅立葉轉換，取得對數的振幅頻譜，也就是每個頻率的幅度。</a:t>
            </a:r>
            <a:endParaRPr lang="en-US" altLang="zh-TW" dirty="0"/>
          </a:p>
          <a:p>
            <a:r>
              <a:rPr lang="zh-TW" altLang="en-US" dirty="0"/>
              <a:t>第二步驟 計算這些公式</a:t>
            </a:r>
            <a:endParaRPr lang="en-US" altLang="zh-TW" dirty="0"/>
          </a:p>
          <a:p>
            <a:r>
              <a:rPr lang="zh-TW" altLang="en-US" dirty="0"/>
              <a:t>第三步驟 用反傅立葉轉換，將序列轉換為空間域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D4D413C-6680-446E-95B1-B28D51B6B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49" y="1824606"/>
            <a:ext cx="5329851" cy="2196360"/>
          </a:xfrm>
          <a:prstGeom prst="rect">
            <a:avLst/>
          </a:prstGeom>
        </p:spPr>
      </p:pic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13560660-7FFA-4CB6-B4E1-161FDC1BC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1303" y="3404143"/>
            <a:ext cx="5329851" cy="2438400"/>
          </a:xfrm>
        </p:spPr>
      </p:pic>
      <p:pic>
        <p:nvPicPr>
          <p:cNvPr id="6" name="內容版面配置區 3">
            <a:extLst>
              <a:ext uri="{FF2B5EF4-FFF2-40B4-BE49-F238E27FC236}">
                <a16:creationId xmlns:a16="http://schemas.microsoft.com/office/drawing/2014/main" id="{DE7C1884-6214-4B61-829A-989D0D4BF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440" y="1824606"/>
            <a:ext cx="34575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9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FAABBD-28FD-45D8-A3FD-45DBA8FE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</a:t>
            </a:r>
            <a:r>
              <a:rPr lang="zh-TW" altLang="en-US" dirty="0"/>
              <a:t>的圖像化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117B6D2-345A-4A70-8B2D-E4BA4AE17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355" y="2502569"/>
            <a:ext cx="8615289" cy="34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7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955EF-BAF7-40E2-937A-8F9B6002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</a:t>
            </a:r>
            <a:r>
              <a:rPr lang="en-US" altLang="zh-TW" dirty="0"/>
              <a:t>O(xi)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842AF35-0827-4EC6-A3C0-E20D8EB8E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8268" y="2752041"/>
            <a:ext cx="3533775" cy="1133475"/>
          </a:xfrm>
        </p:spPr>
      </p:pic>
    </p:spTree>
    <p:extLst>
      <p:ext uri="{BB962C8B-B14F-4D97-AF65-F5344CB8AC3E}">
        <p14:creationId xmlns:p14="http://schemas.microsoft.com/office/powerpoint/2010/main" val="431581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2D97C737-C2B5-4771-849F-5688FCE1DB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17229" y="1366359"/>
                <a:ext cx="10256239" cy="70048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TW" dirty="0"/>
                  <a:t>(</a:t>
                </a:r>
                <a:r>
                  <a:rPr lang="zh-TW" altLang="en-US" dirty="0"/>
                  <a:t>補充</a:t>
                </a:r>
                <a:r>
                  <a:rPr lang="en-US" altLang="zh-TW" dirty="0"/>
                  <a:t>)C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𝑜𝑛𝑣𝑜𝑙𝑢𝑡𝑖𝑜𝑛𝑎𝑙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𝑒𝑢𝑟𝑎𝑙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𝑒𝑡𝑤𝑜𝑟𝑘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𝐶𝑁𝑁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2D97C737-C2B5-4771-849F-5688FCE1D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7229" y="1366359"/>
                <a:ext cx="10256239" cy="700480"/>
              </a:xfrm>
              <a:blipFill>
                <a:blip r:embed="rId2"/>
                <a:stretch>
                  <a:fillRect l="-1010" t="-18261" b="-38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4BCC34-D456-4673-BAB9-B093AD1F7A3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79291" y="2489113"/>
                <a:ext cx="10363200" cy="1242391"/>
              </a:xfrm>
            </p:spPr>
            <p:txBody>
              <a:bodyPr/>
              <a:lstStyle/>
              <a:p>
                <a:r>
                  <a:rPr lang="zh-TW" altLang="en-US" dirty="0">
                    <a:latin typeface="+mj-ea"/>
                    <a:ea typeface="+mj-ea"/>
                  </a:rPr>
                  <a:t>使用於影像辨識、聲音辨識等各種情況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r>
                  <a:rPr lang="zh-TW" altLang="en-US" dirty="0">
                    <a:latin typeface="+mj-ea"/>
                    <a:ea typeface="+mj-ea"/>
                  </a:rPr>
                  <a:t>在視覺競賽中，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+mj-ea"/>
                      </a:rPr>
                      <m:t>𝐶𝑁𝑁</m:t>
                    </m:r>
                  </m:oMath>
                </a14:m>
                <a:r>
                  <a:rPr lang="zh-TW" altLang="en-US" dirty="0">
                    <a:latin typeface="+mj-ea"/>
                    <a:ea typeface="+mj-ea"/>
                  </a:rPr>
                  <a:t>為深度學習主流的使用手法</a:t>
                </a:r>
                <a:endParaRPr lang="en-US" altLang="zh-TW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4BCC34-D456-4673-BAB9-B093AD1F7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79291" y="2489113"/>
                <a:ext cx="10363200" cy="1242391"/>
              </a:xfrm>
              <a:blipFill>
                <a:blip r:embed="rId3"/>
                <a:stretch>
                  <a:fillRect l="-1059" t="-63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7C8ECD24-4E4B-47C9-81F0-C9939E3894DC}"/>
              </a:ext>
            </a:extLst>
          </p:cNvPr>
          <p:cNvGrpSpPr/>
          <p:nvPr/>
        </p:nvGrpSpPr>
        <p:grpSpPr>
          <a:xfrm>
            <a:off x="1973358" y="3731504"/>
            <a:ext cx="7792278" cy="2216429"/>
            <a:chOff x="2044700" y="2963260"/>
            <a:chExt cx="7792278" cy="2216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F3663DE-0014-49EE-A6EE-AC84CDF151C9}"/>
                    </a:ext>
                  </a:extLst>
                </p:cNvPr>
                <p:cNvSpPr/>
                <p:nvPr/>
              </p:nvSpPr>
              <p:spPr>
                <a:xfrm>
                  <a:off x="2044700" y="2963260"/>
                  <a:ext cx="1961322" cy="73881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𝐶𝑜𝑛𝑣𝑜𝑙𝑢𝑡𝑖𝑜𝑛</m:t>
                      </m:r>
                    </m:oMath>
                  </a14:m>
                  <a:r>
                    <a:rPr lang="zh-TW" altLang="en-US" sz="2000" dirty="0"/>
                    <a:t>層</a:t>
                  </a:r>
                  <a:endParaRPr lang="en-US" altLang="zh-TW" sz="2000" dirty="0"/>
                </a:p>
                <a:p>
                  <a:pPr algn="ctr"/>
                  <a:r>
                    <a:rPr lang="en-US" altLang="zh-TW" sz="2000" dirty="0"/>
                    <a:t>(</a:t>
                  </a:r>
                  <a:r>
                    <a:rPr lang="zh-TW" altLang="en-US" sz="2000" dirty="0"/>
                    <a:t>卷積層</a:t>
                  </a:r>
                  <a:r>
                    <a:rPr lang="en-US" altLang="zh-TW" sz="2000" dirty="0"/>
                    <a:t>)</a:t>
                  </a:r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F3663DE-0014-49EE-A6EE-AC84CDF15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700" y="2963260"/>
                  <a:ext cx="1961322" cy="738810"/>
                </a:xfrm>
                <a:prstGeom prst="rect">
                  <a:avLst/>
                </a:prstGeom>
                <a:blipFill>
                  <a:blip r:embed="rId4"/>
                  <a:stretch>
                    <a:fillRect t="-4098" b="-139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304D6CA-19E7-4214-9A1C-FA0492DAA41D}"/>
                    </a:ext>
                  </a:extLst>
                </p:cNvPr>
                <p:cNvSpPr/>
                <p:nvPr/>
              </p:nvSpPr>
              <p:spPr>
                <a:xfrm>
                  <a:off x="4960178" y="2963260"/>
                  <a:ext cx="1961322" cy="73881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𝑜𝑜𝑙𝑖𝑛𝑔</m:t>
                      </m:r>
                    </m:oMath>
                  </a14:m>
                  <a:r>
                    <a:rPr lang="zh-TW" altLang="en-US" sz="2000" dirty="0"/>
                    <a:t>層</a:t>
                  </a:r>
                  <a:endParaRPr lang="en-US" altLang="zh-TW" sz="2000" dirty="0"/>
                </a:p>
                <a:p>
                  <a:pPr algn="ctr"/>
                  <a:r>
                    <a:rPr lang="en-US" altLang="zh-TW" sz="2000" dirty="0"/>
                    <a:t>(</a:t>
                  </a:r>
                  <a:r>
                    <a:rPr lang="zh-TW" altLang="en-US" sz="2000" dirty="0"/>
                    <a:t>池化層</a:t>
                  </a:r>
                  <a:r>
                    <a:rPr lang="en-US" altLang="zh-TW" sz="2000" dirty="0"/>
                    <a:t>)</a:t>
                  </a:r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304D6CA-19E7-4214-9A1C-FA0492DAA4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0178" y="2963260"/>
                  <a:ext cx="1961322" cy="738810"/>
                </a:xfrm>
                <a:prstGeom prst="rect">
                  <a:avLst/>
                </a:prstGeom>
                <a:blipFill>
                  <a:blip r:embed="rId5"/>
                  <a:stretch>
                    <a:fillRect t="-4098" b="-139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96D9B89-C4BC-4581-A20A-B8253AB948DE}"/>
                </a:ext>
              </a:extLst>
            </p:cNvPr>
            <p:cNvSpPr/>
            <p:nvPr/>
          </p:nvSpPr>
          <p:spPr>
            <a:xfrm>
              <a:off x="7875656" y="2963260"/>
              <a:ext cx="1961322" cy="73881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dirty="0"/>
                <a:t>神經網路結構</a:t>
              </a:r>
            </a:p>
          </p:txBody>
        </p:sp>
        <p:sp>
          <p:nvSpPr>
            <p:cNvPr id="10" name="十字形 9">
              <a:extLst>
                <a:ext uri="{FF2B5EF4-FFF2-40B4-BE49-F238E27FC236}">
                  <a16:creationId xmlns:a16="http://schemas.microsoft.com/office/drawing/2014/main" id="{E68E5950-CB24-4380-81DB-B4391E858E71}"/>
                </a:ext>
              </a:extLst>
            </p:cNvPr>
            <p:cNvSpPr/>
            <p:nvPr/>
          </p:nvSpPr>
          <p:spPr>
            <a:xfrm>
              <a:off x="4303100" y="3152665"/>
              <a:ext cx="360000" cy="360000"/>
            </a:xfrm>
            <a:prstGeom prst="plus">
              <a:avLst>
                <a:gd name="adj" fmla="val 434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十字形 10">
              <a:extLst>
                <a:ext uri="{FF2B5EF4-FFF2-40B4-BE49-F238E27FC236}">
                  <a16:creationId xmlns:a16="http://schemas.microsoft.com/office/drawing/2014/main" id="{349DC229-BEC5-42C2-B083-8B43C0746966}"/>
                </a:ext>
              </a:extLst>
            </p:cNvPr>
            <p:cNvSpPr/>
            <p:nvPr/>
          </p:nvSpPr>
          <p:spPr>
            <a:xfrm>
              <a:off x="7218578" y="3152665"/>
              <a:ext cx="360000" cy="360000"/>
            </a:xfrm>
            <a:prstGeom prst="plus">
              <a:avLst>
                <a:gd name="adj" fmla="val 434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  <p:sp>
          <p:nvSpPr>
            <p:cNvPr id="12" name="左大括弧 11">
              <a:extLst>
                <a:ext uri="{FF2B5EF4-FFF2-40B4-BE49-F238E27FC236}">
                  <a16:creationId xmlns:a16="http://schemas.microsoft.com/office/drawing/2014/main" id="{017FE70B-EA35-4B3B-86BB-A2C526CC695A}"/>
                </a:ext>
              </a:extLst>
            </p:cNvPr>
            <p:cNvSpPr/>
            <p:nvPr/>
          </p:nvSpPr>
          <p:spPr>
            <a:xfrm rot="16200000">
              <a:off x="5760839" y="259552"/>
              <a:ext cx="360000" cy="7456516"/>
            </a:xfrm>
            <a:prstGeom prst="leftBrace">
              <a:avLst>
                <a:gd name="adj1" fmla="val 36555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88BBC6AE-0705-4C6C-AD43-0122CC3EF011}"/>
                    </a:ext>
                  </a:extLst>
                </p:cNvPr>
                <p:cNvSpPr/>
                <p:nvPr/>
              </p:nvSpPr>
              <p:spPr>
                <a:xfrm>
                  <a:off x="4960178" y="4440879"/>
                  <a:ext cx="1961322" cy="73881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𝐶𝑁𝑁</m:t>
                      </m:r>
                    </m:oMath>
                  </a14:m>
                  <a:r>
                    <a:rPr lang="zh-TW" altLang="en-US" sz="2000" dirty="0"/>
                    <a:t>結構</a:t>
                  </a:r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88BBC6AE-0705-4C6C-AD43-0122CC3EF0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0178" y="4440879"/>
                  <a:ext cx="1961322" cy="7388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9702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99160-69CB-46CB-9D71-52C25B80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SR+CNN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452DD6B-72A1-48FE-9A4F-E03D09488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043" y="2604053"/>
            <a:ext cx="3238500" cy="590550"/>
          </a:xfrm>
        </p:spPr>
      </p:pic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7846D7F7-1A00-4517-BD60-0D15F1BD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43" y="3331749"/>
            <a:ext cx="9601200" cy="24805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44779A7-3EC7-4161-B347-AFFE6ECB7966}"/>
              </a:ext>
            </a:extLst>
          </p:cNvPr>
          <p:cNvSpPr/>
          <p:nvPr/>
        </p:nvSpPr>
        <p:spPr>
          <a:xfrm>
            <a:off x="4622334" y="2604053"/>
            <a:ext cx="3506598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標籤</a:t>
            </a:r>
            <a:r>
              <a:rPr lang="zh-TW" altLang="en-US"/>
              <a:t>依靠這個公式模擬</a:t>
            </a:r>
            <a:r>
              <a:rPr lang="zh-TW" altLang="en-US" dirty="0"/>
              <a:t>產生</a:t>
            </a:r>
          </a:p>
        </p:txBody>
      </p:sp>
    </p:spTree>
    <p:extLst>
      <p:ext uri="{BB962C8B-B14F-4D97-AF65-F5344CB8AC3E}">
        <p14:creationId xmlns:p14="http://schemas.microsoft.com/office/powerpoint/2010/main" val="306517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328D7E3-6FE2-4174-80C9-ED41DAA608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882408" y="886433"/>
                <a:ext cx="6427183" cy="114300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補充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𝑆𝑖𝑔𝑚𝑜𝑖𝑑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328D7E3-6FE2-4174-80C9-ED41DAA60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82408" y="886433"/>
                <a:ext cx="6427183" cy="1143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D09441AD-A3EA-46FF-86EE-CD1196AE21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38582" y="2580563"/>
                <a:ext cx="2923557" cy="8484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wrap="none">
                <a:sp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D09441AD-A3EA-46FF-86EE-CD1196AE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582" y="2580563"/>
                <a:ext cx="2923557" cy="848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A36868B0-5A57-46D2-B1D3-E9FCAB91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811" y="3607967"/>
            <a:ext cx="4955097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75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3AA91B7-6DBF-4E31-B30F-56F1DF3BB9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41694" y="545973"/>
                <a:ext cx="9829101" cy="117148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(</a:t>
                </a:r>
                <a:r>
                  <a:rPr lang="zh-TW" altLang="en-US" dirty="0"/>
                  <a:t>補充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交叉熵誤差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𝑐𝑟𝑜𝑠𝑠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𝑒𝑛𝑡𝑟𝑜𝑝𝑦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𝑒𝑟𝑟𝑜𝑟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3AA91B7-6DBF-4E31-B30F-56F1DF3BB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1694" y="545973"/>
                <a:ext cx="9829101" cy="1171481"/>
              </a:xfrm>
              <a:blipFill>
                <a:blip r:embed="rId3"/>
                <a:stretch>
                  <a:fillRect l="-2171" r="-2233" b="-78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2C2DDCBD-F6DC-4ECA-A129-C1964D815A3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974282" y="1451408"/>
                <a:ext cx="3201798" cy="114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2C2DDCBD-F6DC-4ECA-A129-C1964D815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974282" y="1451408"/>
                <a:ext cx="3201798" cy="11430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B1CB0253-4F1A-4474-8174-840DF67D8D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2296" y="2594408"/>
                <a:ext cx="5070448" cy="148834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 神經網路的輸出機率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訓練資料</a:t>
                </a:r>
                <a:r>
                  <a:rPr lang="en-US" altLang="zh-TW" dirty="0"/>
                  <a:t>(one-hot)</a:t>
                </a:r>
              </a:p>
              <a:p>
                <a:pPr marL="0" indent="0">
                  <a:buFont typeface="Wingdings 2"/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   :</a:t>
                </a:r>
                <a:r>
                  <a:rPr lang="zh-TW" altLang="en-US" dirty="0"/>
                  <a:t> 資料的維度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B1CB0253-4F1A-4474-8174-840DF67D8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296" y="2594408"/>
                <a:ext cx="5070448" cy="1488346"/>
              </a:xfrm>
              <a:prstGeom prst="rect">
                <a:avLst/>
              </a:prstGeom>
              <a:blipFill>
                <a:blip r:embed="rId5"/>
                <a:stretch>
                  <a:fillRect t="-4918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F4C4023-0044-46F6-8AAC-C4700F7C84C7}"/>
              </a:ext>
            </a:extLst>
          </p:cNvPr>
          <p:cNvSpPr txBox="1"/>
          <p:nvPr/>
        </p:nvSpPr>
        <p:spPr>
          <a:xfrm>
            <a:off x="2208231" y="43950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標籤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BD5E0A-02A5-4C1A-9A70-CBA0DDE47AD5}"/>
              </a:ext>
            </a:extLst>
          </p:cNvPr>
          <p:cNvSpPr txBox="1"/>
          <p:nvPr/>
        </p:nvSpPr>
        <p:spPr>
          <a:xfrm>
            <a:off x="1602296" y="476397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</a:t>
            </a:r>
            <a:r>
              <a:rPr lang="en-US" altLang="zh-TW" dirty="0"/>
              <a:t>(</a:t>
            </a:r>
            <a:r>
              <a:rPr lang="zh-TW" altLang="en-US" dirty="0"/>
              <a:t>機率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76D0D785-4CD2-49F0-A757-1513677FD0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3073" y="5150088"/>
                <a:ext cx="5980029" cy="962308"/>
              </a:xfrm>
              <a:prstGeom prst="rect">
                <a:avLst/>
              </a:prstGeom>
            </p:spPr>
            <p:txBody>
              <a:bodyPr vert="horz">
                <a:normAutofit fontScale="85000" lnSpcReduction="10000"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=0.51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76D0D785-4CD2-49F0-A757-1513677FD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73" y="5150088"/>
                <a:ext cx="5980029" cy="9623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>
            <a:extLst>
              <a:ext uri="{FF2B5EF4-FFF2-40B4-BE49-F238E27FC236}">
                <a16:creationId xmlns:a16="http://schemas.microsoft.com/office/drawing/2014/main" id="{5DEC2DC9-5270-4865-A361-0AC5B221B0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4562" y="4467732"/>
            <a:ext cx="6183993" cy="563226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73A89B2-BA23-4D69-AEC5-33B6AFBCD210}"/>
              </a:ext>
            </a:extLst>
          </p:cNvPr>
          <p:cNvSpPr/>
          <p:nvPr/>
        </p:nvSpPr>
        <p:spPr>
          <a:xfrm>
            <a:off x="1602296" y="4411876"/>
            <a:ext cx="7533335" cy="168374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692E393-1D06-4CA9-8FF2-A64630DF3AB3}"/>
              </a:ext>
            </a:extLst>
          </p:cNvPr>
          <p:cNvSpPr/>
          <p:nvPr/>
        </p:nvSpPr>
        <p:spPr>
          <a:xfrm>
            <a:off x="4548838" y="4700328"/>
            <a:ext cx="454588" cy="4098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38B9664-1BEF-4048-91FE-5E4711ED5D83}"/>
              </a:ext>
            </a:extLst>
          </p:cNvPr>
          <p:cNvSpPr/>
          <p:nvPr/>
        </p:nvSpPr>
        <p:spPr>
          <a:xfrm>
            <a:off x="3988802" y="4467732"/>
            <a:ext cx="297436" cy="3128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C573C4-E5C3-4E9C-A2CC-E2372C2C1979}"/>
              </a:ext>
            </a:extLst>
          </p:cNvPr>
          <p:cNvSpPr/>
          <p:nvPr/>
        </p:nvSpPr>
        <p:spPr>
          <a:xfrm>
            <a:off x="6096000" y="5368031"/>
            <a:ext cx="454588" cy="4098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7385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C7C6C8-F97A-4CB9-9A3A-B8B34442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96" y="670765"/>
            <a:ext cx="9601196" cy="62273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Result-real data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516C4E7-DCBE-497F-BC05-6EA346AB0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025" y="1441538"/>
            <a:ext cx="8393770" cy="4547499"/>
          </a:xfrm>
        </p:spPr>
      </p:pic>
    </p:spTree>
    <p:extLst>
      <p:ext uri="{BB962C8B-B14F-4D97-AF65-F5344CB8AC3E}">
        <p14:creationId xmlns:p14="http://schemas.microsoft.com/office/powerpoint/2010/main" val="341126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C7C6C8-F97A-4CB9-9A3A-B8B34442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96" y="670765"/>
            <a:ext cx="9601196" cy="62273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Result-synthetic data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84FBD2-8F54-4E6B-982B-1A9975C3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033" y="1386804"/>
            <a:ext cx="8696780" cy="43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6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71A6E-D0A1-4C47-BF3B-3D8FE0FB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/>
              <a:t> </a:t>
            </a:r>
            <a:r>
              <a:rPr lang="en-US" altLang="zh-TW"/>
              <a:t>Future </a:t>
            </a:r>
            <a:r>
              <a:rPr lang="en-US" altLang="zh-TW" dirty="0"/>
              <a:t>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C4AB86-C79C-4D9B-A180-C622320B8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38399"/>
            <a:ext cx="9601196" cy="3818021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該論文介紹的時間序列異常檢測方法，在微軟內部已經被廣泛使用，且生產中每分鐘最多可以檢測到</a:t>
            </a:r>
            <a:r>
              <a:rPr lang="en-US" altLang="zh-TW" dirty="0"/>
              <a:t>400</a:t>
            </a:r>
            <a:r>
              <a:rPr lang="zh-TW" altLang="en-US" dirty="0"/>
              <a:t>萬個時間序列中的異常情況，這代表論文提出的</a:t>
            </a:r>
            <a:r>
              <a:rPr lang="en-US" altLang="zh-TW" dirty="0"/>
              <a:t>SR(</a:t>
            </a:r>
            <a:r>
              <a:rPr lang="zh-TW" altLang="en-US" dirty="0"/>
              <a:t>光譜殘差</a:t>
            </a:r>
            <a:r>
              <a:rPr lang="en-US" altLang="zh-TW" dirty="0"/>
              <a:t>)+CNN(</a:t>
            </a:r>
            <a:r>
              <a:rPr lang="zh-TW" altLang="en-US" dirty="0"/>
              <a:t>卷積神經網路</a:t>
            </a:r>
            <a:r>
              <a:rPr lang="en-US" altLang="zh-TW" dirty="0"/>
              <a:t>)</a:t>
            </a:r>
            <a:r>
              <a:rPr lang="zh-TW" altLang="en-US" dirty="0"/>
              <a:t>是一個創新且可行的檢測方法。</a:t>
            </a:r>
            <a:endParaRPr lang="en-US" altLang="zh-TW" dirty="0"/>
          </a:p>
          <a:p>
            <a:r>
              <a:rPr lang="zh-TW" altLang="en-US" dirty="0"/>
              <a:t>作者希望除了微軟內部能使用外，不久的將來能在</a:t>
            </a:r>
            <a:r>
              <a:rPr lang="en-US" altLang="zh-TW" dirty="0"/>
              <a:t>Microsoft Azure</a:t>
            </a:r>
            <a:r>
              <a:rPr lang="zh-TW" altLang="en-US" dirty="0"/>
              <a:t>上向他們的客戶推廣這項新穎的時間序列異常檢測服務，提供客戶一個新的選擇。</a:t>
            </a:r>
            <a:endParaRPr lang="en-US" altLang="zh-TW" dirty="0"/>
          </a:p>
          <a:p>
            <a:r>
              <a:rPr lang="en-US" altLang="zh-TW" sz="2200" dirty="0"/>
              <a:t>(</a:t>
            </a:r>
            <a:r>
              <a:rPr lang="zh-TW" altLang="en-US" sz="2200" dirty="0"/>
              <a:t>註</a:t>
            </a:r>
            <a:r>
              <a:rPr lang="en-US" altLang="zh-TW" sz="2200" dirty="0"/>
              <a:t>)</a:t>
            </a:r>
            <a:r>
              <a:rPr lang="zh-TW" altLang="en-US" sz="2200" dirty="0"/>
              <a:t> </a:t>
            </a:r>
            <a:r>
              <a:rPr lang="en-US" altLang="zh-TW" sz="2200" dirty="0"/>
              <a:t>Microsoft Azure </a:t>
            </a:r>
            <a:r>
              <a:rPr lang="zh-TW" altLang="en-US" sz="2200" dirty="0"/>
              <a:t>雲端平台提供專為協助您實現新解決方案而設計的 </a:t>
            </a:r>
            <a:r>
              <a:rPr lang="en-US" altLang="zh-TW" sz="2200" dirty="0"/>
              <a:t>200 </a:t>
            </a:r>
            <a:r>
              <a:rPr lang="zh-TW" altLang="en-US" sz="2200" dirty="0"/>
              <a:t>多項產品和雲端服務，以解決現今的挑戰並創造未來。使用自選工具與架構，在多個雲端、內部部署和邊緣建置、執行及管理應用程式。</a:t>
            </a:r>
          </a:p>
        </p:txBody>
      </p:sp>
    </p:spTree>
    <p:extLst>
      <p:ext uri="{BB962C8B-B14F-4D97-AF65-F5344CB8AC3E}">
        <p14:creationId xmlns:p14="http://schemas.microsoft.com/office/powerpoint/2010/main" val="267767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9A09DE-07BF-4331-BC84-66892F1B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708FDF-5D01-4176-8EF6-41D088DD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1400" dirty="0">
                <a:solidFill>
                  <a:schemeClr val="tx1"/>
                </a:solidFill>
              </a:rPr>
              <a:t>Time-Series Anomaly Detection Service at Microsoft</a:t>
            </a:r>
          </a:p>
          <a:p>
            <a:r>
              <a:rPr lang="en-US" altLang="zh-TW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 </a:t>
            </a:r>
            <a:r>
              <a:rPr lang="zh-TW" alt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用</a:t>
            </a:r>
            <a:r>
              <a:rPr lang="en-US" altLang="zh-TW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zh-TW" alt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進行深度學習的基礎理論實作</a:t>
            </a:r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https://github.com/simon108018/Machine-Learning/blob/master/meeting/Deep%20Learning%20%E7%94%A8Python%E9%80%B2%E8%A1%8C%E6%B7%B1%E5%BA%A6%E5%AD%B8%E7%BF%92%E7%9A%84%E5%9F%BA%E7%A4%8E%E7%90%86%E8%AB%96%E5%AF%A6%E4%BD%9C/Ch4.pptx</a:t>
            </a:r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https://github.com/simon108018/Machine-Learning/blob/master/meeting/Deep%20Learning%20%E7%94%A8Python%E9%80%B2%E8%A1%8C%E6%B7%B1%E5%BA%A6%E5%AD%B8%E7%BF%92%E7%9A%84%E5%9F%BA%E7%A4%8E%E7%90%86%E8%AB%96%E5%AF%A6%E4%BD%9C/Ch7.pptx</a:t>
            </a:r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</a:rPr>
              <a:t>https://www.miniasp.com/microsoft_azure.html#:~:text=Azure%20%E6%98%AF%E9%96%8B%E6%94%BE%E4%B8%94%E5%BD%88%E6%80%A7,%E7%9A%84IT%20%E7%92%B0%E5%A2%83%E9%80%B2%E8%A1%8C%E6%95%B4%E5%90%88%E3%80%82&amp;text=Azure%20%E6%8F%90%E4%BE%9B%E5%85%A7%E5%BB%BA%E8%BB%9F%E9%AB%94,%E5%B9%B3%E8%A1%A1%EF%BC%8C%E4%BB%A5%E5%8F%8A%E9%AB%98%E5%8F%AF%E7%94%A8%E6%80%A7%E5%8A%9F%E8%83%BD%E3%80%82</a:t>
            </a:r>
          </a:p>
          <a:p>
            <a:endParaRPr lang="en-US" altLang="zh-TW" sz="1400" dirty="0">
              <a:solidFill>
                <a:schemeClr val="tx1"/>
              </a:solidFill>
            </a:endParaRPr>
          </a:p>
          <a:p>
            <a:endParaRPr lang="en-US" altLang="zh-TW" dirty="0"/>
          </a:p>
          <a:p>
            <a:endParaRPr lang="en-US" altLang="zh-TW" sz="1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820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405</TotalTime>
  <Words>943</Words>
  <Application>Microsoft Office PowerPoint</Application>
  <PresentationFormat>寬螢幕</PresentationFormat>
  <Paragraphs>59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9" baseType="lpstr">
      <vt:lpstr>ＭＳ Ｐゴシック</vt:lpstr>
      <vt:lpstr>ＭＳ Ｐ明朝</vt:lpstr>
      <vt:lpstr>Open Sans Light</vt:lpstr>
      <vt:lpstr>Pyunji R</vt:lpstr>
      <vt:lpstr>Route 159 SemiBold</vt:lpstr>
      <vt:lpstr>微軟正黑體</vt:lpstr>
      <vt:lpstr>新細明體</vt:lpstr>
      <vt:lpstr>Arial</vt:lpstr>
      <vt:lpstr>Calibri</vt:lpstr>
      <vt:lpstr>Cambria Math</vt:lpstr>
      <vt:lpstr>Garamond</vt:lpstr>
      <vt:lpstr>Wingdings 2</vt:lpstr>
      <vt:lpstr>有機</vt:lpstr>
      <vt:lpstr>Time-Series Anomaly Detection Service at Microsoft</vt:lpstr>
      <vt:lpstr>INTRODUCTION</vt:lpstr>
      <vt:lpstr>Three of challenges in designing an industrial service for time-series anomaly detection</vt:lpstr>
      <vt:lpstr>時間序列的形式</vt:lpstr>
      <vt:lpstr>System overview</vt:lpstr>
      <vt:lpstr>SR (Spectral Residual) algorithm</vt:lpstr>
      <vt:lpstr>SR的圖像化</vt:lpstr>
      <vt:lpstr>序列O(xi)</vt:lpstr>
      <vt:lpstr>(補充)Convolutional Neural Network(CNN)</vt:lpstr>
      <vt:lpstr>SR+CNN</vt:lpstr>
      <vt:lpstr>(補充)Sigmoid function</vt:lpstr>
      <vt:lpstr>(補充)交叉熵誤差(cross entropy error)</vt:lpstr>
      <vt:lpstr>Result-real data</vt:lpstr>
      <vt:lpstr>Result-synthetic data</vt:lpstr>
      <vt:lpstr>Conclusion &amp; Future work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Anomaly Detection Service at Microsoft</dc:title>
  <dc:creator>Amber</dc:creator>
  <cp:lastModifiedBy>Amber</cp:lastModifiedBy>
  <cp:revision>89</cp:revision>
  <dcterms:created xsi:type="dcterms:W3CDTF">2021-01-26T02:31:00Z</dcterms:created>
  <dcterms:modified xsi:type="dcterms:W3CDTF">2021-01-28T08:17:02Z</dcterms:modified>
</cp:coreProperties>
</file>