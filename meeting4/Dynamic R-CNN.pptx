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2" r:id="rId6"/>
    <p:sldId id="269" r:id="rId7"/>
    <p:sldId id="266" r:id="rId8"/>
    <p:sldId id="264" r:id="rId9"/>
    <p:sldId id="265" r:id="rId10"/>
    <p:sldId id="268" r:id="rId11"/>
    <p:sldId id="270" r:id="rId12"/>
    <p:sldId id="267" r:id="rId13"/>
    <p:sldId id="273" r:id="rId14"/>
    <p:sldId id="272" r:id="rId15"/>
    <p:sldId id="271" r:id="rId16"/>
    <p:sldId id="275" r:id="rId17"/>
    <p:sldId id="274" r:id="rId18"/>
    <p:sldId id="25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TW" altLang="en-US"/>
              <a:t>按一下以編輯母片標題樣式</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a:xfrm>
            <a:off x="2692397" y="5037663"/>
            <a:ext cx="5214635" cy="279400"/>
          </a:xfrm>
        </p:spPr>
        <p:txBody>
          <a:bodyPr/>
          <a:lstStyle/>
          <a:p>
            <a:endParaRPr lang="zh-TW" altLang="en-US"/>
          </a:p>
        </p:txBody>
      </p:sp>
      <p:sp>
        <p:nvSpPr>
          <p:cNvPr id="6" name="Slide Number Placeholder 5"/>
          <p:cNvSpPr>
            <a:spLocks noGrp="1"/>
          </p:cNvSpPr>
          <p:nvPr>
            <p:ph type="sldNum" sz="quarter" idx="12"/>
          </p:nvPr>
        </p:nvSpPr>
        <p:spPr>
          <a:xfrm>
            <a:off x="8956900" y="5037663"/>
            <a:ext cx="551167" cy="279400"/>
          </a:xfrm>
        </p:spPr>
        <p:txBody>
          <a:bodyPr/>
          <a:lstStyle/>
          <a:p>
            <a:fld id="{4A8EDD30-3CC8-42F5-BFF4-FEEB44D51FFA}" type="slidenum">
              <a:rPr lang="zh-TW" altLang="en-US" smtClean="0"/>
              <a:t>‹#›</a:t>
            </a:fld>
            <a:endParaRPr lang="zh-TW"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8778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spTree>
    <p:extLst>
      <p:ext uri="{BB962C8B-B14F-4D97-AF65-F5344CB8AC3E}">
        <p14:creationId xmlns:p14="http://schemas.microsoft.com/office/powerpoint/2010/main" val="1246688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8437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4A8EDD30-3CC8-42F5-BFF4-FEEB44D51FFA}" type="slidenum">
              <a:rPr lang="zh-TW" altLang="en-US" smtClean="0"/>
              <a:t>‹#›</a:t>
            </a:fld>
            <a:endParaRPr lang="zh-TW" altLang="en-US"/>
          </a:p>
        </p:txBody>
      </p:sp>
    </p:spTree>
    <p:extLst>
      <p:ext uri="{BB962C8B-B14F-4D97-AF65-F5344CB8AC3E}">
        <p14:creationId xmlns:p14="http://schemas.microsoft.com/office/powerpoint/2010/main" val="344846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4A8EDD30-3CC8-42F5-BFF4-FEEB44D51FFA}" type="slidenum">
              <a:rPr lang="zh-TW" altLang="en-US" smtClean="0"/>
              <a:t>‹#›</a:t>
            </a:fld>
            <a:endParaRPr lang="zh-TW"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7855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4A8EDD30-3CC8-42F5-BFF4-FEEB44D51FFA}" type="slidenum">
              <a:rPr lang="zh-TW" altLang="en-US" smtClean="0"/>
              <a:t>‹#›</a:t>
            </a:fld>
            <a:endParaRPr lang="zh-TW"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7120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4A8EDD30-3CC8-42F5-BFF4-FEEB44D51FFA}" type="slidenum">
              <a:rPr lang="zh-TW" altLang="en-US" smtClean="0"/>
              <a:t>‹#›</a:t>
            </a:fld>
            <a:endParaRPr lang="zh-TW" altLang="en-US"/>
          </a:p>
        </p:txBody>
      </p:sp>
    </p:spTree>
    <p:extLst>
      <p:ext uri="{BB962C8B-B14F-4D97-AF65-F5344CB8AC3E}">
        <p14:creationId xmlns:p14="http://schemas.microsoft.com/office/powerpoint/2010/main" val="1610404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TW" altLang="en-US"/>
              <a:t>按一下以編輯母片標題樣式</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4A8EDD30-3CC8-42F5-BFF4-FEEB44D51FFA}" type="slidenum">
              <a:rPr lang="zh-TW" altLang="en-US" smtClean="0"/>
              <a:t>‹#›</a:t>
            </a:fld>
            <a:endParaRPr lang="zh-TW" alt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283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TW" altLang="en-US"/>
              <a:t>按一下以編輯母片標題樣式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4A8EDD30-3CC8-42F5-BFF4-FEEB44D51FFA}" type="slidenum">
              <a:rPr lang="zh-TW" altLang="en-US" smtClean="0"/>
              <a:t>‹#›</a:t>
            </a:fld>
            <a:endParaRPr lang="zh-TW" altLang="en-US"/>
          </a:p>
        </p:txBody>
      </p:sp>
    </p:spTree>
    <p:extLst>
      <p:ext uri="{BB962C8B-B14F-4D97-AF65-F5344CB8AC3E}">
        <p14:creationId xmlns:p14="http://schemas.microsoft.com/office/powerpoint/2010/main" val="2287893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標題)">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4A8EDD30-3CC8-42F5-BFF4-FEEB44D51FFA}" type="slidenum">
              <a:rPr lang="zh-TW" altLang="en-US" smtClean="0"/>
              <a:t>‹#›</a:t>
            </a:fld>
            <a:endParaRPr lang="zh-TW" altLang="en-US"/>
          </a:p>
        </p:txBody>
      </p:sp>
    </p:spTree>
    <p:extLst>
      <p:ext uri="{BB962C8B-B14F-4D97-AF65-F5344CB8AC3E}">
        <p14:creationId xmlns:p14="http://schemas.microsoft.com/office/powerpoint/2010/main" val="3151181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7999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TW" altLang="en-US"/>
              <a:t>按一下以編輯母片標題樣式</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編輯母片文字樣式</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5713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spTree>
    <p:extLst>
      <p:ext uri="{BB962C8B-B14F-4D97-AF65-F5344CB8AC3E}">
        <p14:creationId xmlns:p14="http://schemas.microsoft.com/office/powerpoint/2010/main" val="3730723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TW" altLang="en-US"/>
              <a:t>按一下以編輯母片標題樣式</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4605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TW" altLang="en-US"/>
              <a:t>按一下以編輯母片標題樣式</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2703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82983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A8EDD30-3CC8-42F5-BFF4-FEEB44D51FFA}" type="slidenum">
              <a:rPr lang="zh-TW" altLang="en-US" smtClean="0"/>
              <a:t>‹#›</a:t>
            </a:fld>
            <a:endParaRPr lang="zh-TW"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102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C0D32C1-038E-4FD4-AE15-93538D4B8852}" type="datetimeFigureOut">
              <a:rPr lang="zh-TW" altLang="en-US" smtClean="0"/>
              <a:t>2021/3/4</a:t>
            </a:fld>
            <a:endParaRPr lang="zh-TW"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zh-TW"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8EDD30-3CC8-42F5-BFF4-FEEB44D51FFA}" type="slidenum">
              <a:rPr lang="zh-TW" altLang="en-US" smtClean="0"/>
              <a:t>‹#›</a:t>
            </a:fld>
            <a:endParaRPr lang="zh-TW" altLang="en-US"/>
          </a:p>
        </p:txBody>
      </p:sp>
    </p:spTree>
    <p:extLst>
      <p:ext uri="{BB962C8B-B14F-4D97-AF65-F5344CB8AC3E}">
        <p14:creationId xmlns:p14="http://schemas.microsoft.com/office/powerpoint/2010/main" val="4801177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A55127-A031-460F-BF9C-115958204FA3}"/>
              </a:ext>
            </a:extLst>
          </p:cNvPr>
          <p:cNvSpPr>
            <a:spLocks noGrp="1"/>
          </p:cNvSpPr>
          <p:nvPr>
            <p:ph type="ctrTitle"/>
          </p:nvPr>
        </p:nvSpPr>
        <p:spPr>
          <a:xfrm>
            <a:off x="2692398" y="1476463"/>
            <a:ext cx="6815669" cy="1910202"/>
          </a:xfrm>
        </p:spPr>
        <p:txBody>
          <a:bodyPr>
            <a:normAutofit fontScale="90000"/>
          </a:bodyPr>
          <a:lstStyle/>
          <a:p>
            <a:r>
              <a:rPr lang="en-US" altLang="zh-TW" sz="4400" dirty="0"/>
              <a:t>Dynamic R-CNN: </a:t>
            </a:r>
            <a:br>
              <a:rPr lang="en-US" altLang="zh-TW" sz="4400" dirty="0"/>
            </a:br>
            <a:r>
              <a:rPr lang="en-US" altLang="zh-TW" sz="4400" dirty="0"/>
              <a:t>Towards High Quality Object</a:t>
            </a:r>
            <a:br>
              <a:rPr lang="en-US" altLang="zh-TW" sz="4400" dirty="0"/>
            </a:br>
            <a:r>
              <a:rPr lang="en-US" altLang="zh-TW" sz="4400" dirty="0"/>
              <a:t>Detection via Dynamic Training</a:t>
            </a:r>
            <a:endParaRPr lang="zh-TW" altLang="en-US" sz="4400" dirty="0"/>
          </a:p>
        </p:txBody>
      </p:sp>
      <p:sp>
        <p:nvSpPr>
          <p:cNvPr id="3" name="副標題 2">
            <a:extLst>
              <a:ext uri="{FF2B5EF4-FFF2-40B4-BE49-F238E27FC236}">
                <a16:creationId xmlns:a16="http://schemas.microsoft.com/office/drawing/2014/main" id="{0D1FC5D8-0284-4732-8CFF-C7C7CB1B65B7}"/>
              </a:ext>
            </a:extLst>
          </p:cNvPr>
          <p:cNvSpPr>
            <a:spLocks noGrp="1"/>
          </p:cNvSpPr>
          <p:nvPr>
            <p:ph type="subTitle" idx="1"/>
          </p:nvPr>
        </p:nvSpPr>
        <p:spPr/>
        <p:txBody>
          <a:bodyPr>
            <a:normAutofit lnSpcReduction="10000"/>
          </a:bodyPr>
          <a:lstStyle/>
          <a:p>
            <a:pPr algn="l"/>
            <a:r>
              <a:rPr lang="zh-TW" altLang="en-US" dirty="0"/>
              <a:t>作者 </a:t>
            </a:r>
            <a:r>
              <a:rPr lang="en-US" altLang="zh-TW" dirty="0"/>
              <a:t>:</a:t>
            </a:r>
            <a:r>
              <a:rPr lang="zh-TW" altLang="en-US" dirty="0"/>
              <a:t> </a:t>
            </a:r>
            <a:r>
              <a:rPr lang="en-US" altLang="zh-TW" dirty="0" err="1"/>
              <a:t>Hongkai</a:t>
            </a:r>
            <a:r>
              <a:rPr lang="en-US" altLang="zh-TW" dirty="0"/>
              <a:t> Zhang1,2, Hong Chang1,2, </a:t>
            </a:r>
            <a:r>
              <a:rPr lang="en-US" altLang="zh-TW" dirty="0" err="1"/>
              <a:t>Bingpeng</a:t>
            </a:r>
            <a:r>
              <a:rPr lang="en-US" altLang="zh-TW" dirty="0"/>
              <a:t> Ma2,</a:t>
            </a:r>
          </a:p>
          <a:p>
            <a:pPr algn="l"/>
            <a:r>
              <a:rPr lang="zh-TW" altLang="en-US" dirty="0"/>
              <a:t>           </a:t>
            </a:r>
            <a:r>
              <a:rPr lang="en-US" altLang="zh-TW" dirty="0" err="1"/>
              <a:t>Naiyan</a:t>
            </a:r>
            <a:r>
              <a:rPr lang="en-US" altLang="zh-TW" dirty="0"/>
              <a:t> Wang3, and </a:t>
            </a:r>
            <a:r>
              <a:rPr lang="en-US" altLang="zh-TW" dirty="0" err="1"/>
              <a:t>Xilin</a:t>
            </a:r>
            <a:r>
              <a:rPr lang="en-US" altLang="zh-TW" dirty="0"/>
              <a:t> Chen1,2</a:t>
            </a:r>
          </a:p>
          <a:p>
            <a:pPr algn="l"/>
            <a:r>
              <a:rPr lang="zh-TW" altLang="en-US" dirty="0"/>
              <a:t>報告日期</a:t>
            </a:r>
            <a:r>
              <a:rPr lang="en-US" altLang="zh-TW" dirty="0"/>
              <a:t>:2021/3/4</a:t>
            </a:r>
            <a:endParaRPr lang="zh-TW" altLang="en-US" dirty="0"/>
          </a:p>
        </p:txBody>
      </p:sp>
    </p:spTree>
    <p:extLst>
      <p:ext uri="{BB962C8B-B14F-4D97-AF65-F5344CB8AC3E}">
        <p14:creationId xmlns:p14="http://schemas.microsoft.com/office/powerpoint/2010/main" val="1492371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DF3D9E-CF34-4ACE-92A4-1072FC2454B0}"/>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431250BB-FABE-42BE-A72D-98DCE2796CC6}"/>
              </a:ext>
            </a:extLst>
          </p:cNvPr>
          <p:cNvSpPr>
            <a:spLocks noGrp="1"/>
          </p:cNvSpPr>
          <p:nvPr>
            <p:ph idx="1"/>
          </p:nvPr>
        </p:nvSpPr>
        <p:spPr/>
        <p:txBody>
          <a:bodyPr>
            <a:normAutofit/>
          </a:bodyPr>
          <a:lstStyle/>
          <a:p>
            <a:r>
              <a:rPr lang="zh-TW" altLang="en-US" sz="2300" dirty="0">
                <a:latin typeface="+mj-lt"/>
              </a:rPr>
              <a:t>近年來致力於，提高兩階段</a:t>
            </a:r>
            <a:r>
              <a:rPr lang="en-US" altLang="zh-TW" sz="2300" dirty="0">
                <a:latin typeface="+mj-lt"/>
              </a:rPr>
              <a:t>object detectors</a:t>
            </a:r>
            <a:r>
              <a:rPr lang="zh-TW" altLang="en-US" sz="2300" dirty="0">
                <a:latin typeface="+mj-lt"/>
              </a:rPr>
              <a:t>性能的同時不會降低其速度</a:t>
            </a:r>
            <a:endParaRPr lang="en-US" altLang="zh-TW" sz="2300" dirty="0">
              <a:latin typeface="+mj-lt"/>
            </a:endParaRPr>
          </a:p>
          <a:p>
            <a:r>
              <a:rPr lang="zh-TW" altLang="en-US" sz="2300" dirty="0">
                <a:latin typeface="+mj-lt"/>
              </a:rPr>
              <a:t>此篇論文指出：固定網路設置與動態訓練過程中不一致的問題</a:t>
            </a:r>
            <a:endParaRPr lang="en-US" altLang="zh-TW" sz="2300" dirty="0">
              <a:latin typeface="+mj-lt"/>
            </a:endParaRPr>
          </a:p>
          <a:p>
            <a:r>
              <a:rPr lang="zh-TW" altLang="en-US" sz="2300" dirty="0">
                <a:latin typeface="+mj-lt"/>
              </a:rPr>
              <a:t>提出</a:t>
            </a:r>
            <a:r>
              <a:rPr lang="en-US" altLang="zh-TW" sz="2300" dirty="0"/>
              <a:t>Dynamic R-CNN</a:t>
            </a:r>
            <a:r>
              <a:rPr lang="zh-TW" altLang="en-US" sz="2300" dirty="0"/>
              <a:t>：根據訓練期間</a:t>
            </a:r>
            <a:r>
              <a:rPr lang="en-US" altLang="zh-TW" sz="2300" dirty="0"/>
              <a:t>proposal</a:t>
            </a:r>
            <a:r>
              <a:rPr lang="zh-TW" altLang="en-US" sz="2300" dirty="0"/>
              <a:t>的統計資訊自動調整標籤分配</a:t>
            </a:r>
            <a:r>
              <a:rPr lang="en-US" altLang="zh-TW" sz="2300" dirty="0"/>
              <a:t>(</a:t>
            </a:r>
            <a:r>
              <a:rPr lang="en-US" altLang="zh-TW" sz="2300" dirty="0" err="1"/>
              <a:t>IoU</a:t>
            </a:r>
            <a:r>
              <a:rPr lang="zh-TW" altLang="en-US" sz="2300" dirty="0"/>
              <a:t>閾值</a:t>
            </a:r>
            <a:r>
              <a:rPr lang="en-US" altLang="zh-TW" sz="2300" dirty="0"/>
              <a:t>)</a:t>
            </a:r>
            <a:r>
              <a:rPr lang="zh-TW" altLang="en-US" sz="2300" dirty="0"/>
              <a:t>和回歸損失函數的</a:t>
            </a:r>
            <a:r>
              <a:rPr lang="en-US" altLang="zh-TW" sz="2300" dirty="0"/>
              <a:t>shape(smoothL1</a:t>
            </a:r>
            <a:r>
              <a:rPr lang="zh-TW" altLang="en-US" sz="2300" dirty="0"/>
              <a:t> </a:t>
            </a:r>
            <a:r>
              <a:rPr lang="en-US" altLang="zh-TW" sz="2300" dirty="0"/>
              <a:t>Loss</a:t>
            </a:r>
            <a:r>
              <a:rPr lang="zh-TW" altLang="en-US" sz="2300" dirty="0"/>
              <a:t>的參數</a:t>
            </a:r>
            <a:r>
              <a:rPr lang="en-US" altLang="zh-TW" sz="2300" dirty="0"/>
              <a:t>) </a:t>
            </a:r>
          </a:p>
          <a:p>
            <a:r>
              <a:rPr lang="en-US" altLang="zh-TW" sz="2300" dirty="0">
                <a:latin typeface="+mj-lt"/>
              </a:rPr>
              <a:t>DLA(</a:t>
            </a:r>
            <a:r>
              <a:rPr lang="en-US" altLang="zh-TW" sz="2300" dirty="0"/>
              <a:t>Dynamic Label Assignment</a:t>
            </a:r>
            <a:r>
              <a:rPr lang="en-US" altLang="zh-TW" sz="2300" dirty="0">
                <a:latin typeface="+mj-lt"/>
              </a:rPr>
              <a:t>)+DSL(</a:t>
            </a:r>
            <a:r>
              <a:rPr lang="en-US" altLang="zh-TW" sz="2300" dirty="0"/>
              <a:t>Dynamic SmoothL1 Loss</a:t>
            </a:r>
            <a:r>
              <a:rPr lang="en-US" altLang="zh-TW" sz="2300" dirty="0">
                <a:latin typeface="+mj-lt"/>
              </a:rPr>
              <a:t>)</a:t>
            </a:r>
            <a:r>
              <a:rPr lang="zh-TW" altLang="en-US" sz="2300" dirty="0">
                <a:latin typeface="+mj-lt"/>
              </a:rPr>
              <a:t>此篇論文重點核心</a:t>
            </a:r>
            <a:endParaRPr lang="en-US" altLang="zh-TW" sz="2300" dirty="0">
              <a:latin typeface="+mj-lt"/>
            </a:endParaRPr>
          </a:p>
          <a:p>
            <a:endParaRPr lang="zh-CN" altLang="en-US" dirty="0">
              <a:latin typeface="+mj-lt"/>
            </a:endParaRPr>
          </a:p>
        </p:txBody>
      </p:sp>
    </p:spTree>
    <p:extLst>
      <p:ext uri="{BB962C8B-B14F-4D97-AF65-F5344CB8AC3E}">
        <p14:creationId xmlns:p14="http://schemas.microsoft.com/office/powerpoint/2010/main" val="3636462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extLst/>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5E66D3F-14EA-4BCD-819B-EEF581746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49D3EDE-CC3B-4573-A04B-26F32F1B2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5" name="Picture 14">
              <a:extLst>
                <a:ext uri="{FF2B5EF4-FFF2-40B4-BE49-F238E27FC236}">
                  <a16:creationId xmlns:a16="http://schemas.microsoft.com/office/drawing/2014/main" id="{700D0D4B-CC81-434D-B595-71AA691923B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6" name="Rectangle 15">
              <a:extLst>
                <a:ext uri="{FF2B5EF4-FFF2-40B4-BE49-F238E27FC236}">
                  <a16:creationId xmlns:a16="http://schemas.microsoft.com/office/drawing/2014/main" id="{B8047919-8C66-4EF3-9979-FB7112EB6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7" name="Picture 16">
              <a:extLst>
                <a:ext uri="{FF2B5EF4-FFF2-40B4-BE49-F238E27FC236}">
                  <a16:creationId xmlns:a16="http://schemas.microsoft.com/office/drawing/2014/main" id="{C00195C4-7BCF-469C-A003-AC2F0D2F910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8" name="Picture 17">
              <a:extLst>
                <a:ext uri="{FF2B5EF4-FFF2-40B4-BE49-F238E27FC236}">
                  <a16:creationId xmlns:a16="http://schemas.microsoft.com/office/drawing/2014/main" id="{CEE82425-33CD-4CF1-9623-91BECE687F6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標題 1">
            <a:extLst>
              <a:ext uri="{FF2B5EF4-FFF2-40B4-BE49-F238E27FC236}">
                <a16:creationId xmlns:a16="http://schemas.microsoft.com/office/drawing/2014/main" id="{F9177EEF-9375-4A6C-81FB-641E1E416EAD}"/>
              </a:ext>
            </a:extLst>
          </p:cNvPr>
          <p:cNvSpPr>
            <a:spLocks noGrp="1"/>
          </p:cNvSpPr>
          <p:nvPr>
            <p:ph type="title"/>
          </p:nvPr>
        </p:nvSpPr>
        <p:spPr>
          <a:xfrm>
            <a:off x="6094412" y="982132"/>
            <a:ext cx="4802185" cy="1303867"/>
          </a:xfrm>
        </p:spPr>
        <p:txBody>
          <a:bodyPr>
            <a:normAutofit/>
          </a:bodyPr>
          <a:lstStyle/>
          <a:p>
            <a:r>
              <a:rPr lang="en-US" altLang="zh-TW" dirty="0">
                <a:solidFill>
                  <a:srgbClr val="262626"/>
                </a:solidFill>
              </a:rPr>
              <a:t>Introduction</a:t>
            </a:r>
            <a:endParaRPr lang="zh-TW" altLang="en-US" dirty="0">
              <a:solidFill>
                <a:srgbClr val="262626"/>
              </a:solidFill>
            </a:endParaRPr>
          </a:p>
        </p:txBody>
      </p:sp>
      <p:sp>
        <p:nvSpPr>
          <p:cNvPr id="20" name="Rectangle 19">
            <a:extLst>
              <a:ext uri="{FF2B5EF4-FFF2-40B4-BE49-F238E27FC236}">
                <a16:creationId xmlns:a16="http://schemas.microsoft.com/office/drawing/2014/main" id="{DD5289D1-D3B7-4C53-823E-280A79C02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4517009"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內容版面配置區 4">
            <a:extLst>
              <a:ext uri="{FF2B5EF4-FFF2-40B4-BE49-F238E27FC236}">
                <a16:creationId xmlns:a16="http://schemas.microsoft.com/office/drawing/2014/main" id="{B02924AF-04D6-4DE2-B879-295E17B54A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27" y="2096968"/>
            <a:ext cx="5582577" cy="3173426"/>
          </a:xfrm>
          <a:prstGeom prst="rect">
            <a:avLst/>
          </a:prstGeom>
          <a:ln>
            <a:noFill/>
          </a:ln>
          <a:effectLst>
            <a:softEdge rad="112500"/>
          </a:effectLst>
        </p:spPr>
      </p:pic>
      <p:cxnSp>
        <p:nvCxnSpPr>
          <p:cNvPr id="22" name="Straight Connector 21">
            <a:extLst>
              <a:ext uri="{FF2B5EF4-FFF2-40B4-BE49-F238E27FC236}">
                <a16:creationId xmlns:a16="http://schemas.microsoft.com/office/drawing/2014/main" id="{A456CE10-0EE3-4503-ACF3-1D53A6FDBB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4412" y="2400639"/>
            <a:ext cx="4802185"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Content Placeholder 8">
            <a:extLst>
              <a:ext uri="{FF2B5EF4-FFF2-40B4-BE49-F238E27FC236}">
                <a16:creationId xmlns:a16="http://schemas.microsoft.com/office/drawing/2014/main" id="{D85B0A1A-0C7F-4985-9698-99C5475F426E}"/>
              </a:ext>
            </a:extLst>
          </p:cNvPr>
          <p:cNvSpPr>
            <a:spLocks noGrp="1"/>
          </p:cNvSpPr>
          <p:nvPr>
            <p:ph idx="1"/>
          </p:nvPr>
        </p:nvSpPr>
        <p:spPr>
          <a:xfrm>
            <a:off x="6094412" y="2556932"/>
            <a:ext cx="4802184" cy="3318936"/>
          </a:xfrm>
        </p:spPr>
        <p:txBody>
          <a:bodyPr>
            <a:normAutofit lnSpcReduction="10000"/>
          </a:bodyPr>
          <a:lstStyle/>
          <a:p>
            <a:r>
              <a:rPr lang="zh-TW" altLang="en-US" sz="2000" dirty="0"/>
              <a:t>目標檢測中，尚不清楚如何在分類訓練中為</a:t>
            </a:r>
            <a:r>
              <a:rPr lang="en-US" altLang="zh-TW" sz="2000" dirty="0"/>
              <a:t>proposals</a:t>
            </a:r>
            <a:r>
              <a:rPr lang="zh-TW" altLang="en-US" sz="2000" dirty="0"/>
              <a:t>分配正負樣本的標籤，因為它們之間的分隔可能不明確，這也就是</a:t>
            </a:r>
            <a:r>
              <a:rPr lang="en-US" altLang="zh-TW" sz="2000" dirty="0"/>
              <a:t>label assignment</a:t>
            </a:r>
            <a:r>
              <a:rPr lang="zh-TW" altLang="en-US" sz="2000" dirty="0"/>
              <a:t>問題</a:t>
            </a:r>
            <a:endParaRPr lang="en-US" altLang="zh-TW" sz="2000" dirty="0"/>
          </a:p>
          <a:p>
            <a:r>
              <a:rPr lang="zh-TW" altLang="zh-TW" sz="2000" dirty="0"/>
              <a:t>在</a:t>
            </a:r>
            <a:r>
              <a:rPr lang="en-US" altLang="zh-TW" sz="2000" dirty="0"/>
              <a:t>proposal</a:t>
            </a:r>
            <a:r>
              <a:rPr lang="zh-TW" altLang="zh-TW" sz="2000" dirty="0"/>
              <a:t>的選取中，隨著反覆運算次數增加，</a:t>
            </a:r>
            <a:r>
              <a:rPr lang="en-US" altLang="zh-TW" sz="2000" dirty="0"/>
              <a:t>IOU</a:t>
            </a:r>
            <a:r>
              <a:rPr lang="zh-TW" altLang="zh-TW" sz="2000" dirty="0"/>
              <a:t>大於不同閾值的</a:t>
            </a:r>
            <a:r>
              <a:rPr lang="en-US" altLang="zh-TW" sz="2000" dirty="0"/>
              <a:t>proposal</a:t>
            </a:r>
            <a:r>
              <a:rPr lang="zh-TW" altLang="zh-TW" sz="2000" dirty="0"/>
              <a:t>數目都在不斷增大，這時候再根據固定的</a:t>
            </a:r>
            <a:r>
              <a:rPr lang="en-US" altLang="zh-TW" sz="2000" dirty="0"/>
              <a:t>IOU</a:t>
            </a:r>
            <a:r>
              <a:rPr lang="zh-TW" altLang="zh-TW" sz="2000" dirty="0"/>
              <a:t>閾值來選取正樣本的話，很難保證選取到的</a:t>
            </a:r>
            <a:r>
              <a:rPr lang="en-US" altLang="zh-TW" sz="2000" dirty="0"/>
              <a:t>proposal</a:t>
            </a:r>
            <a:r>
              <a:rPr lang="zh-TW" altLang="zh-TW" sz="2000" dirty="0"/>
              <a:t>是高品質的，因此</a:t>
            </a:r>
            <a:r>
              <a:rPr lang="zh-TW" altLang="en-US" sz="2000" dirty="0"/>
              <a:t>會</a:t>
            </a:r>
            <a:r>
              <a:rPr lang="zh-TW" altLang="zh-TW" sz="2000" dirty="0"/>
              <a:t>根據比例來選取閾值</a:t>
            </a:r>
          </a:p>
          <a:p>
            <a:endParaRPr lang="en-US" dirty="0">
              <a:solidFill>
                <a:srgbClr val="262626"/>
              </a:solidFill>
            </a:endParaRPr>
          </a:p>
        </p:txBody>
      </p:sp>
    </p:spTree>
    <p:extLst>
      <p:ext uri="{BB962C8B-B14F-4D97-AF65-F5344CB8AC3E}">
        <p14:creationId xmlns:p14="http://schemas.microsoft.com/office/powerpoint/2010/main" val="2837637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B9D052-EFF9-4F79-A712-CDAF0BCF8ED7}"/>
              </a:ext>
            </a:extLst>
          </p:cNvPr>
          <p:cNvSpPr>
            <a:spLocks noGrp="1"/>
          </p:cNvSpPr>
          <p:nvPr>
            <p:ph type="title"/>
          </p:nvPr>
        </p:nvSpPr>
        <p:spPr/>
        <p:txBody>
          <a:bodyPr/>
          <a:lstStyle/>
          <a:p>
            <a:r>
              <a:rPr lang="en-US" altLang="zh-TW" dirty="0">
                <a:solidFill>
                  <a:srgbClr val="262626"/>
                </a:solidFill>
              </a:rPr>
              <a:t>Introduction</a:t>
            </a:r>
            <a:endParaRPr lang="zh-TW" altLang="en-US" dirty="0"/>
          </a:p>
        </p:txBody>
      </p:sp>
      <p:sp>
        <p:nvSpPr>
          <p:cNvPr id="3" name="內容版面配置區 2">
            <a:extLst>
              <a:ext uri="{FF2B5EF4-FFF2-40B4-BE49-F238E27FC236}">
                <a16:creationId xmlns:a16="http://schemas.microsoft.com/office/drawing/2014/main" id="{A32E4D29-2CAD-425E-A68D-1D7932EE95CC}"/>
              </a:ext>
            </a:extLst>
          </p:cNvPr>
          <p:cNvSpPr>
            <a:spLocks noGrp="1"/>
          </p:cNvSpPr>
          <p:nvPr>
            <p:ph idx="1"/>
          </p:nvPr>
        </p:nvSpPr>
        <p:spPr/>
        <p:txBody>
          <a:bodyPr/>
          <a:lstStyle/>
          <a:p>
            <a:r>
              <a:rPr lang="zh-TW" altLang="en-US" dirty="0"/>
              <a:t>最廣泛使用的策略是為提案和對應的地真值的</a:t>
            </a:r>
            <a:r>
              <a:rPr lang="en-US" altLang="zh-TW" dirty="0" err="1"/>
              <a:t>IoU</a:t>
            </a:r>
            <a:r>
              <a:rPr lang="zh-TW" altLang="en-US" dirty="0"/>
              <a:t>設置一個閾值。如表</a:t>
            </a:r>
            <a:r>
              <a:rPr lang="en-US" altLang="zh-TW" dirty="0"/>
              <a:t>1</a:t>
            </a:r>
            <a:r>
              <a:rPr lang="zh-TW" altLang="en-US" dirty="0"/>
              <a:t>所示，用一定的</a:t>
            </a:r>
            <a:r>
              <a:rPr lang="en-US" altLang="zh-TW" dirty="0" err="1"/>
              <a:t>IoU</a:t>
            </a:r>
            <a:r>
              <a:rPr lang="zh-TW" altLang="en-US" dirty="0"/>
              <a:t>閾值進行訓練，會導致分類器在其他</a:t>
            </a:r>
            <a:r>
              <a:rPr lang="en-US" altLang="zh-TW" dirty="0" err="1"/>
              <a:t>IoU</a:t>
            </a:r>
            <a:r>
              <a:rPr lang="zh-TW" altLang="en-US" dirty="0"/>
              <a:t>處的性能下降。</a:t>
            </a:r>
          </a:p>
        </p:txBody>
      </p:sp>
      <p:pic>
        <p:nvPicPr>
          <p:cNvPr id="4" name="圖片 3">
            <a:extLst>
              <a:ext uri="{FF2B5EF4-FFF2-40B4-BE49-F238E27FC236}">
                <a16:creationId xmlns:a16="http://schemas.microsoft.com/office/drawing/2014/main" id="{AB866DFF-E0F9-4D2C-9227-2710EE66A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1571" y="3784601"/>
            <a:ext cx="7303685" cy="2362200"/>
          </a:xfrm>
          <a:prstGeom prst="rect">
            <a:avLst/>
          </a:prstGeom>
          <a:ln>
            <a:noFill/>
          </a:ln>
          <a:effectLst>
            <a:softEdge rad="112500"/>
          </a:effectLst>
        </p:spPr>
      </p:pic>
    </p:spTree>
    <p:extLst>
      <p:ext uri="{BB962C8B-B14F-4D97-AF65-F5344CB8AC3E}">
        <p14:creationId xmlns:p14="http://schemas.microsoft.com/office/powerpoint/2010/main" val="1569275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33F0879-3DA0-4CB8-B35E-A0AD42558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24D2183-F388-476E-92A9-D6639D69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90"/>
            <a:ext cx="3823215"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43462E7-1698-4B21-BE89-AEFAC7C2F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2"/>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標題 1">
            <a:extLst>
              <a:ext uri="{FF2B5EF4-FFF2-40B4-BE49-F238E27FC236}">
                <a16:creationId xmlns:a16="http://schemas.microsoft.com/office/drawing/2014/main" id="{BDB9D052-EFF9-4F79-A712-CDAF0BCF8ED7}"/>
              </a:ext>
            </a:extLst>
          </p:cNvPr>
          <p:cNvSpPr>
            <a:spLocks noGrp="1"/>
          </p:cNvSpPr>
          <p:nvPr>
            <p:ph type="title"/>
          </p:nvPr>
        </p:nvSpPr>
        <p:spPr>
          <a:xfrm>
            <a:off x="929140" y="972766"/>
            <a:ext cx="2835464" cy="1254868"/>
          </a:xfrm>
        </p:spPr>
        <p:txBody>
          <a:bodyPr anchor="b">
            <a:normAutofit/>
          </a:bodyPr>
          <a:lstStyle/>
          <a:p>
            <a:r>
              <a:rPr lang="en-US" altLang="zh-TW" sz="2800" dirty="0">
                <a:solidFill>
                  <a:srgbClr val="262626"/>
                </a:solidFill>
              </a:rPr>
              <a:t>Dynamic R-CNN</a:t>
            </a:r>
            <a:endParaRPr lang="zh-TW" altLang="en-US" sz="2800" dirty="0">
              <a:solidFill>
                <a:srgbClr val="262626"/>
              </a:solidFill>
            </a:endParaRPr>
          </a:p>
        </p:txBody>
      </p:sp>
      <p:sp>
        <p:nvSpPr>
          <p:cNvPr id="3" name="內容版面配置區 2">
            <a:extLst>
              <a:ext uri="{FF2B5EF4-FFF2-40B4-BE49-F238E27FC236}">
                <a16:creationId xmlns:a16="http://schemas.microsoft.com/office/drawing/2014/main" id="{A32E4D29-2CAD-425E-A68D-1D7932EE95CC}"/>
              </a:ext>
            </a:extLst>
          </p:cNvPr>
          <p:cNvSpPr>
            <a:spLocks noGrp="1"/>
          </p:cNvSpPr>
          <p:nvPr>
            <p:ph idx="1"/>
          </p:nvPr>
        </p:nvSpPr>
        <p:spPr>
          <a:xfrm>
            <a:off x="737118" y="2430471"/>
            <a:ext cx="3422900" cy="3552039"/>
          </a:xfrm>
        </p:spPr>
        <p:txBody>
          <a:bodyPr>
            <a:normAutofit/>
          </a:bodyPr>
          <a:lstStyle/>
          <a:p>
            <a:r>
              <a:rPr lang="zh-TW" altLang="en-US" sz="1800" dirty="0">
                <a:solidFill>
                  <a:srgbClr val="262626"/>
                </a:solidFill>
              </a:rPr>
              <a:t>目標檢測包含識別、定位兩大任務</a:t>
            </a:r>
            <a:endParaRPr lang="en-US" altLang="zh-TW" sz="1800" dirty="0">
              <a:solidFill>
                <a:srgbClr val="262626"/>
              </a:solidFill>
            </a:endParaRPr>
          </a:p>
          <a:p>
            <a:r>
              <a:rPr lang="zh-TW" altLang="en-US" sz="1800" dirty="0">
                <a:solidFill>
                  <a:srgbClr val="262626"/>
                </a:solidFill>
              </a:rPr>
              <a:t>為了得到高性能的目標檢測模型，論文基於這兩個分支進行改進</a:t>
            </a:r>
            <a:endParaRPr lang="en-US" altLang="zh-TW" sz="1800" dirty="0">
              <a:solidFill>
                <a:srgbClr val="262626"/>
              </a:solidFill>
            </a:endParaRPr>
          </a:p>
          <a:p>
            <a:r>
              <a:rPr lang="zh-TW" altLang="en-US" sz="1800" dirty="0">
                <a:solidFill>
                  <a:srgbClr val="262626"/>
                </a:solidFill>
              </a:rPr>
              <a:t>動態正負樣本分配和動態損失函數兩個模組，分別用於分類和回歸分支</a:t>
            </a:r>
            <a:endParaRPr lang="en-US" altLang="zh-TW" sz="1800" dirty="0">
              <a:solidFill>
                <a:srgbClr val="262626"/>
              </a:solidFill>
            </a:endParaRPr>
          </a:p>
          <a:p>
            <a:r>
              <a:rPr lang="en-US" altLang="zh-TW" sz="1800" dirty="0">
                <a:solidFill>
                  <a:srgbClr val="262626"/>
                </a:solidFill>
              </a:rPr>
              <a:t>Red : positive label</a:t>
            </a:r>
            <a:r>
              <a:rPr lang="zh-TW" altLang="en-US" sz="1800" dirty="0">
                <a:solidFill>
                  <a:srgbClr val="262626"/>
                </a:solidFill>
              </a:rPr>
              <a:t>、</a:t>
            </a:r>
            <a:r>
              <a:rPr lang="en-US" altLang="zh-TW" sz="1800" dirty="0">
                <a:solidFill>
                  <a:srgbClr val="262626"/>
                </a:solidFill>
              </a:rPr>
              <a:t>Green : negative label</a:t>
            </a:r>
            <a:endParaRPr lang="zh-TW" altLang="en-US" sz="1800" dirty="0">
              <a:solidFill>
                <a:srgbClr val="262626"/>
              </a:solidFill>
            </a:endParaRPr>
          </a:p>
          <a:p>
            <a:endParaRPr lang="zh-TW" altLang="en-US" sz="1800" dirty="0">
              <a:solidFill>
                <a:srgbClr val="262626"/>
              </a:solidFill>
            </a:endParaRPr>
          </a:p>
        </p:txBody>
      </p:sp>
      <p:sp useBgFill="1">
        <p:nvSpPr>
          <p:cNvPr id="16" name="Rectangle 15">
            <a:extLst>
              <a:ext uri="{FF2B5EF4-FFF2-40B4-BE49-F238E27FC236}">
                <a16:creationId xmlns:a16="http://schemas.microsoft.com/office/drawing/2014/main" id="{6C22FCAC-D7EC-4A52-B153-FF761E223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491" y="0"/>
            <a:ext cx="7396509"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圖片 4">
            <a:extLst>
              <a:ext uri="{FF2B5EF4-FFF2-40B4-BE49-F238E27FC236}">
                <a16:creationId xmlns:a16="http://schemas.microsoft.com/office/drawing/2014/main" id="{51935248-B79F-4343-BF62-D970FF26C7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353" y="478615"/>
            <a:ext cx="7882647" cy="5900770"/>
          </a:xfrm>
          <a:prstGeom prst="rect">
            <a:avLst/>
          </a:prstGeom>
        </p:spPr>
      </p:pic>
    </p:spTree>
    <p:extLst>
      <p:ext uri="{BB962C8B-B14F-4D97-AF65-F5344CB8AC3E}">
        <p14:creationId xmlns:p14="http://schemas.microsoft.com/office/powerpoint/2010/main" val="155508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5815EB-BA5C-4DF7-A833-508C8ACB413E}"/>
              </a:ext>
            </a:extLst>
          </p:cNvPr>
          <p:cNvSpPr>
            <a:spLocks noGrp="1"/>
          </p:cNvSpPr>
          <p:nvPr>
            <p:ph type="title"/>
          </p:nvPr>
        </p:nvSpPr>
        <p:spPr/>
        <p:txBody>
          <a:bodyPr/>
          <a:lstStyle/>
          <a:p>
            <a:r>
              <a:rPr lang="en-US" altLang="zh-TW" dirty="0"/>
              <a:t>Proposal Classiﬁcation</a:t>
            </a:r>
            <a:endParaRPr lang="zh-TW" altLang="en-US" dirty="0"/>
          </a:p>
        </p:txBody>
      </p:sp>
      <p:sp>
        <p:nvSpPr>
          <p:cNvPr id="3" name="內容版面配置區 2">
            <a:extLst>
              <a:ext uri="{FF2B5EF4-FFF2-40B4-BE49-F238E27FC236}">
                <a16:creationId xmlns:a16="http://schemas.microsoft.com/office/drawing/2014/main" id="{1A552B2A-E551-4ADC-A7A4-09993A717663}"/>
              </a:ext>
            </a:extLst>
          </p:cNvPr>
          <p:cNvSpPr>
            <a:spLocks noGrp="1"/>
          </p:cNvSpPr>
          <p:nvPr>
            <p:ph idx="1"/>
          </p:nvPr>
        </p:nvSpPr>
        <p:spPr>
          <a:xfrm>
            <a:off x="1295401" y="3665988"/>
            <a:ext cx="9601196" cy="2499920"/>
          </a:xfrm>
        </p:spPr>
        <p:txBody>
          <a:bodyPr>
            <a:normAutofit/>
          </a:bodyPr>
          <a:lstStyle/>
          <a:p>
            <a:r>
              <a:rPr lang="zh-TW" altLang="en-US" dirty="0"/>
              <a:t>在最初的</a:t>
            </a:r>
            <a:r>
              <a:rPr lang="en-US" altLang="zh-TW" dirty="0"/>
              <a:t>Faster R-CNN</a:t>
            </a:r>
            <a:r>
              <a:rPr lang="zh-TW" altLang="en-US" dirty="0"/>
              <a:t>中，通過使用預定義的</a:t>
            </a:r>
            <a:r>
              <a:rPr lang="en-US" altLang="zh-TW" dirty="0" err="1"/>
              <a:t>IoU</a:t>
            </a:r>
            <a:r>
              <a:rPr lang="zh-TW" altLang="en-US" dirty="0"/>
              <a:t>閾值將框的最高</a:t>
            </a:r>
            <a:r>
              <a:rPr lang="en-US" altLang="zh-TW" dirty="0" err="1"/>
              <a:t>IoU</a:t>
            </a:r>
            <a:r>
              <a:rPr lang="zh-TW" altLang="en-US" dirty="0"/>
              <a:t>與目標位置進行比較來分配標籤，</a:t>
            </a:r>
            <a:r>
              <a:rPr lang="zh-TW" altLang="zh-TW" dirty="0"/>
              <a:t>分別是</a:t>
            </a:r>
            <a:r>
              <a:rPr lang="en-US" altLang="zh-TW" dirty="0"/>
              <a:t>1 : positive sample</a:t>
            </a:r>
            <a:r>
              <a:rPr lang="zh-TW" altLang="zh-TW" dirty="0"/>
              <a:t>、</a:t>
            </a:r>
            <a:r>
              <a:rPr lang="en-US" altLang="zh-TW" dirty="0"/>
              <a:t>0 : negative sample</a:t>
            </a:r>
            <a:r>
              <a:rPr lang="zh-TW" altLang="zh-TW" dirty="0"/>
              <a:t>、</a:t>
            </a:r>
            <a:r>
              <a:rPr lang="en-US" altLang="zh-TW" dirty="0"/>
              <a:t>- 1 : </a:t>
            </a:r>
            <a:r>
              <a:rPr lang="zh-TW" altLang="zh-TW" dirty="0"/>
              <a:t>可以忽略的</a:t>
            </a:r>
            <a:r>
              <a:rPr lang="en-US" altLang="zh-TW" dirty="0"/>
              <a:t> sample</a:t>
            </a:r>
            <a:r>
              <a:rPr lang="zh-TW" altLang="en-US" dirty="0"/>
              <a:t>，</a:t>
            </a:r>
            <a:r>
              <a:rPr lang="en-US" altLang="zh-TW" dirty="0"/>
              <a:t>b:</a:t>
            </a:r>
            <a:r>
              <a:rPr lang="zh-TW" altLang="en-US" dirty="0"/>
              <a:t>邊框、</a:t>
            </a:r>
            <a:r>
              <a:rPr lang="en-US" altLang="zh-TW" dirty="0"/>
              <a:t>G:gt(ground truth)</a:t>
            </a:r>
            <a:r>
              <a:rPr lang="zh-TW" altLang="en-US" dirty="0"/>
              <a:t>。</a:t>
            </a:r>
            <a:endParaRPr lang="en-US" altLang="zh-TW" dirty="0"/>
          </a:p>
          <a:p>
            <a:r>
              <a:rPr lang="zh-TW" altLang="en-US" dirty="0"/>
              <a:t>對於</a:t>
            </a:r>
            <a:r>
              <a:rPr lang="en-US" altLang="zh-TW" dirty="0"/>
              <a:t>Faster R-CNN</a:t>
            </a:r>
            <a:r>
              <a:rPr lang="zh-TW" altLang="en-US" dirty="0"/>
              <a:t>的第二階段，</a:t>
            </a:r>
            <a:r>
              <a:rPr lang="en-US" altLang="zh-TW" dirty="0"/>
              <a:t>T+</a:t>
            </a:r>
            <a:r>
              <a:rPr lang="zh-TW" altLang="en-US" dirty="0"/>
              <a:t>和</a:t>
            </a:r>
            <a:r>
              <a:rPr lang="en-US" altLang="zh-TW" dirty="0"/>
              <a:t>T-</a:t>
            </a:r>
            <a:r>
              <a:rPr lang="zh-TW" altLang="en-US" dirty="0"/>
              <a:t>默認設置為</a:t>
            </a:r>
            <a:r>
              <a:rPr lang="en-US" altLang="zh-TW" dirty="0"/>
              <a:t>0.5</a:t>
            </a:r>
            <a:r>
              <a:rPr lang="zh-TW" altLang="en-US" dirty="0"/>
              <a:t>。所以陽性和陰性的定義基本上是人為設置的。</a:t>
            </a:r>
          </a:p>
          <a:p>
            <a:endParaRPr lang="en-US" altLang="zh-TW" dirty="0"/>
          </a:p>
          <a:p>
            <a:endParaRPr lang="zh-TW" altLang="en-US" dirty="0"/>
          </a:p>
        </p:txBody>
      </p:sp>
      <p:pic>
        <p:nvPicPr>
          <p:cNvPr id="4" name="內容版面配置區 4">
            <a:extLst>
              <a:ext uri="{FF2B5EF4-FFF2-40B4-BE49-F238E27FC236}">
                <a16:creationId xmlns:a16="http://schemas.microsoft.com/office/drawing/2014/main" id="{FA208957-44ED-479F-82CF-40FD489689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4044" y="2439415"/>
            <a:ext cx="4672301" cy="11654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內容版面配置區 7">
            <a:extLst>
              <a:ext uri="{FF2B5EF4-FFF2-40B4-BE49-F238E27FC236}">
                <a16:creationId xmlns:a16="http://schemas.microsoft.com/office/drawing/2014/main" id="{503C0D78-A9DA-42AF-8DC1-8E2EDD28E5DF}"/>
              </a:ext>
            </a:extLst>
          </p:cNvPr>
          <p:cNvSpPr txBox="1">
            <a:spLocks/>
          </p:cNvSpPr>
          <p:nvPr/>
        </p:nvSpPr>
        <p:spPr>
          <a:xfrm>
            <a:off x="1253184" y="3816991"/>
            <a:ext cx="7946800" cy="2121408"/>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endParaRPr lang="zh-TW" altLang="en-US" dirty="0"/>
          </a:p>
        </p:txBody>
      </p:sp>
    </p:spTree>
    <p:extLst>
      <p:ext uri="{BB962C8B-B14F-4D97-AF65-F5344CB8AC3E}">
        <p14:creationId xmlns:p14="http://schemas.microsoft.com/office/powerpoint/2010/main" val="3663585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B9D052-EFF9-4F79-A712-CDAF0BCF8ED7}"/>
              </a:ext>
            </a:extLst>
          </p:cNvPr>
          <p:cNvSpPr>
            <a:spLocks noGrp="1"/>
          </p:cNvSpPr>
          <p:nvPr>
            <p:ph type="title"/>
          </p:nvPr>
        </p:nvSpPr>
        <p:spPr/>
        <p:txBody>
          <a:bodyPr/>
          <a:lstStyle/>
          <a:p>
            <a:r>
              <a:rPr lang="en-US" altLang="zh-TW" dirty="0"/>
              <a:t> Bounding Box Regression</a:t>
            </a:r>
            <a:endParaRPr lang="zh-TW" altLang="en-US" dirty="0"/>
          </a:p>
        </p:txBody>
      </p:sp>
      <p:pic>
        <p:nvPicPr>
          <p:cNvPr id="5" name="內容版面配置區 4">
            <a:extLst>
              <a:ext uri="{FF2B5EF4-FFF2-40B4-BE49-F238E27FC236}">
                <a16:creationId xmlns:a16="http://schemas.microsoft.com/office/drawing/2014/main" id="{DA638F38-97FA-477C-A512-37F632DC2C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67387" y="2598330"/>
            <a:ext cx="4572000" cy="1038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內容版面配置區 2">
            <a:extLst>
              <a:ext uri="{FF2B5EF4-FFF2-40B4-BE49-F238E27FC236}">
                <a16:creationId xmlns:a16="http://schemas.microsoft.com/office/drawing/2014/main" id="{B674786D-472D-431C-B733-82154EB2BDEB}"/>
              </a:ext>
            </a:extLst>
          </p:cNvPr>
          <p:cNvSpPr txBox="1">
            <a:spLocks/>
          </p:cNvSpPr>
          <p:nvPr/>
        </p:nvSpPr>
        <p:spPr>
          <a:xfrm>
            <a:off x="1295401" y="3665988"/>
            <a:ext cx="9601196" cy="1812023"/>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altLang="zh-TW" dirty="0" err="1"/>
              <a:t>Bbox</a:t>
            </a:r>
            <a:r>
              <a:rPr lang="zh-TW" altLang="en-US" dirty="0"/>
              <a:t>回歸主要用於計算正候選邊界框</a:t>
            </a:r>
            <a:r>
              <a:rPr lang="en-US" altLang="zh-TW" dirty="0"/>
              <a:t>b</a:t>
            </a:r>
            <a:r>
              <a:rPr lang="zh-TW" altLang="en-US" dirty="0"/>
              <a:t>到目標地面真相</a:t>
            </a:r>
            <a:r>
              <a:rPr lang="en-US" altLang="zh-TW" dirty="0"/>
              <a:t>g</a:t>
            </a:r>
          </a:p>
          <a:p>
            <a:r>
              <a:rPr lang="zh-TW" altLang="en-US" dirty="0"/>
              <a:t>為了促進回歸標籤不變地縮放和定位，</a:t>
            </a:r>
            <a:r>
              <a:rPr lang="en-US" altLang="zh-TW" dirty="0" err="1"/>
              <a:t>Lreg</a:t>
            </a:r>
            <a:r>
              <a:rPr lang="zh-TW" altLang="en-US" dirty="0"/>
              <a:t>對由以下定義的集合</a:t>
            </a:r>
            <a:r>
              <a:rPr lang="en-US" altLang="zh-TW" dirty="0"/>
              <a:t>Δ=</a:t>
            </a:r>
            <a:r>
              <a:rPr lang="zh-TW" altLang="en-US" dirty="0"/>
              <a:t>（</a:t>
            </a:r>
            <a:r>
              <a:rPr lang="en-US" altLang="zh-TW" dirty="0" err="1"/>
              <a:t>δx</a:t>
            </a:r>
            <a:r>
              <a:rPr lang="zh-TW" altLang="en-US" dirty="0"/>
              <a:t>，</a:t>
            </a:r>
            <a:r>
              <a:rPr lang="en-US" altLang="zh-TW" dirty="0" err="1"/>
              <a:t>δy</a:t>
            </a:r>
            <a:r>
              <a:rPr lang="zh-TW" altLang="en-US" dirty="0"/>
              <a:t>，</a:t>
            </a:r>
            <a:r>
              <a:rPr lang="en-US" altLang="zh-TW" dirty="0" err="1"/>
              <a:t>δw</a:t>
            </a:r>
            <a:r>
              <a:rPr lang="zh-TW" altLang="en-US" dirty="0"/>
              <a:t>，</a:t>
            </a:r>
            <a:r>
              <a:rPr lang="en-US" altLang="zh-TW" dirty="0" err="1"/>
              <a:t>δh</a:t>
            </a:r>
            <a:r>
              <a:rPr lang="zh-TW" altLang="en-US" dirty="0"/>
              <a:t>）進行運算。</a:t>
            </a:r>
          </a:p>
        </p:txBody>
      </p:sp>
    </p:spTree>
    <p:extLst>
      <p:ext uri="{BB962C8B-B14F-4D97-AF65-F5344CB8AC3E}">
        <p14:creationId xmlns:p14="http://schemas.microsoft.com/office/powerpoint/2010/main" val="179135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extLst/>
          </a:blip>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B9D052-EFF9-4F79-A712-CDAF0BCF8ED7}"/>
              </a:ext>
            </a:extLst>
          </p:cNvPr>
          <p:cNvSpPr>
            <a:spLocks noGrp="1"/>
          </p:cNvSpPr>
          <p:nvPr>
            <p:ph type="title"/>
          </p:nvPr>
        </p:nvSpPr>
        <p:spPr>
          <a:xfrm>
            <a:off x="1295402" y="882163"/>
            <a:ext cx="9601196" cy="1303867"/>
          </a:xfrm>
        </p:spPr>
        <p:txBody>
          <a:bodyPr>
            <a:normAutofit/>
          </a:bodyPr>
          <a:lstStyle/>
          <a:p>
            <a:r>
              <a:rPr lang="en-US" altLang="zh-TW" sz="4000" dirty="0"/>
              <a:t>Method - Dynamic Label Assignment (DLA)</a:t>
            </a:r>
            <a:endParaRPr lang="zh-TW" altLang="en-US" sz="4000" dirty="0"/>
          </a:p>
        </p:txBody>
      </p:sp>
      <p:sp>
        <p:nvSpPr>
          <p:cNvPr id="8" name="內容版面配置區 7">
            <a:extLst>
              <a:ext uri="{FF2B5EF4-FFF2-40B4-BE49-F238E27FC236}">
                <a16:creationId xmlns:a16="http://schemas.microsoft.com/office/drawing/2014/main" id="{BF08B2FA-5791-4122-9A1E-316CFB73E5E2}"/>
              </a:ext>
            </a:extLst>
          </p:cNvPr>
          <p:cNvSpPr>
            <a:spLocks noGrp="1"/>
          </p:cNvSpPr>
          <p:nvPr>
            <p:ph sz="half" idx="2"/>
          </p:nvPr>
        </p:nvSpPr>
        <p:spPr>
          <a:xfrm>
            <a:off x="1179790" y="3668506"/>
            <a:ext cx="10019885" cy="2463846"/>
          </a:xfrm>
        </p:spPr>
        <p:txBody>
          <a:bodyPr>
            <a:normAutofit fontScale="92500" lnSpcReduction="10000"/>
          </a:bodyPr>
          <a:lstStyle/>
          <a:p>
            <a:r>
              <a:rPr lang="zh-TW" altLang="en-US" dirty="0"/>
              <a:t>其中</a:t>
            </a:r>
            <a:r>
              <a:rPr lang="en-US" altLang="zh-TW" dirty="0" err="1"/>
              <a:t>Tnow</a:t>
            </a:r>
            <a:r>
              <a:rPr lang="zh-TW" altLang="en-US" dirty="0"/>
              <a:t>代表當前</a:t>
            </a:r>
            <a:r>
              <a:rPr lang="en-US" altLang="zh-TW" dirty="0" err="1"/>
              <a:t>IoU</a:t>
            </a:r>
            <a:r>
              <a:rPr lang="zh-TW" altLang="en-US" dirty="0"/>
              <a:t>閾值，考慮到訓練中的動態屬性，</a:t>
            </a:r>
            <a:r>
              <a:rPr lang="en-US" altLang="zh-TW" dirty="0"/>
              <a:t>proposal</a:t>
            </a:r>
            <a:r>
              <a:rPr lang="zh-TW" altLang="en-US" dirty="0"/>
              <a:t>的分佈是隨時間變化的。</a:t>
            </a:r>
            <a:r>
              <a:rPr lang="en-US" altLang="zh-TW" dirty="0"/>
              <a:t>DLA</a:t>
            </a:r>
            <a:r>
              <a:rPr lang="zh-TW" altLang="en-US" dirty="0"/>
              <a:t>會根據</a:t>
            </a:r>
            <a:r>
              <a:rPr lang="en-US" altLang="zh-TW" dirty="0"/>
              <a:t>proposal</a:t>
            </a:r>
            <a:r>
              <a:rPr lang="zh-TW" altLang="en-US" dirty="0"/>
              <a:t>的統計結果自動更新</a:t>
            </a:r>
            <a:r>
              <a:rPr lang="en-US" altLang="zh-TW" dirty="0" err="1"/>
              <a:t>Tnow</a:t>
            </a:r>
            <a:r>
              <a:rPr lang="zh-TW" altLang="en-US" dirty="0"/>
              <a:t>，以適應這種分佈變化。</a:t>
            </a:r>
            <a:endParaRPr lang="en-US" altLang="zh-TW" dirty="0"/>
          </a:p>
          <a:p>
            <a:r>
              <a:rPr lang="zh-TW" altLang="en-US" dirty="0"/>
              <a:t>作者先計算每批中的第</a:t>
            </a:r>
            <a:r>
              <a:rPr lang="en-US" altLang="zh-TW" dirty="0"/>
              <a:t>KI</a:t>
            </a:r>
            <a:r>
              <a:rPr lang="zh-TW" altLang="en-US" dirty="0"/>
              <a:t>大的</a:t>
            </a:r>
            <a:r>
              <a:rPr lang="en-US" altLang="zh-TW" dirty="0" err="1"/>
              <a:t>IoU</a:t>
            </a:r>
            <a:r>
              <a:rPr lang="zh-TW" altLang="en-US" dirty="0"/>
              <a:t>值，然後</a:t>
            </a:r>
            <a:r>
              <a:rPr lang="zh-TW" altLang="en-US" dirty="0">
                <a:solidFill>
                  <a:srgbClr val="FF0000"/>
                </a:solidFill>
              </a:rPr>
              <a:t>每</a:t>
            </a:r>
            <a:r>
              <a:rPr lang="en-US" altLang="zh-TW" dirty="0">
                <a:solidFill>
                  <a:srgbClr val="FF0000"/>
                </a:solidFill>
              </a:rPr>
              <a:t>C</a:t>
            </a:r>
            <a:r>
              <a:rPr lang="zh-TW" altLang="en-US" dirty="0">
                <a:solidFill>
                  <a:srgbClr val="FF0000"/>
                </a:solidFill>
              </a:rPr>
              <a:t>次</a:t>
            </a:r>
            <a:r>
              <a:rPr lang="zh-TW" altLang="en-US" dirty="0"/>
              <a:t>反覆運算使用前者的平均值去更新</a:t>
            </a:r>
            <a:r>
              <a:rPr lang="en-US" altLang="zh-TW" dirty="0" err="1"/>
              <a:t>Tnow</a:t>
            </a:r>
            <a:r>
              <a:rPr lang="zh-TW" altLang="en-US" dirty="0"/>
              <a:t>（一次反覆運算會產生很多批次），以提高訓練的</a:t>
            </a:r>
            <a:r>
              <a:rPr lang="en-US" altLang="zh-TW" dirty="0"/>
              <a:t>Robustness</a:t>
            </a:r>
            <a:r>
              <a:rPr lang="zh-TW" altLang="en-US" dirty="0"/>
              <a:t>。</a:t>
            </a:r>
            <a:endParaRPr lang="en-US" altLang="zh-TW" dirty="0"/>
          </a:p>
          <a:p>
            <a:r>
              <a:rPr lang="en-US" altLang="zh-TW" sz="1500" b="1" dirty="0"/>
              <a:t>(</a:t>
            </a:r>
            <a:r>
              <a:rPr lang="zh-TW" altLang="en-US" sz="1500" b="1" dirty="0"/>
              <a:t>註</a:t>
            </a:r>
            <a:r>
              <a:rPr lang="en-US" altLang="zh-TW" sz="1500" b="1" dirty="0"/>
              <a:t>)</a:t>
            </a:r>
            <a:r>
              <a:rPr lang="zh-TW" altLang="en-US" sz="1500" dirty="0"/>
              <a:t>魯棒性</a:t>
            </a:r>
            <a:r>
              <a:rPr lang="en-US" altLang="zh-TW" sz="1500" dirty="0"/>
              <a:t>(Robustness)</a:t>
            </a:r>
            <a:r>
              <a:rPr lang="zh-TW" altLang="en-US" sz="1500" dirty="0"/>
              <a:t> 亦稱健壯性、穩健性、強健性，是系統的健壯性，它是在異常和危險情況下系統生存的關鍵，指系統在一定參數的變動下，維持某些性能的特性。</a:t>
            </a:r>
          </a:p>
          <a:p>
            <a:endParaRPr lang="zh-TW" altLang="en-US" dirty="0"/>
          </a:p>
        </p:txBody>
      </p:sp>
      <p:pic>
        <p:nvPicPr>
          <p:cNvPr id="7" name="圖片 6">
            <a:extLst>
              <a:ext uri="{FF2B5EF4-FFF2-40B4-BE49-F238E27FC236}">
                <a16:creationId xmlns:a16="http://schemas.microsoft.com/office/drawing/2014/main" id="{3DF286A3-67B1-4571-87CC-FA9ECD9867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4219" y="2462368"/>
            <a:ext cx="4115466" cy="9156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5" name="內容版面配置區 7">
            <a:extLst>
              <a:ext uri="{FF2B5EF4-FFF2-40B4-BE49-F238E27FC236}">
                <a16:creationId xmlns:a16="http://schemas.microsoft.com/office/drawing/2014/main" id="{1E778865-4977-421A-899A-17238855A670}"/>
              </a:ext>
            </a:extLst>
          </p:cNvPr>
          <p:cNvSpPr txBox="1">
            <a:spLocks/>
          </p:cNvSpPr>
          <p:nvPr/>
        </p:nvSpPr>
        <p:spPr>
          <a:xfrm>
            <a:off x="818802" y="3391326"/>
            <a:ext cx="4718304" cy="3310128"/>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endParaRPr lang="zh-TW" altLang="en-US" dirty="0"/>
          </a:p>
        </p:txBody>
      </p:sp>
      <p:sp>
        <p:nvSpPr>
          <p:cNvPr id="27" name="內容版面配置區 7">
            <a:extLst>
              <a:ext uri="{FF2B5EF4-FFF2-40B4-BE49-F238E27FC236}">
                <a16:creationId xmlns:a16="http://schemas.microsoft.com/office/drawing/2014/main" id="{019BBDD2-793D-4904-A598-04CA3273A598}"/>
              </a:ext>
            </a:extLst>
          </p:cNvPr>
          <p:cNvSpPr txBox="1">
            <a:spLocks/>
          </p:cNvSpPr>
          <p:nvPr/>
        </p:nvSpPr>
        <p:spPr>
          <a:xfrm>
            <a:off x="1179790" y="3429000"/>
            <a:ext cx="4718304" cy="3310128"/>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endParaRPr lang="zh-TW" altLang="en-US" dirty="0"/>
          </a:p>
        </p:txBody>
      </p:sp>
    </p:spTree>
    <p:extLst>
      <p:ext uri="{BB962C8B-B14F-4D97-AF65-F5344CB8AC3E}">
        <p14:creationId xmlns:p14="http://schemas.microsoft.com/office/powerpoint/2010/main" val="768609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B9D052-EFF9-4F79-A712-CDAF0BCF8ED7}"/>
              </a:ext>
            </a:extLst>
          </p:cNvPr>
          <p:cNvSpPr>
            <a:spLocks noGrp="1"/>
          </p:cNvSpPr>
          <p:nvPr>
            <p:ph type="title"/>
          </p:nvPr>
        </p:nvSpPr>
        <p:spPr>
          <a:xfrm>
            <a:off x="1273357" y="607620"/>
            <a:ext cx="9601196" cy="1021265"/>
          </a:xfrm>
        </p:spPr>
        <p:txBody>
          <a:bodyPr>
            <a:normAutofit/>
          </a:bodyPr>
          <a:lstStyle/>
          <a:p>
            <a:r>
              <a:rPr lang="en-US" altLang="zh-TW" sz="4000" dirty="0"/>
              <a:t>Method - Dynamic SmoothL1 Loss (DSL)</a:t>
            </a:r>
            <a:endParaRPr lang="zh-TW" altLang="en-US" sz="4000" dirty="0"/>
          </a:p>
        </p:txBody>
      </p:sp>
      <p:pic>
        <p:nvPicPr>
          <p:cNvPr id="12" name="內容版面配置區 11">
            <a:extLst>
              <a:ext uri="{FF2B5EF4-FFF2-40B4-BE49-F238E27FC236}">
                <a16:creationId xmlns:a16="http://schemas.microsoft.com/office/drawing/2014/main" id="{11F51DD7-5E34-4C4C-A6E5-437BBFB131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7647" y="1607229"/>
            <a:ext cx="8973425" cy="3643541"/>
          </a:xfrm>
        </p:spPr>
      </p:pic>
      <p:sp>
        <p:nvSpPr>
          <p:cNvPr id="3" name="矩形 2">
            <a:extLst>
              <a:ext uri="{FF2B5EF4-FFF2-40B4-BE49-F238E27FC236}">
                <a16:creationId xmlns:a16="http://schemas.microsoft.com/office/drawing/2014/main" id="{29D767F5-926C-4F84-B638-3AF4BA7E0961}"/>
              </a:ext>
            </a:extLst>
          </p:cNvPr>
          <p:cNvSpPr/>
          <p:nvPr/>
        </p:nvSpPr>
        <p:spPr>
          <a:xfrm>
            <a:off x="3048000" y="2967335"/>
            <a:ext cx="6096000" cy="369332"/>
          </a:xfrm>
          <a:prstGeom prst="rect">
            <a:avLst/>
          </a:prstGeom>
        </p:spPr>
        <p:txBody>
          <a:bodyPr>
            <a:spAutoFit/>
          </a:bodyPr>
          <a:lstStyle/>
          <a:p>
            <a:pPr>
              <a:spcAft>
                <a:spcPts val="0"/>
              </a:spcAft>
            </a:pPr>
            <a:endParaRPr lang="zh-TW" altLang="zh-TW" kern="100" dirty="0">
              <a:latin typeface="Calibri" panose="020F0502020204030204" pitchFamily="34" charset="0"/>
              <a:cs typeface="Times New Roman" panose="02020603050405020304" pitchFamily="18" charset="0"/>
            </a:endParaRPr>
          </a:p>
        </p:txBody>
      </p:sp>
      <p:sp>
        <p:nvSpPr>
          <p:cNvPr id="5" name="內容版面配置區 7">
            <a:extLst>
              <a:ext uri="{FF2B5EF4-FFF2-40B4-BE49-F238E27FC236}">
                <a16:creationId xmlns:a16="http://schemas.microsoft.com/office/drawing/2014/main" id="{827E8A72-0B40-44C1-900F-D68E25198000}"/>
              </a:ext>
            </a:extLst>
          </p:cNvPr>
          <p:cNvSpPr txBox="1">
            <a:spLocks/>
          </p:cNvSpPr>
          <p:nvPr/>
        </p:nvSpPr>
        <p:spPr>
          <a:xfrm>
            <a:off x="1273357" y="5343103"/>
            <a:ext cx="9187715" cy="1021265"/>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Aft>
                <a:spcPts val="0"/>
              </a:spcAft>
            </a:pPr>
            <a:r>
              <a:rPr lang="zh-TW" altLang="zh-TW" sz="1600" kern="100" dirty="0">
                <a:latin typeface="Calibri" panose="020F0502020204030204" pitchFamily="34" charset="0"/>
                <a:cs typeface="Times New Roman" panose="02020603050405020304" pitchFamily="18" charset="0"/>
              </a:rPr>
              <a:t>作者發現，在訓練過程中，回歸目標的分佈是變化的</a:t>
            </a:r>
            <a:endParaRPr lang="en-US" altLang="zh-TW" sz="1600" kern="100" dirty="0">
              <a:latin typeface="Calibri" panose="020F0502020204030204" pitchFamily="34" charset="0"/>
              <a:cs typeface="Times New Roman" panose="02020603050405020304" pitchFamily="18" charset="0"/>
            </a:endParaRPr>
          </a:p>
          <a:p>
            <a:pPr>
              <a:spcAft>
                <a:spcPts val="0"/>
              </a:spcAft>
            </a:pPr>
            <a:r>
              <a:rPr lang="zh-TW" altLang="zh-TW" sz="1600" dirty="0"/>
              <a:t>由於均值和方差均減小，預測的偏移也會減小即損失值減小，而此時正樣本的比例是在不斷變大的</a:t>
            </a:r>
            <a:r>
              <a:rPr lang="zh-TW" altLang="en-US" sz="1600" dirty="0"/>
              <a:t>，</a:t>
            </a:r>
            <a:r>
              <a:rPr lang="zh-TW" altLang="zh-TW" sz="1600" dirty="0"/>
              <a:t>即相對減小了高品質的正樣本在訓練過程中的貢獻</a:t>
            </a:r>
          </a:p>
          <a:p>
            <a:pPr>
              <a:spcAft>
                <a:spcPts val="0"/>
              </a:spcAft>
            </a:pPr>
            <a:endParaRPr lang="zh-TW" altLang="zh-TW" sz="16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7155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B9D052-EFF9-4F79-A712-CDAF0BCF8ED7}"/>
              </a:ext>
            </a:extLst>
          </p:cNvPr>
          <p:cNvSpPr>
            <a:spLocks noGrp="1"/>
          </p:cNvSpPr>
          <p:nvPr>
            <p:ph type="title"/>
          </p:nvPr>
        </p:nvSpPr>
        <p:spPr/>
        <p:txBody>
          <a:bodyPr>
            <a:normAutofit/>
          </a:bodyPr>
          <a:lstStyle/>
          <a:p>
            <a:r>
              <a:rPr lang="en-US" altLang="zh-TW" sz="4000" dirty="0"/>
              <a:t>Method - Dynamic SmoothL1 Loss (DSL)</a:t>
            </a:r>
            <a:endParaRPr lang="zh-TW" altLang="en-US" sz="4000" dirty="0"/>
          </a:p>
        </p:txBody>
      </p:sp>
      <p:pic>
        <p:nvPicPr>
          <p:cNvPr id="5" name="內容版面配置區 4">
            <a:extLst>
              <a:ext uri="{FF2B5EF4-FFF2-40B4-BE49-F238E27FC236}">
                <a16:creationId xmlns:a16="http://schemas.microsoft.com/office/drawing/2014/main" id="{9C51CCB0-5A5F-4CCC-975B-C9ECD8C013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7548" y="2682715"/>
            <a:ext cx="5400675" cy="10778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內容版面配置區 7">
            <a:extLst>
              <a:ext uri="{FF2B5EF4-FFF2-40B4-BE49-F238E27FC236}">
                <a16:creationId xmlns:a16="http://schemas.microsoft.com/office/drawing/2014/main" id="{21508A26-B7E5-4CA2-BD63-9C68EE00662E}"/>
              </a:ext>
            </a:extLst>
          </p:cNvPr>
          <p:cNvSpPr txBox="1">
            <a:spLocks/>
          </p:cNvSpPr>
          <p:nvPr/>
        </p:nvSpPr>
        <p:spPr>
          <a:xfrm>
            <a:off x="1417548" y="4061368"/>
            <a:ext cx="9187715" cy="1814499"/>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Aft>
                <a:spcPts val="0"/>
              </a:spcAft>
            </a:pPr>
            <a:r>
              <a:rPr lang="zh-TW" altLang="zh-TW" sz="1600" kern="100" dirty="0">
                <a:latin typeface="Calibri" panose="020F0502020204030204" pitchFamily="34" charset="0"/>
                <a:cs typeface="Times New Roman" panose="02020603050405020304" pitchFamily="18" charset="0"/>
              </a:rPr>
              <a:t>在傳統的</a:t>
            </a:r>
            <a:r>
              <a:rPr lang="en-US" altLang="zh-TW" sz="1600" kern="100" dirty="0">
                <a:latin typeface="Calibri" panose="020F0502020204030204" pitchFamily="34" charset="0"/>
                <a:cs typeface="Times New Roman" panose="02020603050405020304" pitchFamily="18" charset="0"/>
              </a:rPr>
              <a:t>smooth L1 loss</a:t>
            </a:r>
            <a:r>
              <a:rPr lang="zh-TW" altLang="zh-TW" sz="1600" kern="100" dirty="0">
                <a:latin typeface="Calibri" panose="020F0502020204030204" pitchFamily="34" charset="0"/>
                <a:cs typeface="Times New Roman" panose="02020603050405020304" pitchFamily="18" charset="0"/>
              </a:rPr>
              <a:t>上增加一個參數，變成</a:t>
            </a:r>
            <a:r>
              <a:rPr lang="en-US" altLang="zh-TW" sz="1600" kern="100" dirty="0">
                <a:latin typeface="Calibri" panose="020F0502020204030204" pitchFamily="34" charset="0"/>
                <a:cs typeface="Times New Roman" panose="02020603050405020304" pitchFamily="18" charset="0"/>
              </a:rPr>
              <a:t>soft Smooth L1</a:t>
            </a:r>
            <a:r>
              <a:rPr lang="zh-TW" altLang="zh-TW" sz="1600" kern="100" dirty="0">
                <a:latin typeface="Calibri" panose="020F0502020204030204" pitchFamily="34" charset="0"/>
                <a:cs typeface="Times New Roman" panose="02020603050405020304" pitchFamily="18" charset="0"/>
              </a:rPr>
              <a:t>，</a:t>
            </a:r>
            <a:r>
              <a:rPr lang="en-US" altLang="zh-TW" sz="1600" kern="100" dirty="0">
                <a:latin typeface="Calibri" panose="020F0502020204030204" pitchFamily="34" charset="0"/>
                <a:cs typeface="Times New Roman" panose="02020603050405020304" pitchFamily="18" charset="0"/>
              </a:rPr>
              <a:t>beta=1.0</a:t>
            </a:r>
            <a:r>
              <a:rPr lang="zh-TW" altLang="zh-TW" sz="1600" kern="100" dirty="0">
                <a:latin typeface="Calibri" panose="020F0502020204030204" pitchFamily="34" charset="0"/>
                <a:cs typeface="Times New Roman" panose="02020603050405020304" pitchFamily="18" charset="0"/>
              </a:rPr>
              <a:t>時，就是標準的</a:t>
            </a:r>
            <a:r>
              <a:rPr lang="en-US" altLang="zh-TW" sz="1600" kern="100" dirty="0">
                <a:latin typeface="Calibri" panose="020F0502020204030204" pitchFamily="34" charset="0"/>
                <a:cs typeface="Times New Roman" panose="02020603050405020304" pitchFamily="18" charset="0"/>
              </a:rPr>
              <a:t>SmoothL1 Loss</a:t>
            </a:r>
          </a:p>
          <a:p>
            <a:pPr>
              <a:spcAft>
                <a:spcPts val="0"/>
              </a:spcAft>
            </a:pPr>
            <a:r>
              <a:rPr lang="zh-TW" altLang="en-US" sz="1600" kern="100" dirty="0">
                <a:latin typeface="Calibri" panose="020F0502020204030204" pitchFamily="34" charset="0"/>
                <a:cs typeface="Times New Roman" panose="02020603050405020304" pitchFamily="18" charset="0"/>
              </a:rPr>
              <a:t>上式中，</a:t>
            </a:r>
            <a:r>
              <a:rPr lang="en-US" altLang="zh-TW" sz="1600" kern="100" dirty="0">
                <a:latin typeface="Calibri" panose="020F0502020204030204" pitchFamily="34" charset="0"/>
                <a:cs typeface="Times New Roman" panose="02020603050405020304" pitchFamily="18" charset="0"/>
              </a:rPr>
              <a:t>x</a:t>
            </a:r>
            <a:r>
              <a:rPr lang="zh-TW" altLang="en-US" sz="1600" kern="100" dirty="0">
                <a:latin typeface="Calibri" panose="020F0502020204030204" pitchFamily="34" charset="0"/>
                <a:cs typeface="Times New Roman" panose="02020603050405020304" pitchFamily="18" charset="0"/>
              </a:rPr>
              <a:t>代表回歸誤差， </a:t>
            </a:r>
            <a:r>
              <a:rPr lang="en-US" altLang="zh-TW" sz="1600" kern="100" dirty="0">
                <a:latin typeface="Calibri" panose="020F0502020204030204" pitchFamily="34" charset="0"/>
                <a:cs typeface="Times New Roman" panose="02020603050405020304" pitchFamily="18" charset="0"/>
              </a:rPr>
              <a:t>beta</a:t>
            </a:r>
            <a:r>
              <a:rPr lang="zh-TW" altLang="en-US" sz="1600" kern="100" dirty="0">
                <a:latin typeface="Calibri" panose="020F0502020204030204" pitchFamily="34" charset="0"/>
                <a:cs typeface="Times New Roman" panose="02020603050405020304" pitchFamily="18" charset="0"/>
              </a:rPr>
              <a:t>是一個超參數，用於控制在哪個範圍內應使用更</a:t>
            </a:r>
            <a:r>
              <a:rPr lang="en-US" altLang="zh-TW" sz="1600" kern="100" dirty="0">
                <a:latin typeface="Calibri" panose="020F0502020204030204" pitchFamily="34" charset="0"/>
                <a:cs typeface="Times New Roman" panose="02020603050405020304" pitchFamily="18" charset="0"/>
              </a:rPr>
              <a:t>soft</a:t>
            </a:r>
            <a:r>
              <a:rPr lang="zh-TW" altLang="en-US" sz="1600" kern="100" dirty="0">
                <a:latin typeface="Calibri" panose="020F0502020204030204" pitchFamily="34" charset="0"/>
                <a:cs typeface="Times New Roman" panose="02020603050405020304" pitchFamily="18" charset="0"/>
              </a:rPr>
              <a:t>的損失函數（如</a:t>
            </a:r>
            <a:r>
              <a:rPr lang="en-US" altLang="zh-TW" sz="1600" kern="100" dirty="0">
                <a:latin typeface="Calibri" panose="020F0502020204030204" pitchFamily="34" charset="0"/>
                <a:cs typeface="Times New Roman" panose="02020603050405020304" pitchFamily="18" charset="0"/>
              </a:rPr>
              <a:t>L1</a:t>
            </a:r>
            <a:r>
              <a:rPr lang="zh-TW" altLang="en-US" sz="1600" kern="100" dirty="0">
                <a:latin typeface="Calibri" panose="020F0502020204030204" pitchFamily="34" charset="0"/>
                <a:cs typeface="Times New Roman" panose="02020603050405020304" pitchFamily="18" charset="0"/>
              </a:rPr>
              <a:t>損失）而不是原始的</a:t>
            </a:r>
            <a:r>
              <a:rPr lang="en-US" altLang="zh-TW" sz="1600" kern="100" dirty="0">
                <a:latin typeface="Calibri" panose="020F0502020204030204" pitchFamily="34" charset="0"/>
                <a:cs typeface="Times New Roman" panose="02020603050405020304" pitchFamily="18" charset="0"/>
              </a:rPr>
              <a:t>L2</a:t>
            </a:r>
            <a:r>
              <a:rPr lang="zh-TW" altLang="en-US" sz="1600" kern="100" dirty="0">
                <a:latin typeface="Calibri" panose="020F0502020204030204" pitchFamily="34" charset="0"/>
                <a:cs typeface="Times New Roman" panose="02020603050405020304" pitchFamily="18" charset="0"/>
              </a:rPr>
              <a:t>損失</a:t>
            </a:r>
            <a:endParaRPr lang="en-US" altLang="zh-TW" sz="1600" kern="100" dirty="0">
              <a:latin typeface="Calibri" panose="020F0502020204030204" pitchFamily="34" charset="0"/>
              <a:cs typeface="Times New Roman" panose="02020603050405020304" pitchFamily="18" charset="0"/>
            </a:endParaRPr>
          </a:p>
          <a:p>
            <a:pPr>
              <a:spcAft>
                <a:spcPts val="0"/>
              </a:spcAft>
            </a:pPr>
            <a:r>
              <a:rPr lang="zh-TW" altLang="en-US" sz="1600" kern="100" dirty="0">
                <a:latin typeface="Calibri" panose="020F0502020204030204" pitchFamily="34" charset="0"/>
                <a:cs typeface="Times New Roman" panose="02020603050405020304" pitchFamily="18" charset="0"/>
              </a:rPr>
              <a:t>考慮到訓練的魯棒性，默認設置為</a:t>
            </a:r>
            <a:r>
              <a:rPr lang="en-US" altLang="zh-TW" sz="1600" kern="100" dirty="0">
                <a:latin typeface="Calibri" panose="020F0502020204030204" pitchFamily="34" charset="0"/>
                <a:cs typeface="Times New Roman" panose="02020603050405020304" pitchFamily="18" charset="0"/>
              </a:rPr>
              <a:t>1.0</a:t>
            </a:r>
            <a:r>
              <a:rPr lang="zh-TW" altLang="en-US" sz="1600" kern="100" dirty="0">
                <a:latin typeface="Calibri" panose="020F0502020204030204" pitchFamily="34" charset="0"/>
                <a:cs typeface="Times New Roman" panose="02020603050405020304" pitchFamily="18" charset="0"/>
              </a:rPr>
              <a:t>，即標準</a:t>
            </a:r>
            <a:r>
              <a:rPr lang="en-US" altLang="zh-TW" sz="1600" kern="100" dirty="0">
                <a:latin typeface="Calibri" panose="020F0502020204030204" pitchFamily="34" charset="0"/>
                <a:cs typeface="Times New Roman" panose="02020603050405020304" pitchFamily="18" charset="0"/>
              </a:rPr>
              <a:t>SmoothL1 Loss </a:t>
            </a:r>
            <a:r>
              <a:rPr lang="zh-TW" altLang="en-US" sz="1600" kern="100" dirty="0">
                <a:latin typeface="Calibri" panose="020F0502020204030204" pitchFamily="34" charset="0"/>
                <a:cs typeface="Times New Roman" panose="02020603050405020304" pitchFamily="18" charset="0"/>
              </a:rPr>
              <a:t>，以防止由於早期訓練網路不良而導致的爆炸損失。 接下來詳細解釋一下 </a:t>
            </a:r>
            <a:r>
              <a:rPr lang="en-US" altLang="zh-TW" sz="1600" kern="100" dirty="0">
                <a:latin typeface="Calibri" panose="020F0502020204030204" pitchFamily="34" charset="0"/>
                <a:cs typeface="Times New Roman" panose="02020603050405020304" pitchFamily="18" charset="0"/>
              </a:rPr>
              <a:t>beta</a:t>
            </a:r>
            <a:r>
              <a:rPr lang="zh-TW" altLang="en-US" sz="1600" kern="100" dirty="0">
                <a:latin typeface="Calibri" panose="020F0502020204030204" pitchFamily="34" charset="0"/>
                <a:cs typeface="Times New Roman" panose="02020603050405020304" pitchFamily="18" charset="0"/>
              </a:rPr>
              <a:t>對於訓練梯度的影響。</a:t>
            </a:r>
            <a:endParaRPr lang="zh-TW" altLang="zh-TW" sz="16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4362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66DDB5-9FAA-4A4D-8109-B7578FCD0561}"/>
              </a:ext>
            </a:extLst>
          </p:cNvPr>
          <p:cNvSpPr>
            <a:spLocks noGrp="1"/>
          </p:cNvSpPr>
          <p:nvPr>
            <p:ph type="title"/>
          </p:nvPr>
        </p:nvSpPr>
        <p:spPr/>
        <p:txBody>
          <a:bodyPr/>
          <a:lstStyle/>
          <a:p>
            <a:r>
              <a:rPr lang="en-US" altLang="zh-TW" dirty="0"/>
              <a:t>Method - Dynamic SmoothL1 Loss (DSL)</a:t>
            </a:r>
            <a:endParaRPr lang="zh-TW" altLang="en-US" dirty="0"/>
          </a:p>
        </p:txBody>
      </p:sp>
      <p:pic>
        <p:nvPicPr>
          <p:cNvPr id="5" name="內容版面配置區 4">
            <a:extLst>
              <a:ext uri="{FF2B5EF4-FFF2-40B4-BE49-F238E27FC236}">
                <a16:creationId xmlns:a16="http://schemas.microsoft.com/office/drawing/2014/main" id="{A165BC07-84F5-46BB-B598-7AE5A3A329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6491" y="2625105"/>
            <a:ext cx="8099017" cy="3317875"/>
          </a:xfrm>
        </p:spPr>
      </p:pic>
      <p:sp>
        <p:nvSpPr>
          <p:cNvPr id="6" name="矩形 5">
            <a:extLst>
              <a:ext uri="{FF2B5EF4-FFF2-40B4-BE49-F238E27FC236}">
                <a16:creationId xmlns:a16="http://schemas.microsoft.com/office/drawing/2014/main" id="{5BFCAAFC-4920-4F4C-84CE-41C4BF65F0B2}"/>
              </a:ext>
            </a:extLst>
          </p:cNvPr>
          <p:cNvSpPr/>
          <p:nvPr/>
        </p:nvSpPr>
        <p:spPr>
          <a:xfrm>
            <a:off x="4706239" y="1985444"/>
            <a:ext cx="2691121" cy="369332"/>
          </a:xfrm>
          <a:prstGeom prst="rect">
            <a:avLst/>
          </a:prstGeom>
        </p:spPr>
        <p:txBody>
          <a:bodyPr wrap="none">
            <a:spAutoFit/>
          </a:bodyPr>
          <a:lstStyle/>
          <a:p>
            <a:pPr>
              <a:spcAft>
                <a:spcPts val="0"/>
              </a:spcAft>
            </a:pPr>
            <a:r>
              <a:rPr lang="en-US" altLang="zh-TW" b="1" kern="100" dirty="0">
                <a:solidFill>
                  <a:srgbClr val="0070C0"/>
                </a:solidFill>
                <a:latin typeface="Calibri" panose="020F0502020204030204" pitchFamily="34" charset="0"/>
                <a:cs typeface="Times New Roman" panose="02020603050405020304" pitchFamily="18" charset="0"/>
              </a:rPr>
              <a:t>beta</a:t>
            </a:r>
            <a:r>
              <a:rPr lang="zh-TW" altLang="zh-TW" b="1" kern="100" dirty="0">
                <a:solidFill>
                  <a:srgbClr val="0070C0"/>
                </a:solidFill>
                <a:latin typeface="Calibri" panose="020F0502020204030204" pitchFamily="34" charset="0"/>
                <a:cs typeface="Times New Roman" panose="02020603050405020304" pitchFamily="18" charset="0"/>
              </a:rPr>
              <a:t>對於訓練梯度的影響</a:t>
            </a:r>
          </a:p>
        </p:txBody>
      </p:sp>
      <p:sp>
        <p:nvSpPr>
          <p:cNvPr id="7" name="矩形 6">
            <a:extLst>
              <a:ext uri="{FF2B5EF4-FFF2-40B4-BE49-F238E27FC236}">
                <a16:creationId xmlns:a16="http://schemas.microsoft.com/office/drawing/2014/main" id="{1443C0A6-ACBF-4AE5-A672-44D9049BB948}"/>
              </a:ext>
            </a:extLst>
          </p:cNvPr>
          <p:cNvSpPr/>
          <p:nvPr/>
        </p:nvSpPr>
        <p:spPr>
          <a:xfrm>
            <a:off x="2844927" y="2983440"/>
            <a:ext cx="1179350" cy="2223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53C8FD1C-C530-4F9F-B635-928175573F35}"/>
              </a:ext>
            </a:extLst>
          </p:cNvPr>
          <p:cNvSpPr/>
          <p:nvPr/>
        </p:nvSpPr>
        <p:spPr>
          <a:xfrm>
            <a:off x="2844927" y="3855895"/>
            <a:ext cx="1179350" cy="2223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2F9BF8AA-5A8A-4D67-BE81-2AA0DFDA0E37}"/>
              </a:ext>
            </a:extLst>
          </p:cNvPr>
          <p:cNvSpPr/>
          <p:nvPr/>
        </p:nvSpPr>
        <p:spPr>
          <a:xfrm>
            <a:off x="1535200" y="5898721"/>
            <a:ext cx="5413020" cy="369332"/>
          </a:xfrm>
          <a:prstGeom prst="rect">
            <a:avLst/>
          </a:prstGeom>
        </p:spPr>
        <p:txBody>
          <a:bodyPr wrap="none">
            <a:spAutoFit/>
          </a:bodyPr>
          <a:lstStyle/>
          <a:p>
            <a:pPr>
              <a:spcAft>
                <a:spcPts val="0"/>
              </a:spcAft>
            </a:pPr>
            <a:r>
              <a:rPr lang="zh-TW" altLang="en-US" b="1" kern="100" dirty="0">
                <a:solidFill>
                  <a:srgbClr val="0070C0"/>
                </a:solidFill>
                <a:latin typeface="Calibri" panose="020F0502020204030204" pitchFamily="34" charset="0"/>
                <a:cs typeface="Times New Roman" panose="02020603050405020304" pitchFamily="18" charset="0"/>
              </a:rPr>
              <a:t>紫色線的</a:t>
            </a:r>
            <a:r>
              <a:rPr lang="en-US" altLang="zh-TW" b="1" kern="100" dirty="0">
                <a:solidFill>
                  <a:srgbClr val="0070C0"/>
                </a:solidFill>
                <a:latin typeface="Calibri" panose="020F0502020204030204" pitchFamily="34" charset="0"/>
                <a:cs typeface="Times New Roman" panose="02020603050405020304" pitchFamily="18" charset="0"/>
              </a:rPr>
              <a:t>beta=1</a:t>
            </a:r>
            <a:r>
              <a:rPr lang="zh-TW" altLang="en-US" b="1" kern="100" dirty="0">
                <a:solidFill>
                  <a:srgbClr val="0070C0"/>
                </a:solidFill>
                <a:latin typeface="Calibri" panose="020F0502020204030204" pitchFamily="34" charset="0"/>
                <a:cs typeface="Times New Roman" panose="02020603050405020304" pitchFamily="18" charset="0"/>
              </a:rPr>
              <a:t>，</a:t>
            </a:r>
            <a:r>
              <a:rPr lang="en-US" altLang="zh-TW" b="1" kern="100" dirty="0">
                <a:solidFill>
                  <a:srgbClr val="0070C0"/>
                </a:solidFill>
                <a:latin typeface="Calibri" panose="020F0502020204030204" pitchFamily="34" charset="0"/>
                <a:cs typeface="Times New Roman" panose="02020603050405020304" pitchFamily="18" charset="0"/>
              </a:rPr>
              <a:t>1.00</a:t>
            </a:r>
            <a:r>
              <a:rPr lang="zh-TW" altLang="en-US" b="1" kern="100" dirty="0">
                <a:solidFill>
                  <a:srgbClr val="0070C0"/>
                </a:solidFill>
                <a:latin typeface="Calibri" panose="020F0502020204030204" pitchFamily="34" charset="0"/>
                <a:cs typeface="Times New Roman" panose="02020603050405020304" pitchFamily="18" charset="0"/>
              </a:rPr>
              <a:t>值前面是</a:t>
            </a:r>
            <a:r>
              <a:rPr lang="en-US" altLang="zh-TW" b="1" kern="100" dirty="0">
                <a:solidFill>
                  <a:srgbClr val="0070C0"/>
                </a:solidFill>
                <a:latin typeface="Calibri" panose="020F0502020204030204" pitchFamily="34" charset="0"/>
                <a:cs typeface="Times New Roman" panose="02020603050405020304" pitchFamily="18" charset="0"/>
              </a:rPr>
              <a:t>L1loss</a:t>
            </a:r>
            <a:r>
              <a:rPr lang="zh-TW" altLang="en-US" b="1" kern="100" dirty="0">
                <a:solidFill>
                  <a:srgbClr val="0070C0"/>
                </a:solidFill>
                <a:latin typeface="Calibri" panose="020F0502020204030204" pitchFamily="34" charset="0"/>
                <a:cs typeface="Times New Roman" panose="02020603050405020304" pitchFamily="18" charset="0"/>
              </a:rPr>
              <a:t>、後面是</a:t>
            </a:r>
            <a:r>
              <a:rPr lang="en-US" altLang="zh-TW" b="1" kern="100" dirty="0">
                <a:solidFill>
                  <a:srgbClr val="0070C0"/>
                </a:solidFill>
                <a:latin typeface="Calibri" panose="020F0502020204030204" pitchFamily="34" charset="0"/>
                <a:cs typeface="Times New Roman" panose="02020603050405020304" pitchFamily="18" charset="0"/>
              </a:rPr>
              <a:t>L2loss</a:t>
            </a:r>
            <a:endParaRPr lang="zh-TW" altLang="zh-TW" b="1" kern="100" dirty="0">
              <a:solidFill>
                <a:srgbClr val="0070C0"/>
              </a:solidFill>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0338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B9D052-EFF9-4F79-A712-CDAF0BCF8ED7}"/>
              </a:ext>
            </a:extLst>
          </p:cNvPr>
          <p:cNvSpPr>
            <a:spLocks noGrp="1"/>
          </p:cNvSpPr>
          <p:nvPr>
            <p:ph type="title"/>
          </p:nvPr>
        </p:nvSpPr>
        <p:spPr/>
        <p:txBody>
          <a:bodyPr/>
          <a:lstStyle/>
          <a:p>
            <a:r>
              <a:rPr lang="en-US" altLang="zh-TW" dirty="0"/>
              <a:t>Method - Dynamic SmoothL1 Loss (DSL)</a:t>
            </a:r>
            <a:endParaRPr lang="zh-TW" altLang="en-US" dirty="0"/>
          </a:p>
        </p:txBody>
      </p:sp>
      <p:pic>
        <p:nvPicPr>
          <p:cNvPr id="4" name="內容版面配置區 3">
            <a:extLst>
              <a:ext uri="{FF2B5EF4-FFF2-40B4-BE49-F238E27FC236}">
                <a16:creationId xmlns:a16="http://schemas.microsoft.com/office/drawing/2014/main" id="{722B7F47-CB43-4C53-A7B4-95F4D79BD8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4533" y="2598457"/>
            <a:ext cx="5934075" cy="1285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內容版面配置區 7">
            <a:extLst>
              <a:ext uri="{FF2B5EF4-FFF2-40B4-BE49-F238E27FC236}">
                <a16:creationId xmlns:a16="http://schemas.microsoft.com/office/drawing/2014/main" id="{DBB5782B-5A78-44B5-93F4-3BC5C2D64809}"/>
              </a:ext>
            </a:extLst>
          </p:cNvPr>
          <p:cNvSpPr txBox="1">
            <a:spLocks/>
          </p:cNvSpPr>
          <p:nvPr/>
        </p:nvSpPr>
        <p:spPr>
          <a:xfrm>
            <a:off x="1417548" y="4061368"/>
            <a:ext cx="9187715" cy="2129707"/>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zh-TW" altLang="zh-TW" dirty="0"/>
              <a:t>由於需要對</a:t>
            </a:r>
            <a:r>
              <a:rPr lang="en-US" altLang="zh-TW" dirty="0"/>
              <a:t>proposals</a:t>
            </a:r>
            <a:r>
              <a:rPr lang="zh-TW" altLang="zh-TW" dirty="0"/>
              <a:t>的分佈變化進行調整並調整回歸損失函數，以補償高品質的樣本。 因此，提了用</a:t>
            </a:r>
            <a:r>
              <a:rPr lang="en-US" altLang="zh-TW" dirty="0"/>
              <a:t>DSL</a:t>
            </a:r>
            <a:r>
              <a:rPr lang="zh-TW" altLang="zh-TW" dirty="0"/>
              <a:t>來更改損失函數的</a:t>
            </a:r>
            <a:r>
              <a:rPr lang="en-US" altLang="zh-TW" dirty="0"/>
              <a:t>shape</a:t>
            </a:r>
            <a:r>
              <a:rPr lang="zh-TW" altLang="zh-TW" dirty="0"/>
              <a:t>，以逐漸關注高品質樣本，如圖所示</a:t>
            </a:r>
            <a:r>
              <a:rPr lang="zh-TW" altLang="en-US" dirty="0"/>
              <a:t>。</a:t>
            </a:r>
            <a:endParaRPr lang="en-US" altLang="zh-TW" dirty="0"/>
          </a:p>
          <a:p>
            <a:r>
              <a:rPr lang="zh-TW" altLang="zh-TW" dirty="0"/>
              <a:t>類似於</a:t>
            </a:r>
            <a:r>
              <a:rPr lang="en-US" altLang="zh-TW" dirty="0"/>
              <a:t>DLA</a:t>
            </a:r>
            <a:r>
              <a:rPr lang="zh-TW" altLang="zh-TW" dirty="0"/>
              <a:t>，</a:t>
            </a:r>
            <a:r>
              <a:rPr lang="en-US" altLang="zh-TW" dirty="0"/>
              <a:t>DSL</a:t>
            </a:r>
            <a:r>
              <a:rPr lang="zh-TW" altLang="zh-TW" dirty="0"/>
              <a:t>將根據回歸誤差的統計資訊來更改</a:t>
            </a:r>
            <a:r>
              <a:rPr lang="en-US" altLang="zh-TW" dirty="0" err="1"/>
              <a:t>beta_now</a:t>
            </a:r>
            <a:r>
              <a:rPr lang="zh-TW" altLang="zh-TW" dirty="0"/>
              <a:t>的值，該統計資訊可反映定位精度</a:t>
            </a:r>
          </a:p>
        </p:txBody>
      </p:sp>
      <p:sp>
        <p:nvSpPr>
          <p:cNvPr id="7" name="矩形 6">
            <a:extLst>
              <a:ext uri="{FF2B5EF4-FFF2-40B4-BE49-F238E27FC236}">
                <a16:creationId xmlns:a16="http://schemas.microsoft.com/office/drawing/2014/main" id="{B0265750-FBD8-4C6D-89D9-70F4E29B8E65}"/>
              </a:ext>
            </a:extLst>
          </p:cNvPr>
          <p:cNvSpPr/>
          <p:nvPr/>
        </p:nvSpPr>
        <p:spPr>
          <a:xfrm>
            <a:off x="7531980" y="3168834"/>
            <a:ext cx="3185487" cy="369332"/>
          </a:xfrm>
          <a:prstGeom prst="rect">
            <a:avLst/>
          </a:prstGeom>
        </p:spPr>
        <p:txBody>
          <a:bodyPr wrap="none">
            <a:spAutoFit/>
          </a:bodyPr>
          <a:lstStyle/>
          <a:p>
            <a:r>
              <a:rPr lang="zh-TW" altLang="zh-TW" b="1" dirty="0">
                <a:solidFill>
                  <a:srgbClr val="0070C0"/>
                </a:solidFill>
                <a:latin typeface="Calibri" panose="020F0502020204030204" pitchFamily="34" charset="0"/>
                <a:cs typeface="Times New Roman" panose="02020603050405020304" pitchFamily="18" charset="0"/>
              </a:rPr>
              <a:t>選擇中位數代替分類中的均值</a:t>
            </a:r>
            <a:endParaRPr lang="zh-TW" altLang="en-US" b="1" dirty="0">
              <a:solidFill>
                <a:srgbClr val="0070C0"/>
              </a:solidFill>
            </a:endParaRPr>
          </a:p>
        </p:txBody>
      </p:sp>
    </p:spTree>
    <p:extLst>
      <p:ext uri="{BB962C8B-B14F-4D97-AF65-F5344CB8AC3E}">
        <p14:creationId xmlns:p14="http://schemas.microsoft.com/office/powerpoint/2010/main" val="3415129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9C5649B-7024-4966-932B-E5B18D765F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8428" y="5044922"/>
            <a:ext cx="6819900" cy="1609725"/>
          </a:xfrm>
          <a:prstGeom prst="rect">
            <a:avLst/>
          </a:prstGeom>
        </p:spPr>
      </p:pic>
      <p:sp>
        <p:nvSpPr>
          <p:cNvPr id="2" name="標題 1">
            <a:extLst>
              <a:ext uri="{FF2B5EF4-FFF2-40B4-BE49-F238E27FC236}">
                <a16:creationId xmlns:a16="http://schemas.microsoft.com/office/drawing/2014/main" id="{F23EDF57-362A-402C-BA0B-B2E104F6750B}"/>
              </a:ext>
            </a:extLst>
          </p:cNvPr>
          <p:cNvSpPr>
            <a:spLocks noGrp="1"/>
          </p:cNvSpPr>
          <p:nvPr>
            <p:ph type="title"/>
          </p:nvPr>
        </p:nvSpPr>
        <p:spPr>
          <a:xfrm>
            <a:off x="1295402" y="340812"/>
            <a:ext cx="9601196" cy="1472267"/>
          </a:xfrm>
        </p:spPr>
        <p:txBody>
          <a:bodyPr>
            <a:normAutofit/>
          </a:bodyPr>
          <a:lstStyle/>
          <a:p>
            <a:r>
              <a:rPr lang="en-US" altLang="zh-TW" sz="3600" dirty="0"/>
              <a:t>Experiment</a:t>
            </a:r>
            <a:br>
              <a:rPr lang="en-US" altLang="zh-TW" sz="3600" dirty="0"/>
            </a:br>
            <a:r>
              <a:rPr lang="en-US" altLang="zh-TW" sz="3600" dirty="0"/>
              <a:t>Faster R-CNN vs Dynamic R-CNN</a:t>
            </a:r>
            <a:endParaRPr lang="zh-TW" altLang="en-US" sz="3600" dirty="0"/>
          </a:p>
        </p:txBody>
      </p:sp>
      <p:pic>
        <p:nvPicPr>
          <p:cNvPr id="5" name="內容版面配置區 4">
            <a:extLst>
              <a:ext uri="{FF2B5EF4-FFF2-40B4-BE49-F238E27FC236}">
                <a16:creationId xmlns:a16="http://schemas.microsoft.com/office/drawing/2014/main" id="{1EEA4933-7671-4737-A637-36191CED99F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53672" y="1659530"/>
            <a:ext cx="7535866" cy="3669936"/>
          </a:xfrm>
        </p:spPr>
      </p:pic>
      <p:sp>
        <p:nvSpPr>
          <p:cNvPr id="6" name="矩形 5">
            <a:extLst>
              <a:ext uri="{FF2B5EF4-FFF2-40B4-BE49-F238E27FC236}">
                <a16:creationId xmlns:a16="http://schemas.microsoft.com/office/drawing/2014/main" id="{99DD0DB0-22F9-4907-8B92-AC8F3EB9DAFD}"/>
              </a:ext>
            </a:extLst>
          </p:cNvPr>
          <p:cNvSpPr/>
          <p:nvPr/>
        </p:nvSpPr>
        <p:spPr>
          <a:xfrm>
            <a:off x="4949503" y="1801802"/>
            <a:ext cx="478174" cy="338539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內容版面配置區 7">
            <a:extLst>
              <a:ext uri="{FF2B5EF4-FFF2-40B4-BE49-F238E27FC236}">
                <a16:creationId xmlns:a16="http://schemas.microsoft.com/office/drawing/2014/main" id="{64607151-8A1C-44D6-90B4-7A55EB3BF439}"/>
              </a:ext>
            </a:extLst>
          </p:cNvPr>
          <p:cNvSpPr txBox="1">
            <a:spLocks/>
          </p:cNvSpPr>
          <p:nvPr/>
        </p:nvSpPr>
        <p:spPr>
          <a:xfrm>
            <a:off x="636677" y="5346294"/>
            <a:ext cx="3180314" cy="536845"/>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altLang="zh-TW" dirty="0"/>
              <a:t>COCO 2017 train set</a:t>
            </a:r>
            <a:endParaRPr lang="zh-TW" altLang="zh-TW" dirty="0"/>
          </a:p>
        </p:txBody>
      </p:sp>
      <p:sp>
        <p:nvSpPr>
          <p:cNvPr id="10" name="內容版面配置區 7">
            <a:extLst>
              <a:ext uri="{FF2B5EF4-FFF2-40B4-BE49-F238E27FC236}">
                <a16:creationId xmlns:a16="http://schemas.microsoft.com/office/drawing/2014/main" id="{B3AEB690-E90A-4FF4-9B52-E5169496B4D2}"/>
              </a:ext>
            </a:extLst>
          </p:cNvPr>
          <p:cNvSpPr txBox="1">
            <a:spLocks/>
          </p:cNvSpPr>
          <p:nvPr/>
        </p:nvSpPr>
        <p:spPr>
          <a:xfrm>
            <a:off x="8220613" y="4446215"/>
            <a:ext cx="3180314" cy="536845"/>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altLang="zh-TW" dirty="0"/>
              <a:t>PASCAL VOC dataset</a:t>
            </a:r>
            <a:endParaRPr lang="zh-TW" altLang="zh-TW" dirty="0"/>
          </a:p>
        </p:txBody>
      </p:sp>
    </p:spTree>
    <p:extLst>
      <p:ext uri="{BB962C8B-B14F-4D97-AF65-F5344CB8AC3E}">
        <p14:creationId xmlns:p14="http://schemas.microsoft.com/office/powerpoint/2010/main" val="3193664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E02B5C-6D33-423F-A8E9-37483893890D}"/>
              </a:ext>
            </a:extLst>
          </p:cNvPr>
          <p:cNvSpPr>
            <a:spLocks noGrp="1"/>
          </p:cNvSpPr>
          <p:nvPr>
            <p:ph type="title"/>
          </p:nvPr>
        </p:nvSpPr>
        <p:spPr/>
        <p:txBody>
          <a:bodyPr>
            <a:normAutofit fontScale="90000"/>
          </a:bodyPr>
          <a:lstStyle/>
          <a:p>
            <a:r>
              <a:rPr lang="en-US" altLang="zh-TW" dirty="0"/>
              <a:t>Ablation Experiment</a:t>
            </a:r>
            <a:br>
              <a:rPr lang="en-US" altLang="zh-TW" dirty="0"/>
            </a:br>
            <a:r>
              <a:rPr lang="en-US" altLang="zh-TW" dirty="0"/>
              <a:t>DLA vs DSL</a:t>
            </a:r>
            <a:endParaRPr lang="zh-TW" altLang="en-US" dirty="0"/>
          </a:p>
        </p:txBody>
      </p:sp>
      <p:pic>
        <p:nvPicPr>
          <p:cNvPr id="5" name="內容版面配置區 4">
            <a:extLst>
              <a:ext uri="{FF2B5EF4-FFF2-40B4-BE49-F238E27FC236}">
                <a16:creationId xmlns:a16="http://schemas.microsoft.com/office/drawing/2014/main" id="{9E110FC0-5C8F-4C75-B111-8EE799C6C3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3087" y="3305145"/>
            <a:ext cx="8505825" cy="2057400"/>
          </a:xfrm>
        </p:spPr>
      </p:pic>
      <p:sp>
        <p:nvSpPr>
          <p:cNvPr id="7" name="矩形 6">
            <a:extLst>
              <a:ext uri="{FF2B5EF4-FFF2-40B4-BE49-F238E27FC236}">
                <a16:creationId xmlns:a16="http://schemas.microsoft.com/office/drawing/2014/main" id="{FF1483EA-E88F-49EC-91B2-54684BBB7BFD}"/>
              </a:ext>
            </a:extLst>
          </p:cNvPr>
          <p:cNvSpPr/>
          <p:nvPr/>
        </p:nvSpPr>
        <p:spPr>
          <a:xfrm>
            <a:off x="9454391" y="3403833"/>
            <a:ext cx="802241" cy="18308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矩形 7">
            <a:extLst>
              <a:ext uri="{FF2B5EF4-FFF2-40B4-BE49-F238E27FC236}">
                <a16:creationId xmlns:a16="http://schemas.microsoft.com/office/drawing/2014/main" id="{8D63260F-18D1-4383-820E-C1C1E55E4B43}"/>
              </a:ext>
            </a:extLst>
          </p:cNvPr>
          <p:cNvSpPr/>
          <p:nvPr/>
        </p:nvSpPr>
        <p:spPr>
          <a:xfrm>
            <a:off x="6493081" y="3415310"/>
            <a:ext cx="802241" cy="18676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94957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7F59B8-5747-477A-8586-450DB6A2C4E9}"/>
              </a:ext>
            </a:extLst>
          </p:cNvPr>
          <p:cNvSpPr>
            <a:spLocks noGrp="1"/>
          </p:cNvSpPr>
          <p:nvPr>
            <p:ph type="title"/>
          </p:nvPr>
        </p:nvSpPr>
        <p:spPr/>
        <p:txBody>
          <a:bodyPr>
            <a:normAutofit fontScale="90000"/>
          </a:bodyPr>
          <a:lstStyle/>
          <a:p>
            <a:r>
              <a:rPr lang="en-US" altLang="zh-TW" dirty="0"/>
              <a:t>Ablation Experiment – </a:t>
            </a:r>
            <a:br>
              <a:rPr lang="en-US" altLang="zh-TW" dirty="0"/>
            </a:br>
            <a:r>
              <a:rPr lang="en-US" altLang="zh-TW" dirty="0"/>
              <a:t>eﬀect of hyperparameters</a:t>
            </a:r>
            <a:endParaRPr lang="zh-TW" altLang="en-US" dirty="0"/>
          </a:p>
        </p:txBody>
      </p:sp>
      <p:pic>
        <p:nvPicPr>
          <p:cNvPr id="5" name="內容版面配置區 4">
            <a:extLst>
              <a:ext uri="{FF2B5EF4-FFF2-40B4-BE49-F238E27FC236}">
                <a16:creationId xmlns:a16="http://schemas.microsoft.com/office/drawing/2014/main" id="{D941D761-A9EA-45B1-8640-ED01163900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0862" y="2441195"/>
            <a:ext cx="7105475" cy="3773874"/>
          </a:xfrm>
        </p:spPr>
      </p:pic>
      <p:sp>
        <p:nvSpPr>
          <p:cNvPr id="6" name="矩形 5">
            <a:extLst>
              <a:ext uri="{FF2B5EF4-FFF2-40B4-BE49-F238E27FC236}">
                <a16:creationId xmlns:a16="http://schemas.microsoft.com/office/drawing/2014/main" id="{8DDF3410-626A-460B-BE4B-8B6D61788DD2}"/>
              </a:ext>
            </a:extLst>
          </p:cNvPr>
          <p:cNvSpPr/>
          <p:nvPr/>
        </p:nvSpPr>
        <p:spPr>
          <a:xfrm>
            <a:off x="8800051" y="2499919"/>
            <a:ext cx="293615" cy="3087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矩形 6">
            <a:extLst>
              <a:ext uri="{FF2B5EF4-FFF2-40B4-BE49-F238E27FC236}">
                <a16:creationId xmlns:a16="http://schemas.microsoft.com/office/drawing/2014/main" id="{940EA874-CCA2-4AB4-8BD5-78E3FA922FC0}"/>
              </a:ext>
            </a:extLst>
          </p:cNvPr>
          <p:cNvSpPr/>
          <p:nvPr/>
        </p:nvSpPr>
        <p:spPr>
          <a:xfrm>
            <a:off x="5285064" y="2499919"/>
            <a:ext cx="377505" cy="3280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矩形 7">
            <a:extLst>
              <a:ext uri="{FF2B5EF4-FFF2-40B4-BE49-F238E27FC236}">
                <a16:creationId xmlns:a16="http://schemas.microsoft.com/office/drawing/2014/main" id="{9698D151-82AF-4E4F-8AEB-8A235CC9BA52}"/>
              </a:ext>
            </a:extLst>
          </p:cNvPr>
          <p:cNvSpPr/>
          <p:nvPr/>
        </p:nvSpPr>
        <p:spPr>
          <a:xfrm>
            <a:off x="5514211" y="4088775"/>
            <a:ext cx="377505" cy="3280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513543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3BDAD5-EC6A-467F-A9B6-43595BD0173E}"/>
              </a:ext>
            </a:extLst>
          </p:cNvPr>
          <p:cNvSpPr>
            <a:spLocks noGrp="1"/>
          </p:cNvSpPr>
          <p:nvPr>
            <p:ph type="title"/>
          </p:nvPr>
        </p:nvSpPr>
        <p:spPr/>
        <p:txBody>
          <a:bodyPr/>
          <a:lstStyle/>
          <a:p>
            <a:r>
              <a:rPr lang="en-US" altLang="zh-TW" dirty="0"/>
              <a:t>Speed comparisons</a:t>
            </a:r>
            <a:endParaRPr lang="zh-TW" altLang="en-US" dirty="0"/>
          </a:p>
        </p:txBody>
      </p:sp>
      <p:pic>
        <p:nvPicPr>
          <p:cNvPr id="7" name="圖片 6">
            <a:extLst>
              <a:ext uri="{FF2B5EF4-FFF2-40B4-BE49-F238E27FC236}">
                <a16:creationId xmlns:a16="http://schemas.microsoft.com/office/drawing/2014/main" id="{14E05326-FBF6-4B43-B384-4353874FE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823" y="2147759"/>
            <a:ext cx="3895725" cy="3076575"/>
          </a:xfrm>
          <a:prstGeom prst="rect">
            <a:avLst/>
          </a:prstGeom>
        </p:spPr>
      </p:pic>
      <p:pic>
        <p:nvPicPr>
          <p:cNvPr id="11" name="內容版面配置區 10">
            <a:extLst>
              <a:ext uri="{FF2B5EF4-FFF2-40B4-BE49-F238E27FC236}">
                <a16:creationId xmlns:a16="http://schemas.microsoft.com/office/drawing/2014/main" id="{48D95512-F8AA-4F98-9AC0-006BAEA2BC0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96047" y="2913064"/>
            <a:ext cx="7006154" cy="3317875"/>
          </a:xfrm>
        </p:spPr>
      </p:pic>
      <p:sp>
        <p:nvSpPr>
          <p:cNvPr id="5" name="矩形 4">
            <a:extLst>
              <a:ext uri="{FF2B5EF4-FFF2-40B4-BE49-F238E27FC236}">
                <a16:creationId xmlns:a16="http://schemas.microsoft.com/office/drawing/2014/main" id="{E61DAA81-8B21-4E7D-BB38-49049890C079}"/>
              </a:ext>
            </a:extLst>
          </p:cNvPr>
          <p:cNvSpPr/>
          <p:nvPr/>
        </p:nvSpPr>
        <p:spPr>
          <a:xfrm>
            <a:off x="4588779" y="3800213"/>
            <a:ext cx="6711192" cy="13317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 name="直線單箭頭接點 3">
            <a:extLst>
              <a:ext uri="{FF2B5EF4-FFF2-40B4-BE49-F238E27FC236}">
                <a16:creationId xmlns:a16="http://schemas.microsoft.com/office/drawing/2014/main" id="{F971F3A2-036D-493F-9410-76E0A1CC3030}"/>
              </a:ext>
            </a:extLst>
          </p:cNvPr>
          <p:cNvCxnSpPr/>
          <p:nvPr/>
        </p:nvCxnSpPr>
        <p:spPr>
          <a:xfrm flipH="1" flipV="1">
            <a:off x="4077050" y="4202884"/>
            <a:ext cx="486561" cy="620786"/>
          </a:xfrm>
          <a:prstGeom prst="straightConnector1">
            <a:avLst/>
          </a:prstGeom>
          <a:ln>
            <a:solidFill>
              <a:srgbClr val="FF0000"/>
            </a:solidFill>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561598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E3A0F2-665E-4269-8185-1E873D2A2100}"/>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29120036-E304-4325-AF81-C762731E8002}"/>
              </a:ext>
            </a:extLst>
          </p:cNvPr>
          <p:cNvSpPr>
            <a:spLocks noGrp="1"/>
          </p:cNvSpPr>
          <p:nvPr>
            <p:ph idx="1"/>
          </p:nvPr>
        </p:nvSpPr>
        <p:spPr/>
        <p:txBody>
          <a:bodyPr/>
          <a:lstStyle/>
          <a:p>
            <a:r>
              <a:rPr lang="zh-TW" altLang="en-US" dirty="0"/>
              <a:t>論文以實驗結果引入，得出在訓練目標檢測模型的過程中應隨著樣本的分佈變化而動態設置分類器和回歸器的結論。</a:t>
            </a:r>
            <a:endParaRPr lang="en-US" altLang="zh-TW" dirty="0"/>
          </a:p>
          <a:p>
            <a:r>
              <a:rPr lang="zh-TW" altLang="en-US" dirty="0"/>
              <a:t>借鑒</a:t>
            </a:r>
            <a:r>
              <a:rPr lang="en-US" altLang="zh-TW" dirty="0"/>
              <a:t>Cascade RCNN</a:t>
            </a:r>
            <a:r>
              <a:rPr lang="zh-TW" altLang="en-US" dirty="0"/>
              <a:t>中動態訓練的設置，論文提出</a:t>
            </a:r>
            <a:r>
              <a:rPr lang="en-US" altLang="zh-TW" dirty="0"/>
              <a:t>DLA</a:t>
            </a:r>
            <a:r>
              <a:rPr lang="zh-TW" altLang="en-US" dirty="0"/>
              <a:t>在訓練過程中動態改變交並比閾值以提高獲取樣本的品質。</a:t>
            </a:r>
            <a:endParaRPr lang="en-US" altLang="zh-TW" dirty="0"/>
          </a:p>
          <a:p>
            <a:r>
              <a:rPr lang="zh-TW" altLang="en-US" dirty="0"/>
              <a:t>接著，透過</a:t>
            </a:r>
            <a:r>
              <a:rPr lang="en-US" altLang="zh-TW" dirty="0"/>
              <a:t>DLA</a:t>
            </a:r>
            <a:r>
              <a:rPr lang="zh-TW" altLang="en-US" dirty="0"/>
              <a:t>、</a:t>
            </a:r>
            <a:r>
              <a:rPr lang="en-US" altLang="zh-TW" dirty="0"/>
              <a:t>DSL</a:t>
            </a:r>
            <a:r>
              <a:rPr lang="zh-TW" altLang="en-US" dirty="0"/>
              <a:t>的思路，通過修改</a:t>
            </a:r>
            <a:r>
              <a:rPr lang="en-US" altLang="zh-TW" dirty="0"/>
              <a:t>SmoothL1</a:t>
            </a:r>
            <a:r>
              <a:rPr lang="zh-TW" altLang="en-US" dirty="0"/>
              <a:t>的參數動態調整回歸器的形式，得到</a:t>
            </a:r>
            <a:r>
              <a:rPr lang="en-US" altLang="zh-TW" dirty="0"/>
              <a:t>Dynamic R-CNN </a:t>
            </a:r>
            <a:r>
              <a:rPr lang="zh-TW" altLang="en-US" dirty="0"/>
              <a:t>。</a:t>
            </a:r>
          </a:p>
        </p:txBody>
      </p:sp>
    </p:spTree>
    <p:extLst>
      <p:ext uri="{BB962C8B-B14F-4D97-AF65-F5344CB8AC3E}">
        <p14:creationId xmlns:p14="http://schemas.microsoft.com/office/powerpoint/2010/main" val="1409721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D6DCF2-7990-435E-B36A-FB5E75A47F2D}"/>
              </a:ext>
            </a:extLst>
          </p:cNvPr>
          <p:cNvSpPr>
            <a:spLocks noGrp="1"/>
          </p:cNvSpPr>
          <p:nvPr>
            <p:ph type="title"/>
          </p:nvPr>
        </p:nvSpPr>
        <p:spPr/>
        <p:txBody>
          <a:bodyPr/>
          <a:lstStyle/>
          <a:p>
            <a:r>
              <a:rPr lang="zh-TW" altLang="en-US" dirty="0"/>
              <a:t>參考來源</a:t>
            </a:r>
          </a:p>
        </p:txBody>
      </p:sp>
      <p:sp>
        <p:nvSpPr>
          <p:cNvPr id="3" name="內容版面配置區 2">
            <a:extLst>
              <a:ext uri="{FF2B5EF4-FFF2-40B4-BE49-F238E27FC236}">
                <a16:creationId xmlns:a16="http://schemas.microsoft.com/office/drawing/2014/main" id="{D72A0269-274F-4352-A33D-D8D8CF905E27}"/>
              </a:ext>
            </a:extLst>
          </p:cNvPr>
          <p:cNvSpPr>
            <a:spLocks noGrp="1"/>
          </p:cNvSpPr>
          <p:nvPr>
            <p:ph idx="1"/>
          </p:nvPr>
        </p:nvSpPr>
        <p:spPr/>
        <p:txBody>
          <a:bodyPr/>
          <a:lstStyle/>
          <a:p>
            <a:r>
              <a:rPr lang="en-US" altLang="zh-CN" dirty="0"/>
              <a:t>https://github.com/hkzhang95/DynamicRCNN.</a:t>
            </a:r>
          </a:p>
          <a:p>
            <a:r>
              <a:rPr lang="en-US" altLang="zh-CN" dirty="0"/>
              <a:t>https://blog.csdn.net/weixin_42096202/article/details/107569230</a:t>
            </a:r>
            <a:endParaRPr lang="zh-TW" altLang="en-US" dirty="0"/>
          </a:p>
        </p:txBody>
      </p:sp>
    </p:spTree>
    <p:extLst>
      <p:ext uri="{BB962C8B-B14F-4D97-AF65-F5344CB8AC3E}">
        <p14:creationId xmlns:p14="http://schemas.microsoft.com/office/powerpoint/2010/main" val="16791435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有機">
  <a:themeElements>
    <a:clrScheme name="有機">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有機">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有機">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otalTime>449</TotalTime>
  <Words>1044</Words>
  <Application>Microsoft Office PowerPoint</Application>
  <PresentationFormat>寬螢幕</PresentationFormat>
  <Paragraphs>56</Paragraphs>
  <Slides>18</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18</vt:i4>
      </vt:variant>
    </vt:vector>
  </HeadingPairs>
  <TitlesOfParts>
    <vt:vector size="26" baseType="lpstr">
      <vt:lpstr>方正舒体</vt:lpstr>
      <vt:lpstr>微軟正黑體</vt:lpstr>
      <vt:lpstr>新細明體</vt:lpstr>
      <vt:lpstr>Arial</vt:lpstr>
      <vt:lpstr>Calibri</vt:lpstr>
      <vt:lpstr>Garamond</vt:lpstr>
      <vt:lpstr>Times New Roman</vt:lpstr>
      <vt:lpstr>有機</vt:lpstr>
      <vt:lpstr>Dynamic R-CNN:  Towards High Quality Object Detection via Dynamic Training</vt:lpstr>
      <vt:lpstr>Abstract</vt:lpstr>
      <vt:lpstr>Introduction</vt:lpstr>
      <vt:lpstr>Introduction</vt:lpstr>
      <vt:lpstr>Dynamic R-CNN</vt:lpstr>
      <vt:lpstr>Proposal Classiﬁcation</vt:lpstr>
      <vt:lpstr> Bounding Box Regression</vt:lpstr>
      <vt:lpstr>Method - Dynamic Label Assignment (DLA)</vt:lpstr>
      <vt:lpstr>Method - Dynamic SmoothL1 Loss (DSL)</vt:lpstr>
      <vt:lpstr>Method - Dynamic SmoothL1 Loss (DSL)</vt:lpstr>
      <vt:lpstr>Method - Dynamic SmoothL1 Loss (DSL)</vt:lpstr>
      <vt:lpstr>Method - Dynamic SmoothL1 Loss (DSL)</vt:lpstr>
      <vt:lpstr>Experiment Faster R-CNN vs Dynamic R-CNN</vt:lpstr>
      <vt:lpstr>Ablation Experiment DLA vs DSL</vt:lpstr>
      <vt:lpstr>Ablation Experiment –  eﬀect of hyperparameters</vt:lpstr>
      <vt:lpstr>Speed comparisons</vt:lpstr>
      <vt:lpstr>Conclusion</vt:lpstr>
      <vt:lpstr>參考來源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R-CNN:  Towards High Quality Object Detection via Dynamic Training</dc:title>
  <dc:creator>Amber</dc:creator>
  <cp:lastModifiedBy>Amber</cp:lastModifiedBy>
  <cp:revision>56</cp:revision>
  <dcterms:created xsi:type="dcterms:W3CDTF">2021-03-01T12:59:00Z</dcterms:created>
  <dcterms:modified xsi:type="dcterms:W3CDTF">2021-03-04T08:33:15Z</dcterms:modified>
</cp:coreProperties>
</file>